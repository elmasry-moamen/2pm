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37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586" y="6536433"/>
            <a:ext cx="912113" cy="27735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9144" y="6371842"/>
            <a:ext cx="1144270" cy="486409"/>
          </a:xfrm>
          <a:custGeom>
            <a:avLst/>
            <a:gdLst/>
            <a:ahLst/>
            <a:cxnLst/>
            <a:rect l="l" t="t" r="r" b="b"/>
            <a:pathLst>
              <a:path w="1144270" h="486409">
                <a:moveTo>
                  <a:pt x="1143762" y="0"/>
                </a:moveTo>
                <a:lnTo>
                  <a:pt x="0" y="0"/>
                </a:lnTo>
                <a:lnTo>
                  <a:pt x="0" y="486156"/>
                </a:lnTo>
                <a:lnTo>
                  <a:pt x="1143762" y="486156"/>
                </a:lnTo>
                <a:lnTo>
                  <a:pt x="1143762" y="0"/>
                </a:lnTo>
                <a:close/>
              </a:path>
            </a:pathLst>
          </a:custGeom>
          <a:solidFill>
            <a:srgbClr val="549F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81" y="705230"/>
            <a:ext cx="12192000" cy="5652135"/>
          </a:xfrm>
          <a:custGeom>
            <a:avLst/>
            <a:gdLst/>
            <a:ahLst/>
            <a:cxnLst/>
            <a:rect l="l" t="t" r="r" b="b"/>
            <a:pathLst>
              <a:path w="12192000" h="5652135">
                <a:moveTo>
                  <a:pt x="12191619" y="0"/>
                </a:moveTo>
                <a:lnTo>
                  <a:pt x="0" y="0"/>
                </a:lnTo>
                <a:lnTo>
                  <a:pt x="0" y="5651754"/>
                </a:lnTo>
                <a:lnTo>
                  <a:pt x="12191619" y="5651754"/>
                </a:lnTo>
                <a:lnTo>
                  <a:pt x="121916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81" y="705230"/>
            <a:ext cx="12192000" cy="5652135"/>
          </a:xfrm>
          <a:custGeom>
            <a:avLst/>
            <a:gdLst/>
            <a:ahLst/>
            <a:cxnLst/>
            <a:rect l="l" t="t" r="r" b="b"/>
            <a:pathLst>
              <a:path w="12192000" h="5652135">
                <a:moveTo>
                  <a:pt x="0" y="5651754"/>
                </a:moveTo>
                <a:lnTo>
                  <a:pt x="12192000" y="5651754"/>
                </a:lnTo>
                <a:lnTo>
                  <a:pt x="12192000" y="0"/>
                </a:lnTo>
                <a:lnTo>
                  <a:pt x="0" y="0"/>
                </a:lnTo>
                <a:lnTo>
                  <a:pt x="0" y="5651754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586" y="6536433"/>
            <a:ext cx="912113" cy="27735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9525" y="6230490"/>
            <a:ext cx="12182475" cy="628015"/>
          </a:xfrm>
          <a:custGeom>
            <a:avLst/>
            <a:gdLst/>
            <a:ahLst/>
            <a:cxnLst/>
            <a:rect l="l" t="t" r="r" b="b"/>
            <a:pathLst>
              <a:path w="12182475" h="628015">
                <a:moveTo>
                  <a:pt x="12182475" y="0"/>
                </a:moveTo>
                <a:lnTo>
                  <a:pt x="0" y="0"/>
                </a:lnTo>
                <a:lnTo>
                  <a:pt x="0" y="627506"/>
                </a:lnTo>
                <a:lnTo>
                  <a:pt x="12182475" y="627506"/>
                </a:lnTo>
                <a:lnTo>
                  <a:pt x="121824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525" y="6230490"/>
            <a:ext cx="12183110" cy="628015"/>
          </a:xfrm>
          <a:custGeom>
            <a:avLst/>
            <a:gdLst/>
            <a:ahLst/>
            <a:cxnLst/>
            <a:rect l="l" t="t" r="r" b="b"/>
            <a:pathLst>
              <a:path w="12183110" h="628015">
                <a:moveTo>
                  <a:pt x="0" y="627887"/>
                </a:moveTo>
                <a:lnTo>
                  <a:pt x="12182856" y="627887"/>
                </a:lnTo>
                <a:lnTo>
                  <a:pt x="12182856" y="0"/>
                </a:lnTo>
                <a:lnTo>
                  <a:pt x="0" y="0"/>
                </a:lnTo>
                <a:lnTo>
                  <a:pt x="0" y="627887"/>
                </a:lnTo>
                <a:close/>
              </a:path>
            </a:pathLst>
          </a:custGeom>
          <a:ln w="12700">
            <a:solidFill>
              <a:srgbClr val="2D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10792" y="5342763"/>
            <a:ext cx="1239520" cy="0"/>
          </a:xfrm>
          <a:custGeom>
            <a:avLst/>
            <a:gdLst/>
            <a:ahLst/>
            <a:cxnLst/>
            <a:rect l="l" t="t" r="r" b="b"/>
            <a:pathLst>
              <a:path w="1239520">
                <a:moveTo>
                  <a:pt x="0" y="0"/>
                </a:moveTo>
                <a:lnTo>
                  <a:pt x="1239265" y="0"/>
                </a:lnTo>
              </a:path>
            </a:pathLst>
          </a:custGeom>
          <a:ln w="57150">
            <a:solidFill>
              <a:srgbClr val="79B4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4974" y="5772150"/>
            <a:ext cx="379730" cy="194310"/>
          </a:xfrm>
          <a:custGeom>
            <a:avLst/>
            <a:gdLst/>
            <a:ahLst/>
            <a:cxnLst/>
            <a:rect l="l" t="t" r="r" b="b"/>
            <a:pathLst>
              <a:path w="379730" h="194310">
                <a:moveTo>
                  <a:pt x="379475" y="0"/>
                </a:moveTo>
                <a:lnTo>
                  <a:pt x="0" y="0"/>
                </a:lnTo>
                <a:lnTo>
                  <a:pt x="0" y="194309"/>
                </a:lnTo>
                <a:lnTo>
                  <a:pt x="379475" y="194309"/>
                </a:lnTo>
                <a:lnTo>
                  <a:pt x="379475" y="0"/>
                </a:lnTo>
                <a:close/>
              </a:path>
            </a:pathLst>
          </a:custGeom>
          <a:solidFill>
            <a:srgbClr val="549FD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0791" y="6339076"/>
            <a:ext cx="1194815" cy="47701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6586" y="6536433"/>
            <a:ext cx="912113" cy="27735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9144" y="6371842"/>
            <a:ext cx="1144270" cy="486409"/>
          </a:xfrm>
          <a:custGeom>
            <a:avLst/>
            <a:gdLst/>
            <a:ahLst/>
            <a:cxnLst/>
            <a:rect l="l" t="t" r="r" b="b"/>
            <a:pathLst>
              <a:path w="1144270" h="486409">
                <a:moveTo>
                  <a:pt x="1143762" y="0"/>
                </a:moveTo>
                <a:lnTo>
                  <a:pt x="0" y="0"/>
                </a:lnTo>
                <a:lnTo>
                  <a:pt x="0" y="486156"/>
                </a:lnTo>
                <a:lnTo>
                  <a:pt x="1143762" y="486156"/>
                </a:lnTo>
                <a:lnTo>
                  <a:pt x="1143762" y="0"/>
                </a:lnTo>
                <a:close/>
              </a:path>
            </a:pathLst>
          </a:custGeom>
          <a:solidFill>
            <a:srgbClr val="549F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7374" y="3121993"/>
            <a:ext cx="5224145" cy="1486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97868" y="6552524"/>
            <a:ext cx="21590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900"/>
              </a:lnSpc>
              <a:spcBef>
                <a:spcPts val="100"/>
              </a:spcBef>
            </a:pPr>
            <a:r>
              <a:rPr dirty="0"/>
              <a:t>Modélisation</a:t>
            </a:r>
            <a:r>
              <a:rPr spc="-210" dirty="0"/>
              <a:t> </a:t>
            </a:r>
            <a:r>
              <a:rPr spc="-10" dirty="0"/>
              <a:t>BPMN, </a:t>
            </a:r>
            <a:r>
              <a:rPr dirty="0"/>
              <a:t>Notions</a:t>
            </a:r>
            <a:r>
              <a:rPr spc="-8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20" dirty="0"/>
              <a:t>base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97595" y="2725673"/>
            <a:ext cx="3054857" cy="19996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40958" y="356615"/>
            <a:ext cx="5611495" cy="6132830"/>
            <a:chOff x="6140958" y="356615"/>
            <a:chExt cx="5611495" cy="6132830"/>
          </a:xfrm>
        </p:grpSpPr>
        <p:sp>
          <p:nvSpPr>
            <p:cNvPr id="3" name="object 3"/>
            <p:cNvSpPr/>
            <p:nvPr/>
          </p:nvSpPr>
          <p:spPr>
            <a:xfrm>
              <a:off x="6140958" y="356615"/>
              <a:ext cx="5611495" cy="6132830"/>
            </a:xfrm>
            <a:custGeom>
              <a:avLst/>
              <a:gdLst/>
              <a:ahLst/>
              <a:cxnLst/>
              <a:rect l="l" t="t" r="r" b="b"/>
              <a:pathLst>
                <a:path w="5611495" h="6132830">
                  <a:moveTo>
                    <a:pt x="5611368" y="0"/>
                  </a:moveTo>
                  <a:lnTo>
                    <a:pt x="0" y="0"/>
                  </a:lnTo>
                  <a:lnTo>
                    <a:pt x="0" y="6132576"/>
                  </a:lnTo>
                  <a:lnTo>
                    <a:pt x="5611368" y="6132576"/>
                  </a:lnTo>
                  <a:lnTo>
                    <a:pt x="56113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27136" y="5850636"/>
              <a:ext cx="1239012" cy="51815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140958" y="356615"/>
            <a:ext cx="5611495" cy="6132830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1575"/>
              </a:spcBef>
            </a:pPr>
            <a:r>
              <a:rPr sz="1700" b="1" spc="-20" dirty="0">
                <a:solidFill>
                  <a:srgbClr val="549FDB"/>
                </a:solidFill>
                <a:latin typeface="Segoe UI"/>
                <a:cs typeface="Segoe UI"/>
              </a:rPr>
              <a:t>Pool</a:t>
            </a:r>
            <a:r>
              <a:rPr sz="1700" b="1" spc="-75" dirty="0">
                <a:solidFill>
                  <a:srgbClr val="549FDB"/>
                </a:solidFill>
                <a:latin typeface="Segoe UI"/>
                <a:cs typeface="Segoe UI"/>
              </a:rPr>
              <a:t> </a:t>
            </a:r>
            <a:r>
              <a:rPr sz="1700" b="1" dirty="0">
                <a:solidFill>
                  <a:srgbClr val="549FDB"/>
                </a:solidFill>
                <a:latin typeface="Segoe UI"/>
                <a:cs typeface="Segoe UI"/>
              </a:rPr>
              <a:t>et</a:t>
            </a:r>
            <a:r>
              <a:rPr sz="1700" b="1" spc="-60" dirty="0">
                <a:solidFill>
                  <a:srgbClr val="549FDB"/>
                </a:solidFill>
                <a:latin typeface="Segoe UI"/>
                <a:cs typeface="Segoe UI"/>
              </a:rPr>
              <a:t> </a:t>
            </a:r>
            <a:r>
              <a:rPr sz="1700" b="1" spc="-10" dirty="0">
                <a:solidFill>
                  <a:srgbClr val="549FDB"/>
                </a:solidFill>
                <a:latin typeface="Segoe UI"/>
                <a:cs typeface="Segoe UI"/>
              </a:rPr>
              <a:t>Swimlanes</a:t>
            </a:r>
            <a:endParaRPr sz="1700">
              <a:latin typeface="Segoe UI"/>
              <a:cs typeface="Segoe UI"/>
            </a:endParaRPr>
          </a:p>
          <a:p>
            <a:pPr marL="899794" indent="-342900">
              <a:lnSpc>
                <a:spcPct val="100000"/>
              </a:lnSpc>
              <a:spcBef>
                <a:spcPts val="800"/>
              </a:spcBef>
              <a:buClr>
                <a:srgbClr val="006EC0"/>
              </a:buClr>
              <a:buAutoNum type="arabicParenR"/>
              <a:tabLst>
                <a:tab pos="899794" algn="l"/>
              </a:tabLst>
            </a:pPr>
            <a:r>
              <a:rPr sz="1500" spc="-20" dirty="0">
                <a:solidFill>
                  <a:srgbClr val="549FDB"/>
                </a:solidFill>
                <a:latin typeface="Segoe UI"/>
                <a:cs typeface="Segoe UI"/>
              </a:rPr>
              <a:t>Pool</a:t>
            </a:r>
            <a:endParaRPr sz="1500">
              <a:latin typeface="Segoe UI"/>
              <a:cs typeface="Segoe UI"/>
            </a:endParaRPr>
          </a:p>
          <a:p>
            <a:pPr marL="899794" indent="-342900">
              <a:lnSpc>
                <a:spcPct val="100000"/>
              </a:lnSpc>
              <a:spcBef>
                <a:spcPts val="705"/>
              </a:spcBef>
              <a:buClr>
                <a:srgbClr val="006EC0"/>
              </a:buClr>
              <a:buAutoNum type="arabicParenR"/>
              <a:tabLst>
                <a:tab pos="899794" algn="l"/>
              </a:tabLst>
            </a:pPr>
            <a:r>
              <a:rPr sz="1500" spc="-10" dirty="0">
                <a:solidFill>
                  <a:srgbClr val="549FDB"/>
                </a:solidFill>
                <a:latin typeface="Segoe UI"/>
                <a:cs typeface="Segoe UI"/>
              </a:rPr>
              <a:t>Swimlanes</a:t>
            </a:r>
            <a:endParaRPr sz="1500">
              <a:latin typeface="Segoe UI"/>
              <a:cs typeface="Segoe UI"/>
            </a:endParaRPr>
          </a:p>
          <a:p>
            <a:pPr marL="899794" indent="-342900">
              <a:lnSpc>
                <a:spcPct val="100000"/>
              </a:lnSpc>
              <a:spcBef>
                <a:spcPts val="695"/>
              </a:spcBef>
              <a:buClr>
                <a:srgbClr val="006EC0"/>
              </a:buClr>
              <a:buAutoNum type="arabicParenR"/>
              <a:tabLst>
                <a:tab pos="899794" algn="l"/>
              </a:tabLst>
            </a:pPr>
            <a:r>
              <a:rPr sz="1500" spc="-10" dirty="0">
                <a:solidFill>
                  <a:srgbClr val="549FDB"/>
                </a:solidFill>
                <a:latin typeface="Segoe UI"/>
                <a:cs typeface="Segoe UI"/>
              </a:rPr>
              <a:t>Modifications</a:t>
            </a:r>
            <a:r>
              <a:rPr sz="1500" spc="-35" dirty="0">
                <a:solidFill>
                  <a:srgbClr val="549FDB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549FDB"/>
                </a:solidFill>
                <a:latin typeface="Segoe UI"/>
                <a:cs typeface="Segoe UI"/>
              </a:rPr>
              <a:t>avec</a:t>
            </a:r>
            <a:r>
              <a:rPr sz="1500" spc="-55" dirty="0">
                <a:solidFill>
                  <a:srgbClr val="549FDB"/>
                </a:solidFill>
                <a:latin typeface="Segoe UI"/>
                <a:cs typeface="Segoe UI"/>
              </a:rPr>
              <a:t> </a:t>
            </a:r>
            <a:r>
              <a:rPr sz="1500" spc="-10" dirty="0">
                <a:solidFill>
                  <a:srgbClr val="549FDB"/>
                </a:solidFill>
                <a:latin typeface="Segoe UI"/>
                <a:cs typeface="Segoe UI"/>
              </a:rPr>
              <a:t>Draw.io</a:t>
            </a:r>
            <a:endParaRPr sz="1500">
              <a:latin typeface="Segoe UI"/>
              <a:cs typeface="Segoe UI"/>
            </a:endParaRPr>
          </a:p>
          <a:p>
            <a:pPr marL="99695">
              <a:lnSpc>
                <a:spcPct val="100000"/>
              </a:lnSpc>
              <a:spcBef>
                <a:spcPts val="800"/>
              </a:spcBef>
            </a:pPr>
            <a:r>
              <a:rPr sz="1700" b="1" dirty="0">
                <a:solidFill>
                  <a:srgbClr val="549FDB"/>
                </a:solidFill>
                <a:latin typeface="Segoe UI"/>
                <a:cs typeface="Segoe UI"/>
              </a:rPr>
              <a:t>Objets</a:t>
            </a:r>
            <a:r>
              <a:rPr sz="1700" b="1" spc="-35" dirty="0">
                <a:solidFill>
                  <a:srgbClr val="549FDB"/>
                </a:solidFill>
                <a:latin typeface="Segoe UI"/>
                <a:cs typeface="Segoe UI"/>
              </a:rPr>
              <a:t> </a:t>
            </a:r>
            <a:r>
              <a:rPr sz="1700" b="1" dirty="0">
                <a:solidFill>
                  <a:srgbClr val="549FDB"/>
                </a:solidFill>
                <a:latin typeface="Segoe UI"/>
                <a:cs typeface="Segoe UI"/>
              </a:rPr>
              <a:t>de</a:t>
            </a:r>
            <a:r>
              <a:rPr sz="1700" b="1" spc="-25" dirty="0">
                <a:solidFill>
                  <a:srgbClr val="549FDB"/>
                </a:solidFill>
                <a:latin typeface="Segoe UI"/>
                <a:cs typeface="Segoe UI"/>
              </a:rPr>
              <a:t> </a:t>
            </a:r>
            <a:r>
              <a:rPr sz="1700" b="1" spc="-20" dirty="0">
                <a:solidFill>
                  <a:srgbClr val="549FDB"/>
                </a:solidFill>
                <a:latin typeface="Segoe UI"/>
                <a:cs typeface="Segoe UI"/>
              </a:rPr>
              <a:t>flux</a:t>
            </a:r>
            <a:endParaRPr sz="1700">
              <a:latin typeface="Segoe UI"/>
              <a:cs typeface="Segoe UI"/>
            </a:endParaRPr>
          </a:p>
          <a:p>
            <a:pPr marL="899794" indent="-342900">
              <a:lnSpc>
                <a:spcPct val="100000"/>
              </a:lnSpc>
              <a:spcBef>
                <a:spcPts val="800"/>
              </a:spcBef>
              <a:buClr>
                <a:srgbClr val="006EC0"/>
              </a:buClr>
              <a:buAutoNum type="arabicParenR"/>
              <a:tabLst>
                <a:tab pos="899794" algn="l"/>
              </a:tabLst>
            </a:pPr>
            <a:r>
              <a:rPr sz="1500" spc="-10" dirty="0">
                <a:solidFill>
                  <a:srgbClr val="549FDB"/>
                </a:solidFill>
                <a:latin typeface="Segoe UI"/>
                <a:cs typeface="Segoe UI"/>
              </a:rPr>
              <a:t>Définition</a:t>
            </a:r>
            <a:endParaRPr sz="1500">
              <a:latin typeface="Segoe UI"/>
              <a:cs typeface="Segoe UI"/>
            </a:endParaRPr>
          </a:p>
          <a:p>
            <a:pPr marL="899794" indent="-342900">
              <a:lnSpc>
                <a:spcPct val="100000"/>
              </a:lnSpc>
              <a:spcBef>
                <a:spcPts val="710"/>
              </a:spcBef>
              <a:buClr>
                <a:srgbClr val="006EC0"/>
              </a:buClr>
              <a:buAutoNum type="arabicParenR"/>
              <a:tabLst>
                <a:tab pos="899794" algn="l"/>
              </a:tabLst>
            </a:pPr>
            <a:r>
              <a:rPr sz="1500" spc="-10" dirty="0">
                <a:solidFill>
                  <a:srgbClr val="549FDB"/>
                </a:solidFill>
                <a:latin typeface="Segoe UI"/>
                <a:cs typeface="Segoe UI"/>
              </a:rPr>
              <a:t>Liaisons</a:t>
            </a:r>
            <a:endParaRPr sz="1500">
              <a:latin typeface="Segoe UI"/>
              <a:cs typeface="Segoe UI"/>
            </a:endParaRPr>
          </a:p>
          <a:p>
            <a:pPr marL="899794" indent="-342900">
              <a:lnSpc>
                <a:spcPct val="100000"/>
              </a:lnSpc>
              <a:spcBef>
                <a:spcPts val="695"/>
              </a:spcBef>
              <a:buClr>
                <a:srgbClr val="006EC0"/>
              </a:buClr>
              <a:buAutoNum type="arabicParenR"/>
              <a:tabLst>
                <a:tab pos="899794" algn="l"/>
              </a:tabLst>
            </a:pPr>
            <a:r>
              <a:rPr sz="1500" spc="-70" dirty="0">
                <a:solidFill>
                  <a:srgbClr val="549FDB"/>
                </a:solidFill>
                <a:latin typeface="Segoe UI"/>
                <a:cs typeface="Segoe UI"/>
              </a:rPr>
              <a:t>Tâche</a:t>
            </a:r>
            <a:r>
              <a:rPr sz="1500" spc="-60" dirty="0">
                <a:solidFill>
                  <a:srgbClr val="549FDB"/>
                </a:solidFill>
                <a:latin typeface="Segoe UI"/>
                <a:cs typeface="Segoe UI"/>
              </a:rPr>
              <a:t> </a:t>
            </a:r>
            <a:r>
              <a:rPr sz="1500" spc="-10" dirty="0">
                <a:solidFill>
                  <a:srgbClr val="549FDB"/>
                </a:solidFill>
                <a:latin typeface="Segoe UI"/>
                <a:cs typeface="Segoe UI"/>
              </a:rPr>
              <a:t>générique</a:t>
            </a:r>
            <a:endParaRPr sz="1500">
              <a:latin typeface="Segoe UI"/>
              <a:cs typeface="Segoe UI"/>
            </a:endParaRPr>
          </a:p>
          <a:p>
            <a:pPr marL="899794" indent="-342900">
              <a:lnSpc>
                <a:spcPct val="100000"/>
              </a:lnSpc>
              <a:spcBef>
                <a:spcPts val="695"/>
              </a:spcBef>
              <a:buClr>
                <a:srgbClr val="006EC0"/>
              </a:buClr>
              <a:buAutoNum type="arabicParenR"/>
              <a:tabLst>
                <a:tab pos="899794" algn="l"/>
              </a:tabLst>
            </a:pPr>
            <a:r>
              <a:rPr sz="1500" spc="-65" dirty="0">
                <a:solidFill>
                  <a:srgbClr val="549FDB"/>
                </a:solidFill>
                <a:latin typeface="Segoe UI"/>
                <a:cs typeface="Segoe UI"/>
              </a:rPr>
              <a:t>Tâches</a:t>
            </a:r>
            <a:r>
              <a:rPr sz="1500" spc="-15" dirty="0">
                <a:solidFill>
                  <a:srgbClr val="549FDB"/>
                </a:solidFill>
                <a:latin typeface="Segoe UI"/>
                <a:cs typeface="Segoe UI"/>
              </a:rPr>
              <a:t> </a:t>
            </a:r>
            <a:r>
              <a:rPr sz="1500" spc="-10" dirty="0">
                <a:solidFill>
                  <a:srgbClr val="549FDB"/>
                </a:solidFill>
                <a:latin typeface="Segoe UI"/>
                <a:cs typeface="Segoe UI"/>
              </a:rPr>
              <a:t>spécialisées</a:t>
            </a:r>
            <a:endParaRPr sz="1500">
              <a:latin typeface="Segoe UI"/>
              <a:cs typeface="Segoe UI"/>
            </a:endParaRPr>
          </a:p>
          <a:p>
            <a:pPr marL="99695">
              <a:lnSpc>
                <a:spcPct val="100000"/>
              </a:lnSpc>
              <a:spcBef>
                <a:spcPts val="790"/>
              </a:spcBef>
            </a:pPr>
            <a:r>
              <a:rPr sz="1900" b="1" spc="-10" dirty="0">
                <a:solidFill>
                  <a:srgbClr val="549FDB"/>
                </a:solidFill>
                <a:latin typeface="Segoe UI"/>
                <a:cs typeface="Segoe UI"/>
              </a:rPr>
              <a:t>Passerelles</a:t>
            </a:r>
            <a:endParaRPr sz="1900">
              <a:latin typeface="Segoe UI"/>
              <a:cs typeface="Segoe UI"/>
            </a:endParaRPr>
          </a:p>
          <a:p>
            <a:pPr marL="1014094" indent="-457200">
              <a:lnSpc>
                <a:spcPct val="100000"/>
              </a:lnSpc>
              <a:spcBef>
                <a:spcPts val="819"/>
              </a:spcBef>
              <a:buClr>
                <a:srgbClr val="006EC0"/>
              </a:buClr>
              <a:buAutoNum type="arabicParenR"/>
              <a:tabLst>
                <a:tab pos="1014094" algn="l"/>
              </a:tabLst>
            </a:pPr>
            <a:r>
              <a:rPr sz="1500" spc="-10" dirty="0">
                <a:solidFill>
                  <a:srgbClr val="549FDB"/>
                </a:solidFill>
                <a:latin typeface="Segoe UI"/>
                <a:cs typeface="Segoe UI"/>
              </a:rPr>
              <a:t>Exclusives</a:t>
            </a:r>
            <a:endParaRPr sz="1500">
              <a:latin typeface="Segoe UI"/>
              <a:cs typeface="Segoe UI"/>
            </a:endParaRPr>
          </a:p>
          <a:p>
            <a:pPr marL="1014094" indent="-457200">
              <a:lnSpc>
                <a:spcPct val="100000"/>
              </a:lnSpc>
              <a:spcBef>
                <a:spcPts val="695"/>
              </a:spcBef>
              <a:buClr>
                <a:srgbClr val="006EC0"/>
              </a:buClr>
              <a:buAutoNum type="arabicParenR"/>
              <a:tabLst>
                <a:tab pos="1014094" algn="l"/>
              </a:tabLst>
            </a:pPr>
            <a:r>
              <a:rPr sz="1500" spc="-10" dirty="0">
                <a:solidFill>
                  <a:srgbClr val="549FDB"/>
                </a:solidFill>
                <a:latin typeface="Segoe UI"/>
                <a:cs typeface="Segoe UI"/>
              </a:rPr>
              <a:t>Parallèles</a:t>
            </a:r>
            <a:endParaRPr sz="1500">
              <a:latin typeface="Segoe UI"/>
              <a:cs typeface="Segoe UI"/>
            </a:endParaRPr>
          </a:p>
          <a:p>
            <a:pPr marL="1014094" indent="-457200">
              <a:lnSpc>
                <a:spcPct val="100000"/>
              </a:lnSpc>
              <a:spcBef>
                <a:spcPts val="695"/>
              </a:spcBef>
              <a:buClr>
                <a:srgbClr val="006EC0"/>
              </a:buClr>
              <a:buAutoNum type="arabicParenR"/>
              <a:tabLst>
                <a:tab pos="1014094" algn="l"/>
              </a:tabLst>
            </a:pPr>
            <a:r>
              <a:rPr sz="1500" spc="-20" dirty="0">
                <a:solidFill>
                  <a:srgbClr val="549FDB"/>
                </a:solidFill>
                <a:latin typeface="Segoe UI"/>
                <a:cs typeface="Segoe UI"/>
              </a:rPr>
              <a:t>Passerelles</a:t>
            </a:r>
            <a:r>
              <a:rPr sz="1500" spc="-30" dirty="0">
                <a:solidFill>
                  <a:srgbClr val="549FDB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549FDB"/>
                </a:solidFill>
                <a:latin typeface="Segoe UI"/>
                <a:cs typeface="Segoe UI"/>
              </a:rPr>
              <a:t>plus</a:t>
            </a:r>
            <a:r>
              <a:rPr sz="1500" spc="-70" dirty="0">
                <a:solidFill>
                  <a:srgbClr val="549FDB"/>
                </a:solidFill>
                <a:latin typeface="Segoe UI"/>
                <a:cs typeface="Segoe UI"/>
              </a:rPr>
              <a:t> </a:t>
            </a:r>
            <a:r>
              <a:rPr sz="1500" spc="-10" dirty="0">
                <a:solidFill>
                  <a:srgbClr val="549FDB"/>
                </a:solidFill>
                <a:latin typeface="Segoe UI"/>
                <a:cs typeface="Segoe UI"/>
              </a:rPr>
              <a:t>complexes</a:t>
            </a:r>
            <a:endParaRPr sz="1500">
              <a:latin typeface="Segoe UI"/>
              <a:cs typeface="Segoe UI"/>
            </a:endParaRPr>
          </a:p>
          <a:p>
            <a:pPr marL="99695">
              <a:lnSpc>
                <a:spcPct val="100000"/>
              </a:lnSpc>
              <a:spcBef>
                <a:spcPts val="800"/>
              </a:spcBef>
            </a:pPr>
            <a:r>
              <a:rPr sz="1700" b="1" spc="-10" dirty="0">
                <a:solidFill>
                  <a:srgbClr val="549FDB"/>
                </a:solidFill>
                <a:latin typeface="Segoe UI"/>
                <a:cs typeface="Segoe UI"/>
              </a:rPr>
              <a:t>Évènements</a:t>
            </a:r>
            <a:endParaRPr sz="1700">
              <a:latin typeface="Segoe UI"/>
              <a:cs typeface="Segoe UI"/>
            </a:endParaRPr>
          </a:p>
          <a:p>
            <a:pPr marL="1014094" indent="-457200">
              <a:lnSpc>
                <a:spcPct val="100000"/>
              </a:lnSpc>
              <a:spcBef>
                <a:spcPts val="815"/>
              </a:spcBef>
              <a:buClr>
                <a:srgbClr val="006EC0"/>
              </a:buClr>
              <a:buAutoNum type="arabicParenR"/>
              <a:tabLst>
                <a:tab pos="1014094" algn="l"/>
              </a:tabLst>
            </a:pPr>
            <a:r>
              <a:rPr sz="1500" spc="-10" dirty="0">
                <a:solidFill>
                  <a:srgbClr val="549FDB"/>
                </a:solidFill>
                <a:latin typeface="Segoe UI"/>
                <a:cs typeface="Segoe UI"/>
              </a:rPr>
              <a:t>Évènement</a:t>
            </a:r>
            <a:r>
              <a:rPr sz="1500" spc="-30" dirty="0">
                <a:solidFill>
                  <a:srgbClr val="549FDB"/>
                </a:solidFill>
                <a:latin typeface="Segoe UI"/>
                <a:cs typeface="Segoe UI"/>
              </a:rPr>
              <a:t> </a:t>
            </a:r>
            <a:r>
              <a:rPr sz="1500" spc="-10" dirty="0">
                <a:solidFill>
                  <a:srgbClr val="549FDB"/>
                </a:solidFill>
                <a:latin typeface="Segoe UI"/>
                <a:cs typeface="Segoe UI"/>
              </a:rPr>
              <a:t>déclencheur</a:t>
            </a:r>
            <a:endParaRPr sz="1500">
              <a:latin typeface="Segoe UI"/>
              <a:cs typeface="Segoe UI"/>
            </a:endParaRPr>
          </a:p>
          <a:p>
            <a:pPr marL="1014094" indent="-457200">
              <a:lnSpc>
                <a:spcPct val="100000"/>
              </a:lnSpc>
              <a:spcBef>
                <a:spcPts val="695"/>
              </a:spcBef>
              <a:buClr>
                <a:srgbClr val="006EC0"/>
              </a:buClr>
              <a:buAutoNum type="arabicParenR"/>
              <a:tabLst>
                <a:tab pos="1014094" algn="l"/>
              </a:tabLst>
            </a:pPr>
            <a:r>
              <a:rPr sz="1500" spc="-10" dirty="0">
                <a:solidFill>
                  <a:srgbClr val="549FDB"/>
                </a:solidFill>
                <a:latin typeface="Segoe UI"/>
                <a:cs typeface="Segoe UI"/>
              </a:rPr>
              <a:t>Évènement</a:t>
            </a:r>
            <a:r>
              <a:rPr sz="1500" spc="-40" dirty="0">
                <a:solidFill>
                  <a:srgbClr val="549FDB"/>
                </a:solidFill>
                <a:latin typeface="Segoe UI"/>
                <a:cs typeface="Segoe UI"/>
              </a:rPr>
              <a:t> </a:t>
            </a:r>
            <a:r>
              <a:rPr sz="1500" spc="-10" dirty="0">
                <a:solidFill>
                  <a:srgbClr val="549FDB"/>
                </a:solidFill>
                <a:latin typeface="Segoe UI"/>
                <a:cs typeface="Segoe UI"/>
              </a:rPr>
              <a:t>intermédiaire</a:t>
            </a:r>
            <a:endParaRPr sz="1500">
              <a:latin typeface="Segoe UI"/>
              <a:cs typeface="Segoe UI"/>
            </a:endParaRPr>
          </a:p>
          <a:p>
            <a:pPr marL="1014094" indent="-457200">
              <a:lnSpc>
                <a:spcPct val="100000"/>
              </a:lnSpc>
              <a:spcBef>
                <a:spcPts val="695"/>
              </a:spcBef>
              <a:buClr>
                <a:srgbClr val="006EC0"/>
              </a:buClr>
              <a:buAutoNum type="arabicParenR"/>
              <a:tabLst>
                <a:tab pos="1014094" algn="l"/>
              </a:tabLst>
            </a:pPr>
            <a:r>
              <a:rPr sz="1500" spc="-10" dirty="0">
                <a:solidFill>
                  <a:srgbClr val="549FDB"/>
                </a:solidFill>
                <a:latin typeface="Segoe UI"/>
                <a:cs typeface="Segoe UI"/>
              </a:rPr>
              <a:t>Évènement</a:t>
            </a:r>
            <a:r>
              <a:rPr sz="1500" spc="-30" dirty="0">
                <a:solidFill>
                  <a:srgbClr val="549FDB"/>
                </a:solidFill>
                <a:latin typeface="Segoe UI"/>
                <a:cs typeface="Segoe UI"/>
              </a:rPr>
              <a:t> </a:t>
            </a:r>
            <a:r>
              <a:rPr sz="1500" spc="-25" dirty="0">
                <a:solidFill>
                  <a:srgbClr val="549FDB"/>
                </a:solidFill>
                <a:latin typeface="Segoe UI"/>
                <a:cs typeface="Segoe UI"/>
              </a:rPr>
              <a:t>fin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463397" y="2678048"/>
            <a:ext cx="3477260" cy="118046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00"/>
              </a:lnSpc>
              <a:spcBef>
                <a:spcPts val="655"/>
              </a:spcBef>
              <a:tabLst>
                <a:tab pos="1042669" algn="l"/>
              </a:tabLst>
            </a:pPr>
            <a:r>
              <a:rPr sz="4000" spc="165" dirty="0">
                <a:solidFill>
                  <a:srgbClr val="FFFFFF"/>
                </a:solidFill>
                <a:latin typeface="Segoe UI Semibold"/>
                <a:cs typeface="Segoe UI Semibold"/>
              </a:rPr>
              <a:t>Les</a:t>
            </a:r>
            <a:r>
              <a:rPr sz="4000" dirty="0">
                <a:solidFill>
                  <a:srgbClr val="FFFFFF"/>
                </a:solidFill>
                <a:latin typeface="Segoe UI Semibold"/>
                <a:cs typeface="Segoe UI Semibold"/>
              </a:rPr>
              <a:t>	</a:t>
            </a:r>
            <a:r>
              <a:rPr sz="4000" spc="229" dirty="0">
                <a:solidFill>
                  <a:srgbClr val="FFFFFF"/>
                </a:solidFill>
                <a:latin typeface="Segoe UI Semibold"/>
                <a:cs typeface="Segoe UI Semibold"/>
              </a:rPr>
              <a:t>symboles </a:t>
            </a:r>
            <a:r>
              <a:rPr sz="4000" spc="130" dirty="0">
                <a:solidFill>
                  <a:srgbClr val="FFFFFF"/>
                </a:solidFill>
                <a:latin typeface="Segoe UI Semibold"/>
                <a:cs typeface="Segoe UI Semibold"/>
              </a:rPr>
              <a:t>B</a:t>
            </a:r>
            <a:r>
              <a:rPr sz="4000" u="heavy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 Semibold"/>
                <a:cs typeface="Segoe UI Semibold"/>
              </a:rPr>
              <a:t>PMN</a:t>
            </a:r>
            <a:endParaRPr sz="4000"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4840" y="778763"/>
            <a:ext cx="4628515" cy="5300980"/>
            <a:chOff x="624840" y="778763"/>
            <a:chExt cx="4628515" cy="5300980"/>
          </a:xfrm>
        </p:grpSpPr>
        <p:sp>
          <p:nvSpPr>
            <p:cNvPr id="3" name="object 3"/>
            <p:cNvSpPr/>
            <p:nvPr/>
          </p:nvSpPr>
          <p:spPr>
            <a:xfrm>
              <a:off x="624840" y="778763"/>
              <a:ext cx="4628515" cy="5300980"/>
            </a:xfrm>
            <a:custGeom>
              <a:avLst/>
              <a:gdLst/>
              <a:ahLst/>
              <a:cxnLst/>
              <a:rect l="l" t="t" r="r" b="b"/>
              <a:pathLst>
                <a:path w="4628515" h="5300980">
                  <a:moveTo>
                    <a:pt x="4628388" y="0"/>
                  </a:moveTo>
                  <a:lnTo>
                    <a:pt x="0" y="0"/>
                  </a:lnTo>
                  <a:lnTo>
                    <a:pt x="0" y="5300472"/>
                  </a:lnTo>
                  <a:lnTo>
                    <a:pt x="4628388" y="5300472"/>
                  </a:lnTo>
                  <a:lnTo>
                    <a:pt x="46283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96315" y="3571112"/>
              <a:ext cx="1239520" cy="0"/>
            </a:xfrm>
            <a:custGeom>
              <a:avLst/>
              <a:gdLst/>
              <a:ahLst/>
              <a:cxnLst/>
              <a:rect l="l" t="t" r="r" b="b"/>
              <a:pathLst>
                <a:path w="1239520">
                  <a:moveTo>
                    <a:pt x="0" y="0"/>
                  </a:moveTo>
                  <a:lnTo>
                    <a:pt x="1239266" y="0"/>
                  </a:lnTo>
                </a:path>
              </a:pathLst>
            </a:custGeom>
            <a:ln w="57150">
              <a:solidFill>
                <a:srgbClr val="549F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30551" y="5447537"/>
              <a:ext cx="1239774" cy="51892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24840" y="778763"/>
            <a:ext cx="4628515" cy="530098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60"/>
              </a:spcBef>
            </a:pPr>
            <a:endParaRPr sz="1700">
              <a:latin typeface="Times New Roman"/>
              <a:cs typeface="Times New Roman"/>
            </a:endParaRPr>
          </a:p>
          <a:p>
            <a:pPr marL="461645">
              <a:lnSpc>
                <a:spcPct val="100000"/>
              </a:lnSpc>
            </a:pPr>
            <a:r>
              <a:rPr sz="1700" b="1" dirty="0">
                <a:solidFill>
                  <a:srgbClr val="549FDB"/>
                </a:solidFill>
                <a:latin typeface="Segoe UI"/>
                <a:cs typeface="Segoe UI"/>
              </a:rPr>
              <a:t>1.</a:t>
            </a:r>
            <a:r>
              <a:rPr sz="1700" b="1" spc="-55" dirty="0">
                <a:solidFill>
                  <a:srgbClr val="549FDB"/>
                </a:solidFill>
                <a:latin typeface="Segoe UI"/>
                <a:cs typeface="Segoe UI"/>
              </a:rPr>
              <a:t> </a:t>
            </a:r>
            <a:r>
              <a:rPr sz="1700" b="1" spc="-20" dirty="0">
                <a:solidFill>
                  <a:srgbClr val="549FDB"/>
                </a:solidFill>
                <a:latin typeface="Segoe UI"/>
                <a:cs typeface="Segoe UI"/>
              </a:rPr>
              <a:t>Pool</a:t>
            </a:r>
            <a:r>
              <a:rPr sz="1700" b="1" spc="-45" dirty="0">
                <a:solidFill>
                  <a:srgbClr val="549FDB"/>
                </a:solidFill>
                <a:latin typeface="Segoe UI"/>
                <a:cs typeface="Segoe UI"/>
              </a:rPr>
              <a:t> </a:t>
            </a:r>
            <a:r>
              <a:rPr sz="1700" b="1" dirty="0">
                <a:solidFill>
                  <a:srgbClr val="549FDB"/>
                </a:solidFill>
                <a:latin typeface="Segoe UI"/>
                <a:cs typeface="Segoe UI"/>
              </a:rPr>
              <a:t>et</a:t>
            </a:r>
            <a:r>
              <a:rPr sz="1700" b="1" spc="-35" dirty="0">
                <a:solidFill>
                  <a:srgbClr val="549FDB"/>
                </a:solidFill>
                <a:latin typeface="Segoe UI"/>
                <a:cs typeface="Segoe UI"/>
              </a:rPr>
              <a:t> </a:t>
            </a:r>
            <a:r>
              <a:rPr sz="1700" b="1" spc="-10" dirty="0">
                <a:solidFill>
                  <a:srgbClr val="549FDB"/>
                </a:solidFill>
                <a:latin typeface="Segoe UI"/>
                <a:cs typeface="Segoe UI"/>
              </a:rPr>
              <a:t>Swimlanes</a:t>
            </a:r>
            <a:endParaRPr sz="1700">
              <a:latin typeface="Segoe UI"/>
              <a:cs typeface="Segoe UI"/>
            </a:endParaRPr>
          </a:p>
          <a:p>
            <a:pPr marL="701675" indent="-240029">
              <a:lnSpc>
                <a:spcPct val="100000"/>
              </a:lnSpc>
              <a:spcBef>
                <a:spcPts val="1010"/>
              </a:spcBef>
              <a:buSzPct val="113333"/>
              <a:buAutoNum type="arabicParenR"/>
              <a:tabLst>
                <a:tab pos="701675" algn="l"/>
              </a:tabLst>
            </a:pPr>
            <a:r>
              <a:rPr sz="1500" spc="-20" dirty="0">
                <a:solidFill>
                  <a:srgbClr val="549FDB"/>
                </a:solidFill>
                <a:latin typeface="Segoe UI"/>
                <a:cs typeface="Segoe UI"/>
              </a:rPr>
              <a:t>Pool</a:t>
            </a:r>
            <a:endParaRPr sz="1500">
              <a:latin typeface="Segoe UI"/>
              <a:cs typeface="Segoe UI"/>
            </a:endParaRPr>
          </a:p>
          <a:p>
            <a:pPr marL="674370" indent="-212725">
              <a:lnSpc>
                <a:spcPct val="100000"/>
              </a:lnSpc>
              <a:spcBef>
                <a:spcPts val="1055"/>
              </a:spcBef>
              <a:buAutoNum type="arabicParenR"/>
              <a:tabLst>
                <a:tab pos="674370" algn="l"/>
              </a:tabLst>
            </a:pPr>
            <a:r>
              <a:rPr sz="1500" spc="-10" dirty="0">
                <a:solidFill>
                  <a:srgbClr val="549FDB"/>
                </a:solidFill>
                <a:latin typeface="Segoe UI"/>
                <a:cs typeface="Segoe UI"/>
              </a:rPr>
              <a:t>Swimlanes</a:t>
            </a:r>
            <a:endParaRPr sz="1500">
              <a:latin typeface="Segoe UI"/>
              <a:cs typeface="Segoe UI"/>
            </a:endParaRPr>
          </a:p>
          <a:p>
            <a:pPr marL="674370" indent="-212725">
              <a:lnSpc>
                <a:spcPct val="100000"/>
              </a:lnSpc>
              <a:spcBef>
                <a:spcPts val="1105"/>
              </a:spcBef>
              <a:buAutoNum type="arabicParenR"/>
              <a:tabLst>
                <a:tab pos="674370" algn="l"/>
              </a:tabLst>
            </a:pPr>
            <a:r>
              <a:rPr sz="1500" spc="-10" dirty="0">
                <a:solidFill>
                  <a:srgbClr val="549FDB"/>
                </a:solidFill>
                <a:latin typeface="Segoe UI"/>
                <a:cs typeface="Segoe UI"/>
              </a:rPr>
              <a:t>Modifications</a:t>
            </a:r>
            <a:r>
              <a:rPr sz="1500" spc="-30" dirty="0">
                <a:solidFill>
                  <a:srgbClr val="549FDB"/>
                </a:solidFill>
                <a:latin typeface="Segoe UI"/>
                <a:cs typeface="Segoe UI"/>
              </a:rPr>
              <a:t> </a:t>
            </a:r>
            <a:r>
              <a:rPr sz="1500" dirty="0">
                <a:solidFill>
                  <a:srgbClr val="549FDB"/>
                </a:solidFill>
                <a:latin typeface="Segoe UI"/>
                <a:cs typeface="Segoe UI"/>
              </a:rPr>
              <a:t>avec</a:t>
            </a:r>
            <a:r>
              <a:rPr sz="1500" spc="-50" dirty="0">
                <a:solidFill>
                  <a:srgbClr val="549FDB"/>
                </a:solidFill>
                <a:latin typeface="Segoe UI"/>
                <a:cs typeface="Segoe UI"/>
              </a:rPr>
              <a:t> </a:t>
            </a:r>
            <a:r>
              <a:rPr sz="1500" spc="-10" dirty="0">
                <a:solidFill>
                  <a:srgbClr val="549FDB"/>
                </a:solidFill>
                <a:latin typeface="Segoe UI"/>
                <a:cs typeface="Segoe UI"/>
              </a:rPr>
              <a:t>Draw.io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5968" y="698880"/>
            <a:ext cx="12204700" cy="6159500"/>
            <a:chOff x="-5968" y="698880"/>
            <a:chExt cx="12204700" cy="6159500"/>
          </a:xfrm>
        </p:grpSpPr>
        <p:sp>
          <p:nvSpPr>
            <p:cNvPr id="3" name="object 3"/>
            <p:cNvSpPr/>
            <p:nvPr/>
          </p:nvSpPr>
          <p:spPr>
            <a:xfrm>
              <a:off x="381" y="705230"/>
              <a:ext cx="12192000" cy="5652135"/>
            </a:xfrm>
            <a:custGeom>
              <a:avLst/>
              <a:gdLst/>
              <a:ahLst/>
              <a:cxnLst/>
              <a:rect l="l" t="t" r="r" b="b"/>
              <a:pathLst>
                <a:path w="12192000" h="5652135">
                  <a:moveTo>
                    <a:pt x="12191619" y="0"/>
                  </a:moveTo>
                  <a:lnTo>
                    <a:pt x="0" y="0"/>
                  </a:lnTo>
                  <a:lnTo>
                    <a:pt x="0" y="5651754"/>
                  </a:lnTo>
                  <a:lnTo>
                    <a:pt x="12191619" y="5651754"/>
                  </a:lnTo>
                  <a:lnTo>
                    <a:pt x="121916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1" y="705230"/>
              <a:ext cx="12192000" cy="5652135"/>
            </a:xfrm>
            <a:custGeom>
              <a:avLst/>
              <a:gdLst/>
              <a:ahLst/>
              <a:cxnLst/>
              <a:rect l="l" t="t" r="r" b="b"/>
              <a:pathLst>
                <a:path w="12192000" h="5652135">
                  <a:moveTo>
                    <a:pt x="0" y="5651754"/>
                  </a:moveTo>
                  <a:lnTo>
                    <a:pt x="12192000" y="5651754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65175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8130" y="72898"/>
            <a:ext cx="11656060" cy="5474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0695">
              <a:lnSpc>
                <a:spcPct val="100000"/>
              </a:lnSpc>
              <a:spcBef>
                <a:spcPts val="100"/>
              </a:spcBef>
            </a:pPr>
            <a:r>
              <a:rPr sz="1400" spc="-30" dirty="0">
                <a:solidFill>
                  <a:srgbClr val="242424"/>
                </a:solidFill>
                <a:latin typeface="Segoe UI Semibold"/>
                <a:cs typeface="Segoe UI Semibold"/>
              </a:rPr>
              <a:t>Pool</a:t>
            </a:r>
            <a:r>
              <a:rPr sz="1400" spc="-65" dirty="0">
                <a:solidFill>
                  <a:srgbClr val="242424"/>
                </a:solidFill>
                <a:latin typeface="Segoe UI Semibold"/>
                <a:cs typeface="Segoe UI Semibold"/>
              </a:rPr>
              <a:t> </a:t>
            </a:r>
            <a:r>
              <a:rPr sz="1400" dirty="0">
                <a:solidFill>
                  <a:srgbClr val="242424"/>
                </a:solidFill>
                <a:latin typeface="Segoe UI Semibold"/>
                <a:cs typeface="Segoe UI Semibold"/>
              </a:rPr>
              <a:t>&amp;</a:t>
            </a:r>
            <a:r>
              <a:rPr sz="1400" spc="-40" dirty="0">
                <a:solidFill>
                  <a:srgbClr val="242424"/>
                </a:solidFill>
                <a:latin typeface="Segoe UI Semibold"/>
                <a:cs typeface="Segoe UI Semibold"/>
              </a:rPr>
              <a:t> </a:t>
            </a:r>
            <a:r>
              <a:rPr sz="1400" spc="-10" dirty="0">
                <a:solidFill>
                  <a:srgbClr val="242424"/>
                </a:solidFill>
                <a:latin typeface="Segoe UI Semibold"/>
                <a:cs typeface="Segoe UI Semibold"/>
              </a:rPr>
              <a:t>Swimlanes</a:t>
            </a:r>
            <a:endParaRPr sz="1400">
              <a:latin typeface="Segoe UI Semibold"/>
              <a:cs typeface="Segoe UI Semibold"/>
            </a:endParaRPr>
          </a:p>
          <a:p>
            <a:pPr marL="480695">
              <a:lnSpc>
                <a:spcPct val="100000"/>
              </a:lnSpc>
              <a:spcBef>
                <a:spcPts val="80"/>
              </a:spcBef>
            </a:pPr>
            <a:r>
              <a:rPr sz="1800" spc="-10" dirty="0">
                <a:solidFill>
                  <a:srgbClr val="FFFFFF"/>
                </a:solidFill>
                <a:latin typeface="Segoe UI Semibold"/>
                <a:cs typeface="Segoe UI Semibold"/>
              </a:rPr>
              <a:t>Définition</a:t>
            </a:r>
            <a:endParaRPr sz="1800">
              <a:latin typeface="Segoe UI Semibold"/>
              <a:cs typeface="Segoe UI Semibold"/>
            </a:endParaRPr>
          </a:p>
          <a:p>
            <a:pPr marL="240665" indent="-227965">
              <a:lnSpc>
                <a:spcPct val="100000"/>
              </a:lnSpc>
              <a:spcBef>
                <a:spcPts val="211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dirty="0">
                <a:latin typeface="Segoe UI"/>
                <a:cs typeface="Segoe UI"/>
              </a:rPr>
              <a:t>BPMN</a:t>
            </a:r>
            <a:r>
              <a:rPr sz="2000" b="1" spc="-10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(Business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Processus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Model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Notation)</a:t>
            </a:r>
            <a:r>
              <a:rPr sz="2000" spc="-7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permet</a:t>
            </a:r>
            <a:r>
              <a:rPr sz="2000" spc="-7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de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modéliser</a:t>
            </a:r>
            <a:r>
              <a:rPr sz="2000" b="1" spc="-8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des</a:t>
            </a:r>
            <a:r>
              <a:rPr sz="2000" b="1" spc="-6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processus</a:t>
            </a:r>
            <a:r>
              <a:rPr sz="2000" b="1" spc="-8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de</a:t>
            </a:r>
            <a:r>
              <a:rPr sz="2000" spc="-6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manière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visuelle.</a:t>
            </a:r>
            <a:endParaRPr sz="20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989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Segoe UI"/>
                <a:cs typeface="Segoe UI"/>
              </a:rPr>
              <a:t>Un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processus</a:t>
            </a:r>
            <a:r>
              <a:rPr sz="2000" b="1" spc="-8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est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une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suite</a:t>
            </a:r>
            <a:r>
              <a:rPr sz="2000" b="1" spc="-80" dirty="0">
                <a:latin typeface="Segoe UI"/>
                <a:cs typeface="Segoe UI"/>
              </a:rPr>
              <a:t> </a:t>
            </a:r>
            <a:r>
              <a:rPr sz="2000" b="1" spc="-30" dirty="0">
                <a:latin typeface="Segoe UI"/>
                <a:cs typeface="Segoe UI"/>
              </a:rPr>
              <a:t>d’actions</a:t>
            </a:r>
            <a:r>
              <a:rPr sz="2000" b="1" spc="-10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(tâches)</a:t>
            </a:r>
            <a:r>
              <a:rPr sz="2000" b="1" spc="-7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réalisées</a:t>
            </a:r>
            <a:r>
              <a:rPr sz="2000" spc="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par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des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acteurs</a:t>
            </a:r>
            <a:r>
              <a:rPr sz="2000" dirty="0">
                <a:latin typeface="Segoe UI"/>
                <a:cs typeface="Segoe UI"/>
              </a:rPr>
              <a:t>,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humains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ou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système.</a:t>
            </a:r>
            <a:endParaRPr sz="20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200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Segoe UI"/>
                <a:cs typeface="Segoe UI"/>
              </a:rPr>
              <a:t>Un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processus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spc="-45" dirty="0">
                <a:latin typeface="Segoe UI"/>
                <a:cs typeface="Segoe UI"/>
              </a:rPr>
              <a:t>s’exécute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à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l’intérieur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d’un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périmètre</a:t>
            </a:r>
            <a:r>
              <a:rPr sz="2000" dirty="0">
                <a:latin typeface="Segoe UI"/>
                <a:cs typeface="Segoe UI"/>
              </a:rPr>
              <a:t>,</a:t>
            </a:r>
            <a:r>
              <a:rPr sz="2000" spc="-6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symbolisé</a:t>
            </a:r>
            <a:r>
              <a:rPr sz="2000" spc="-7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en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BPMN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par</a:t>
            </a:r>
            <a:r>
              <a:rPr sz="2000" spc="-8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une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«</a:t>
            </a:r>
            <a:r>
              <a:rPr sz="2000" b="1" spc="-5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piscine</a:t>
            </a:r>
            <a:r>
              <a:rPr sz="2000" b="1" spc="-9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»</a:t>
            </a:r>
            <a:r>
              <a:rPr sz="2000" b="1" spc="-65" dirty="0">
                <a:latin typeface="Segoe UI"/>
                <a:cs typeface="Segoe UI"/>
              </a:rPr>
              <a:t> </a:t>
            </a:r>
            <a:r>
              <a:rPr sz="2000" b="1" spc="-10" dirty="0">
                <a:latin typeface="Segoe UI"/>
                <a:cs typeface="Segoe UI"/>
              </a:rPr>
              <a:t>(Pool).</a:t>
            </a:r>
            <a:endParaRPr sz="20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57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Segoe UI"/>
                <a:cs typeface="Segoe UI"/>
              </a:rPr>
              <a:t>Chaque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acteur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possède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sa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propre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«</a:t>
            </a:r>
            <a:r>
              <a:rPr sz="2000" b="1" spc="-4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ligne</a:t>
            </a:r>
            <a:r>
              <a:rPr sz="2000" b="1" spc="-7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de</a:t>
            </a:r>
            <a:r>
              <a:rPr sz="2000" b="1" spc="-4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nage</a:t>
            </a:r>
            <a:r>
              <a:rPr sz="2000" b="1" spc="-6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»</a:t>
            </a:r>
            <a:r>
              <a:rPr sz="2000" b="1" spc="-35" dirty="0">
                <a:latin typeface="Segoe UI"/>
                <a:cs typeface="Segoe UI"/>
              </a:rPr>
              <a:t> </a:t>
            </a:r>
            <a:r>
              <a:rPr sz="2000" b="1" spc="-10" dirty="0">
                <a:latin typeface="Segoe UI"/>
                <a:cs typeface="Segoe UI"/>
              </a:rPr>
              <a:t>(swimlane</a:t>
            </a:r>
            <a:r>
              <a:rPr sz="2000" spc="-10" dirty="0">
                <a:latin typeface="Segoe UI"/>
                <a:cs typeface="Segoe UI"/>
              </a:rPr>
              <a:t>)</a:t>
            </a:r>
            <a:r>
              <a:rPr sz="2000" spc="-8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définissant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son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propre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périmètre</a:t>
            </a:r>
            <a:endParaRPr sz="2000">
              <a:latin typeface="Segoe UI"/>
              <a:cs typeface="Segoe UI"/>
            </a:endParaRPr>
          </a:p>
          <a:p>
            <a:pPr marL="241300">
              <a:lnSpc>
                <a:spcPct val="100000"/>
              </a:lnSpc>
              <a:spcBef>
                <a:spcPts val="960"/>
              </a:spcBef>
            </a:pPr>
            <a:r>
              <a:rPr sz="2000" spc="-10" dirty="0">
                <a:latin typeface="Segoe UI"/>
                <a:cs typeface="Segoe UI"/>
              </a:rPr>
              <a:t>d’action.</a:t>
            </a:r>
            <a:endParaRPr sz="2000">
              <a:latin typeface="Segoe UI"/>
              <a:cs typeface="Segoe UI"/>
            </a:endParaRPr>
          </a:p>
          <a:p>
            <a:pPr marL="241300" marR="7777480" indent="-228600">
              <a:lnSpc>
                <a:spcPct val="14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  <a:tab pos="2672080" algn="l"/>
              </a:tabLst>
            </a:pPr>
            <a:r>
              <a:rPr sz="2000" dirty="0">
                <a:latin typeface="Segoe UI"/>
                <a:cs typeface="Segoe UI"/>
              </a:rPr>
              <a:t>Un</a:t>
            </a:r>
            <a:r>
              <a:rPr sz="2000" spc="-9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processus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commence</a:t>
            </a:r>
            <a:r>
              <a:rPr sz="2000" b="1" spc="-7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par</a:t>
            </a:r>
            <a:r>
              <a:rPr sz="2000" spc="-100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un </a:t>
            </a:r>
            <a:r>
              <a:rPr sz="2000" dirty="0">
                <a:latin typeface="Segoe UI"/>
                <a:cs typeface="Segoe UI"/>
              </a:rPr>
              <a:t>évènement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«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Start</a:t>
            </a:r>
            <a:r>
              <a:rPr sz="2000" b="1" spc="-60" dirty="0">
                <a:latin typeface="Segoe UI"/>
                <a:cs typeface="Segoe UI"/>
              </a:rPr>
              <a:t> </a:t>
            </a:r>
            <a:r>
              <a:rPr sz="2000" spc="-50" dirty="0">
                <a:latin typeface="Segoe UI"/>
                <a:cs typeface="Segoe UI"/>
              </a:rPr>
              <a:t>»</a:t>
            </a:r>
            <a:r>
              <a:rPr sz="2000" dirty="0">
                <a:latin typeface="Segoe UI"/>
                <a:cs typeface="Segoe UI"/>
              </a:rPr>
              <a:t>	</a:t>
            </a:r>
            <a:r>
              <a:rPr sz="2000" spc="-50" dirty="0">
                <a:latin typeface="Segoe UI"/>
                <a:cs typeface="Segoe UI"/>
              </a:rPr>
              <a:t>:</a:t>
            </a:r>
            <a:endParaRPr sz="20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240"/>
              </a:spcBef>
              <a:buFont typeface="Arial MT"/>
              <a:buChar char="•"/>
            </a:pPr>
            <a:endParaRPr sz="2000">
              <a:latin typeface="Segoe UI"/>
              <a:cs typeface="Segoe UI"/>
            </a:endParaRPr>
          </a:p>
          <a:p>
            <a:pPr marL="241300" marR="7176134" indent="-228600">
              <a:lnSpc>
                <a:spcPct val="140000"/>
              </a:lnSpc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Segoe UI"/>
                <a:cs typeface="Segoe UI"/>
              </a:rPr>
              <a:t>Un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ou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plusieurs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évènement(s)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«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End</a:t>
            </a:r>
            <a:r>
              <a:rPr sz="2000" b="1" spc="-55" dirty="0">
                <a:latin typeface="Segoe UI"/>
                <a:cs typeface="Segoe UI"/>
              </a:rPr>
              <a:t> </a:t>
            </a:r>
            <a:r>
              <a:rPr sz="2000" spc="-50" dirty="0">
                <a:latin typeface="Segoe UI"/>
                <a:cs typeface="Segoe UI"/>
              </a:rPr>
              <a:t>» </a:t>
            </a:r>
            <a:r>
              <a:rPr sz="2000" dirty="0">
                <a:latin typeface="Segoe UI"/>
                <a:cs typeface="Segoe UI"/>
              </a:rPr>
              <a:t>indiquent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la</a:t>
            </a:r>
            <a:r>
              <a:rPr sz="2000" spc="-6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sortie/fin</a:t>
            </a:r>
            <a:r>
              <a:rPr sz="2000" b="1" spc="-7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du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processus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spc="-50" dirty="0">
                <a:latin typeface="Segoe UI"/>
                <a:cs typeface="Segoe UI"/>
              </a:rPr>
              <a:t>: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902457" y="2973577"/>
            <a:ext cx="9164320" cy="3397250"/>
            <a:chOff x="2902457" y="2973577"/>
            <a:chExt cx="9164320" cy="339725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78679" y="2986265"/>
              <a:ext cx="7375398" cy="307543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672329" y="2979927"/>
              <a:ext cx="7388225" cy="3088640"/>
            </a:xfrm>
            <a:custGeom>
              <a:avLst/>
              <a:gdLst/>
              <a:ahLst/>
              <a:cxnLst/>
              <a:rect l="l" t="t" r="r" b="b"/>
              <a:pathLst>
                <a:path w="7388225" h="3088640">
                  <a:moveTo>
                    <a:pt x="0" y="3088132"/>
                  </a:moveTo>
                  <a:lnTo>
                    <a:pt x="7388098" y="3088132"/>
                  </a:lnTo>
                  <a:lnTo>
                    <a:pt x="7388098" y="0"/>
                  </a:lnTo>
                  <a:lnTo>
                    <a:pt x="0" y="0"/>
                  </a:lnTo>
                  <a:lnTo>
                    <a:pt x="0" y="3088132"/>
                  </a:lnTo>
                  <a:close/>
                </a:path>
              </a:pathLst>
            </a:custGeom>
            <a:ln w="12700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02457" y="3816858"/>
              <a:ext cx="973836" cy="8884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59657" y="5631942"/>
              <a:ext cx="1085837" cy="738377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779768" y="6023254"/>
            <a:ext cx="3124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"/>
                <a:cs typeface="Segoe UI"/>
              </a:rPr>
              <a:t>Un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processus</a:t>
            </a:r>
            <a:r>
              <a:rPr sz="1800" spc="-8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BPMN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générique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78435" y="5955893"/>
            <a:ext cx="2781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Segoe UI"/>
                <a:cs typeface="Segoe UI"/>
              </a:rPr>
              <a:t>NB</a:t>
            </a:r>
            <a:r>
              <a:rPr sz="1800" i="1" spc="-50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:</a:t>
            </a:r>
            <a:r>
              <a:rPr sz="1800" i="1" spc="-45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Pas</a:t>
            </a:r>
            <a:r>
              <a:rPr sz="1800" i="1" spc="-40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de</a:t>
            </a:r>
            <a:r>
              <a:rPr sz="1800" i="1" spc="-40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couleur</a:t>
            </a:r>
            <a:r>
              <a:rPr sz="1800" i="1" spc="-95" dirty="0">
                <a:latin typeface="Segoe UI"/>
                <a:cs typeface="Segoe UI"/>
              </a:rPr>
              <a:t> </a:t>
            </a:r>
            <a:r>
              <a:rPr sz="1800" i="1" spc="-10" dirty="0">
                <a:latin typeface="Segoe UI"/>
                <a:cs typeface="Segoe UI"/>
              </a:rPr>
              <a:t>imposée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5968" y="698880"/>
            <a:ext cx="12204700" cy="6159500"/>
            <a:chOff x="-5968" y="698880"/>
            <a:chExt cx="12204700" cy="6159500"/>
          </a:xfrm>
        </p:grpSpPr>
        <p:sp>
          <p:nvSpPr>
            <p:cNvPr id="3" name="object 3"/>
            <p:cNvSpPr/>
            <p:nvPr/>
          </p:nvSpPr>
          <p:spPr>
            <a:xfrm>
              <a:off x="381" y="705230"/>
              <a:ext cx="12192000" cy="5652135"/>
            </a:xfrm>
            <a:custGeom>
              <a:avLst/>
              <a:gdLst/>
              <a:ahLst/>
              <a:cxnLst/>
              <a:rect l="l" t="t" r="r" b="b"/>
              <a:pathLst>
                <a:path w="12192000" h="5652135">
                  <a:moveTo>
                    <a:pt x="12191619" y="0"/>
                  </a:moveTo>
                  <a:lnTo>
                    <a:pt x="0" y="0"/>
                  </a:lnTo>
                  <a:lnTo>
                    <a:pt x="0" y="5651754"/>
                  </a:lnTo>
                  <a:lnTo>
                    <a:pt x="12191619" y="5651754"/>
                  </a:lnTo>
                  <a:lnTo>
                    <a:pt x="121916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1" y="705230"/>
              <a:ext cx="12192000" cy="5652135"/>
            </a:xfrm>
            <a:custGeom>
              <a:avLst/>
              <a:gdLst/>
              <a:ahLst/>
              <a:cxnLst/>
              <a:rect l="l" t="t" r="r" b="b"/>
              <a:pathLst>
                <a:path w="12192000" h="5652135">
                  <a:moveTo>
                    <a:pt x="0" y="5651754"/>
                  </a:moveTo>
                  <a:lnTo>
                    <a:pt x="12192000" y="5651754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65175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45083" y="72898"/>
            <a:ext cx="1433195" cy="525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0" dirty="0">
                <a:solidFill>
                  <a:srgbClr val="242424"/>
                </a:solidFill>
                <a:latin typeface="Segoe UI Semibold"/>
                <a:cs typeface="Segoe UI Semibold"/>
              </a:rPr>
              <a:t>Pool</a:t>
            </a:r>
            <a:r>
              <a:rPr sz="1400" spc="-65" dirty="0">
                <a:solidFill>
                  <a:srgbClr val="242424"/>
                </a:solidFill>
                <a:latin typeface="Segoe UI Semibold"/>
                <a:cs typeface="Segoe UI Semibold"/>
              </a:rPr>
              <a:t> </a:t>
            </a:r>
            <a:r>
              <a:rPr sz="1400" dirty="0">
                <a:solidFill>
                  <a:srgbClr val="242424"/>
                </a:solidFill>
                <a:latin typeface="Segoe UI Semibold"/>
                <a:cs typeface="Segoe UI Semibold"/>
              </a:rPr>
              <a:t>&amp;</a:t>
            </a:r>
            <a:r>
              <a:rPr sz="1400" spc="-40" dirty="0">
                <a:solidFill>
                  <a:srgbClr val="242424"/>
                </a:solidFill>
                <a:latin typeface="Segoe UI Semibold"/>
                <a:cs typeface="Segoe UI Semibold"/>
              </a:rPr>
              <a:t> </a:t>
            </a:r>
            <a:r>
              <a:rPr sz="1400" spc="-10" dirty="0">
                <a:solidFill>
                  <a:srgbClr val="242424"/>
                </a:solidFill>
                <a:latin typeface="Segoe UI Semibold"/>
                <a:cs typeface="Segoe UI Semibold"/>
              </a:rPr>
              <a:t>Swimlanes</a:t>
            </a:r>
            <a:endParaRPr sz="14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20" dirty="0">
                <a:solidFill>
                  <a:srgbClr val="FFFFFF"/>
                </a:solidFill>
                <a:latin typeface="Segoe UI Semibold"/>
                <a:cs typeface="Segoe UI Semibold"/>
              </a:rPr>
              <a:t>Pool</a:t>
            </a:r>
            <a:endParaRPr sz="1800">
              <a:latin typeface="Segoe UI Semibold"/>
              <a:cs typeface="Segoe UI Semibol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130" y="630513"/>
            <a:ext cx="11254740" cy="89281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11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Segoe UI"/>
                <a:cs typeface="Segoe UI"/>
              </a:rPr>
              <a:t>La</a:t>
            </a:r>
            <a:r>
              <a:rPr sz="2000" spc="-8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«</a:t>
            </a:r>
            <a:r>
              <a:rPr sz="2000" b="1" spc="-5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Piscine</a:t>
            </a:r>
            <a:r>
              <a:rPr sz="2000" b="1" spc="-9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»</a:t>
            </a:r>
            <a:r>
              <a:rPr sz="2000" b="1" spc="-40" dirty="0">
                <a:latin typeface="Segoe UI"/>
                <a:cs typeface="Segoe UI"/>
              </a:rPr>
              <a:t> </a:t>
            </a:r>
            <a:r>
              <a:rPr sz="2000" b="1" spc="-20" dirty="0">
                <a:latin typeface="Segoe UI"/>
                <a:cs typeface="Segoe UI"/>
              </a:rPr>
              <a:t>(Pool)</a:t>
            </a:r>
            <a:r>
              <a:rPr sz="2000" b="1" spc="-10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représente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le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périmètre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du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processus</a:t>
            </a:r>
            <a:r>
              <a:rPr sz="200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décrit.</a:t>
            </a:r>
            <a:endParaRPr sz="20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1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Segoe UI"/>
                <a:cs typeface="Segoe UI"/>
              </a:rPr>
              <a:t>Elle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peut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être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verticale</a:t>
            </a:r>
            <a:r>
              <a:rPr sz="2000" b="1" spc="-5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(chronologie</a:t>
            </a:r>
            <a:r>
              <a:rPr sz="2000" spc="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du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haut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vers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le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bas)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ou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horizontale</a:t>
            </a:r>
            <a:r>
              <a:rPr sz="2000" b="1" spc="-7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(chronologie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de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gauche</a:t>
            </a:r>
            <a:r>
              <a:rPr sz="2000" spc="-70" dirty="0">
                <a:latin typeface="Segoe UI"/>
                <a:cs typeface="Segoe UI"/>
              </a:rPr>
              <a:t> </a:t>
            </a:r>
            <a:r>
              <a:rPr sz="2000" spc="-50" dirty="0">
                <a:latin typeface="Segoe UI"/>
                <a:cs typeface="Segoe UI"/>
              </a:rPr>
              <a:t>à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130" y="1367840"/>
            <a:ext cx="4521835" cy="89090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100"/>
              </a:spcBef>
            </a:pPr>
            <a:r>
              <a:rPr sz="2000" spc="-10" dirty="0">
                <a:latin typeface="Segoe UI"/>
                <a:cs typeface="Segoe UI"/>
              </a:rPr>
              <a:t>droite).</a:t>
            </a:r>
            <a:endParaRPr sz="20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Segoe UI"/>
                <a:cs typeface="Segoe UI"/>
              </a:rPr>
              <a:t>Elle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porte le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titre</a:t>
            </a:r>
            <a:r>
              <a:rPr sz="2000" b="1" spc="-6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du</a:t>
            </a:r>
            <a:r>
              <a:rPr sz="2000" b="1" spc="-4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processus</a:t>
            </a:r>
            <a:r>
              <a:rPr sz="2000" b="1" spc="-8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décrit.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53373" y="1813179"/>
            <a:ext cx="9216390" cy="4314825"/>
            <a:chOff x="2353373" y="1813179"/>
            <a:chExt cx="9216390" cy="431482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32470" y="1822704"/>
              <a:ext cx="3227831" cy="429539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327644" y="1817941"/>
              <a:ext cx="3237865" cy="4305300"/>
            </a:xfrm>
            <a:custGeom>
              <a:avLst/>
              <a:gdLst/>
              <a:ahLst/>
              <a:cxnLst/>
              <a:rect l="l" t="t" r="r" b="b"/>
              <a:pathLst>
                <a:path w="3237865" h="4305300">
                  <a:moveTo>
                    <a:pt x="0" y="4304919"/>
                  </a:moveTo>
                  <a:lnTo>
                    <a:pt x="3237356" y="4304919"/>
                  </a:lnTo>
                  <a:lnTo>
                    <a:pt x="3237356" y="0"/>
                  </a:lnTo>
                  <a:lnTo>
                    <a:pt x="0" y="0"/>
                  </a:lnTo>
                  <a:lnTo>
                    <a:pt x="0" y="4304919"/>
                  </a:lnTo>
                  <a:close/>
                </a:path>
              </a:pathLst>
            </a:custGeom>
            <a:ln w="9525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2961" y="2891777"/>
              <a:ext cx="4816601" cy="30099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358135" y="2887027"/>
              <a:ext cx="4826635" cy="3019425"/>
            </a:xfrm>
            <a:custGeom>
              <a:avLst/>
              <a:gdLst/>
              <a:ahLst/>
              <a:cxnLst/>
              <a:rect l="l" t="t" r="r" b="b"/>
              <a:pathLst>
                <a:path w="4826634" h="3019425">
                  <a:moveTo>
                    <a:pt x="0" y="3019425"/>
                  </a:moveTo>
                  <a:lnTo>
                    <a:pt x="4826127" y="3019425"/>
                  </a:lnTo>
                  <a:lnTo>
                    <a:pt x="4826127" y="0"/>
                  </a:lnTo>
                  <a:lnTo>
                    <a:pt x="0" y="0"/>
                  </a:lnTo>
                  <a:lnTo>
                    <a:pt x="0" y="3019425"/>
                  </a:lnTo>
                  <a:close/>
                </a:path>
              </a:pathLst>
            </a:custGeom>
            <a:ln w="9525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5968" y="698880"/>
            <a:ext cx="12204700" cy="6159500"/>
            <a:chOff x="-5968" y="698880"/>
            <a:chExt cx="12204700" cy="6159500"/>
          </a:xfrm>
        </p:grpSpPr>
        <p:sp>
          <p:nvSpPr>
            <p:cNvPr id="3" name="object 3"/>
            <p:cNvSpPr/>
            <p:nvPr/>
          </p:nvSpPr>
          <p:spPr>
            <a:xfrm>
              <a:off x="381" y="705230"/>
              <a:ext cx="12192000" cy="5652135"/>
            </a:xfrm>
            <a:custGeom>
              <a:avLst/>
              <a:gdLst/>
              <a:ahLst/>
              <a:cxnLst/>
              <a:rect l="l" t="t" r="r" b="b"/>
              <a:pathLst>
                <a:path w="12192000" h="5652135">
                  <a:moveTo>
                    <a:pt x="12191619" y="0"/>
                  </a:moveTo>
                  <a:lnTo>
                    <a:pt x="0" y="0"/>
                  </a:lnTo>
                  <a:lnTo>
                    <a:pt x="0" y="5651754"/>
                  </a:lnTo>
                  <a:lnTo>
                    <a:pt x="12191619" y="5651754"/>
                  </a:lnTo>
                  <a:lnTo>
                    <a:pt x="121916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1" y="705230"/>
              <a:ext cx="12192000" cy="5652135"/>
            </a:xfrm>
            <a:custGeom>
              <a:avLst/>
              <a:gdLst/>
              <a:ahLst/>
              <a:cxnLst/>
              <a:rect l="l" t="t" r="r" b="b"/>
              <a:pathLst>
                <a:path w="12192000" h="5652135">
                  <a:moveTo>
                    <a:pt x="0" y="5651754"/>
                  </a:moveTo>
                  <a:lnTo>
                    <a:pt x="12192000" y="5651754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65175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8130" y="72898"/>
            <a:ext cx="11764645" cy="3241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0695">
              <a:lnSpc>
                <a:spcPct val="100000"/>
              </a:lnSpc>
              <a:spcBef>
                <a:spcPts val="100"/>
              </a:spcBef>
            </a:pPr>
            <a:r>
              <a:rPr sz="1400" spc="-30" dirty="0">
                <a:solidFill>
                  <a:srgbClr val="242424"/>
                </a:solidFill>
                <a:latin typeface="Segoe UI Semibold"/>
                <a:cs typeface="Segoe UI Semibold"/>
              </a:rPr>
              <a:t>Pool</a:t>
            </a:r>
            <a:r>
              <a:rPr sz="1400" spc="-65" dirty="0">
                <a:solidFill>
                  <a:srgbClr val="242424"/>
                </a:solidFill>
                <a:latin typeface="Segoe UI Semibold"/>
                <a:cs typeface="Segoe UI Semibold"/>
              </a:rPr>
              <a:t> </a:t>
            </a:r>
            <a:r>
              <a:rPr sz="1400" dirty="0">
                <a:solidFill>
                  <a:srgbClr val="242424"/>
                </a:solidFill>
                <a:latin typeface="Segoe UI Semibold"/>
                <a:cs typeface="Segoe UI Semibold"/>
              </a:rPr>
              <a:t>&amp;</a:t>
            </a:r>
            <a:r>
              <a:rPr sz="1400" spc="-40" dirty="0">
                <a:solidFill>
                  <a:srgbClr val="242424"/>
                </a:solidFill>
                <a:latin typeface="Segoe UI Semibold"/>
                <a:cs typeface="Segoe UI Semibold"/>
              </a:rPr>
              <a:t> </a:t>
            </a:r>
            <a:r>
              <a:rPr sz="1400" spc="-10" dirty="0">
                <a:solidFill>
                  <a:srgbClr val="242424"/>
                </a:solidFill>
                <a:latin typeface="Segoe UI Semibold"/>
                <a:cs typeface="Segoe UI Semibold"/>
              </a:rPr>
              <a:t>Swimlanes</a:t>
            </a:r>
            <a:endParaRPr sz="1400">
              <a:latin typeface="Segoe UI Semibold"/>
              <a:cs typeface="Segoe UI Semibold"/>
            </a:endParaRPr>
          </a:p>
          <a:p>
            <a:pPr marL="480695">
              <a:lnSpc>
                <a:spcPct val="100000"/>
              </a:lnSpc>
              <a:spcBef>
                <a:spcPts val="80"/>
              </a:spcBef>
            </a:pPr>
            <a:r>
              <a:rPr sz="1800" spc="-10" dirty="0">
                <a:solidFill>
                  <a:srgbClr val="FFFFFF"/>
                </a:solidFill>
                <a:latin typeface="Segoe UI Semibold"/>
                <a:cs typeface="Segoe UI Semibold"/>
              </a:rPr>
              <a:t>Swimlanes</a:t>
            </a:r>
            <a:endParaRPr sz="1800">
              <a:latin typeface="Segoe UI Semibold"/>
              <a:cs typeface="Segoe UI Semibold"/>
            </a:endParaRPr>
          </a:p>
          <a:p>
            <a:pPr marL="241300" marR="18415" indent="-228600">
              <a:lnSpc>
                <a:spcPct val="140000"/>
              </a:lnSpc>
              <a:spcBef>
                <a:spcPts val="745"/>
              </a:spcBef>
              <a:buFont typeface="Arial MT"/>
              <a:buChar char="•"/>
              <a:tabLst>
                <a:tab pos="241300" algn="l"/>
              </a:tabLst>
            </a:pPr>
            <a:r>
              <a:rPr sz="1900" dirty="0">
                <a:latin typeface="Segoe UI"/>
                <a:cs typeface="Segoe UI"/>
              </a:rPr>
              <a:t>Les</a:t>
            </a:r>
            <a:r>
              <a:rPr sz="1900" spc="-5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«</a:t>
            </a:r>
            <a:r>
              <a:rPr sz="1900" spc="-15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Lignes</a:t>
            </a:r>
            <a:r>
              <a:rPr sz="1900" b="1" spc="-50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de</a:t>
            </a:r>
            <a:r>
              <a:rPr sz="1900" b="1" spc="-50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nage</a:t>
            </a:r>
            <a:r>
              <a:rPr sz="1900" b="1" spc="-50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»</a:t>
            </a:r>
            <a:r>
              <a:rPr sz="1900" b="1" spc="-30" dirty="0">
                <a:latin typeface="Segoe UI"/>
                <a:cs typeface="Segoe UI"/>
              </a:rPr>
              <a:t> </a:t>
            </a:r>
            <a:r>
              <a:rPr sz="1900" b="1" spc="-10" dirty="0">
                <a:latin typeface="Segoe UI"/>
                <a:cs typeface="Segoe UI"/>
              </a:rPr>
              <a:t>(Swimlanes)</a:t>
            </a:r>
            <a:r>
              <a:rPr sz="1900" b="1" spc="-8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sont</a:t>
            </a:r>
            <a:r>
              <a:rPr sz="1900" spc="-4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définies</a:t>
            </a:r>
            <a:r>
              <a:rPr sz="1900" spc="-5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pour</a:t>
            </a:r>
            <a:r>
              <a:rPr sz="1900" spc="-4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un</a:t>
            </a:r>
            <a:r>
              <a:rPr sz="1900" spc="-35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acteur</a:t>
            </a:r>
            <a:r>
              <a:rPr sz="1900" b="1" spc="-65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identifié</a:t>
            </a:r>
            <a:r>
              <a:rPr sz="1900" b="1" spc="-85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par</a:t>
            </a:r>
            <a:r>
              <a:rPr sz="1900" b="1" spc="-45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son</a:t>
            </a:r>
            <a:r>
              <a:rPr sz="1900" b="1" spc="-40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rôle</a:t>
            </a:r>
            <a:r>
              <a:rPr sz="1900" b="1" spc="-7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dans</a:t>
            </a:r>
            <a:r>
              <a:rPr sz="1900" spc="-3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l’</a:t>
            </a:r>
            <a:r>
              <a:rPr sz="1900" b="1" dirty="0">
                <a:latin typeface="Segoe UI"/>
                <a:cs typeface="Segoe UI"/>
              </a:rPr>
              <a:t>entête</a:t>
            </a:r>
            <a:r>
              <a:rPr sz="1900" b="1" spc="-50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de</a:t>
            </a:r>
            <a:r>
              <a:rPr sz="1900" b="1" spc="-50" dirty="0">
                <a:latin typeface="Segoe UI"/>
                <a:cs typeface="Segoe UI"/>
              </a:rPr>
              <a:t> </a:t>
            </a:r>
            <a:r>
              <a:rPr sz="1900" b="1" spc="-25" dirty="0">
                <a:latin typeface="Segoe UI"/>
                <a:cs typeface="Segoe UI"/>
              </a:rPr>
              <a:t>la </a:t>
            </a:r>
            <a:r>
              <a:rPr sz="1900" b="1" spc="-10" dirty="0">
                <a:latin typeface="Segoe UI"/>
                <a:cs typeface="Segoe UI"/>
              </a:rPr>
              <a:t>colonne</a:t>
            </a:r>
            <a:r>
              <a:rPr sz="1900" spc="-10" dirty="0">
                <a:latin typeface="Segoe UI"/>
                <a:cs typeface="Segoe UI"/>
              </a:rPr>
              <a:t>.</a:t>
            </a:r>
            <a:endParaRPr sz="19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2255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dirty="0">
                <a:latin typeface="Segoe UI"/>
                <a:cs typeface="Segoe UI"/>
              </a:rPr>
              <a:t>Dans</a:t>
            </a:r>
            <a:r>
              <a:rPr sz="1900" spc="-7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la</a:t>
            </a:r>
            <a:r>
              <a:rPr sz="1900" spc="-6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ligne</a:t>
            </a:r>
            <a:r>
              <a:rPr sz="1900" spc="-5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de</a:t>
            </a:r>
            <a:r>
              <a:rPr sz="1900" spc="-4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nage</a:t>
            </a:r>
            <a:r>
              <a:rPr sz="1900" spc="-8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de</a:t>
            </a:r>
            <a:r>
              <a:rPr sz="1900" spc="-40" dirty="0">
                <a:latin typeface="Segoe UI"/>
                <a:cs typeface="Segoe UI"/>
              </a:rPr>
              <a:t> </a:t>
            </a:r>
            <a:r>
              <a:rPr sz="1900" spc="-30" dirty="0">
                <a:latin typeface="Segoe UI"/>
                <a:cs typeface="Segoe UI"/>
              </a:rPr>
              <a:t>l’acteur</a:t>
            </a:r>
            <a:r>
              <a:rPr sz="1900" spc="-35" dirty="0">
                <a:latin typeface="Segoe UI"/>
                <a:cs typeface="Segoe UI"/>
              </a:rPr>
              <a:t> </a:t>
            </a:r>
            <a:r>
              <a:rPr sz="1900" spc="-10" dirty="0">
                <a:latin typeface="Segoe UI"/>
                <a:cs typeface="Segoe UI"/>
              </a:rPr>
              <a:t>figureront </a:t>
            </a:r>
            <a:r>
              <a:rPr sz="1900" dirty="0">
                <a:latin typeface="Segoe UI"/>
                <a:cs typeface="Segoe UI"/>
              </a:rPr>
              <a:t>toutes</a:t>
            </a:r>
            <a:r>
              <a:rPr sz="1900" spc="-6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les</a:t>
            </a:r>
            <a:r>
              <a:rPr sz="1900" spc="-85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actions</a:t>
            </a:r>
            <a:r>
              <a:rPr sz="1900" b="1" spc="-8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qu’il</a:t>
            </a:r>
            <a:r>
              <a:rPr sz="1900" spc="-45" dirty="0">
                <a:latin typeface="Segoe UI"/>
                <a:cs typeface="Segoe UI"/>
              </a:rPr>
              <a:t> </a:t>
            </a:r>
            <a:r>
              <a:rPr sz="1900" spc="-10" dirty="0">
                <a:latin typeface="Segoe UI"/>
                <a:cs typeface="Segoe UI"/>
              </a:rPr>
              <a:t>réalisera.</a:t>
            </a:r>
            <a:endParaRPr sz="1900">
              <a:latin typeface="Segoe UI"/>
              <a:cs typeface="Segoe UI"/>
            </a:endParaRPr>
          </a:p>
          <a:p>
            <a:pPr marL="12700" marR="5080">
              <a:lnSpc>
                <a:spcPct val="140000"/>
              </a:lnSpc>
              <a:spcBef>
                <a:spcPts val="665"/>
              </a:spcBef>
            </a:pPr>
            <a:r>
              <a:rPr sz="1800" b="1" i="1" dirty="0">
                <a:latin typeface="Segoe UI"/>
                <a:cs typeface="Segoe UI"/>
              </a:rPr>
              <a:t>NB</a:t>
            </a:r>
            <a:r>
              <a:rPr sz="1800" b="1" i="1" spc="-40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:</a:t>
            </a:r>
            <a:r>
              <a:rPr sz="1800" i="1" spc="-10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La</a:t>
            </a:r>
            <a:r>
              <a:rPr sz="1800" i="1" spc="-15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portée</a:t>
            </a:r>
            <a:r>
              <a:rPr sz="1800" i="1" spc="-10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du</a:t>
            </a:r>
            <a:r>
              <a:rPr sz="1800" i="1" spc="-20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titre</a:t>
            </a:r>
            <a:r>
              <a:rPr sz="1800" i="1" spc="-15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de</a:t>
            </a:r>
            <a:r>
              <a:rPr sz="1800" i="1" spc="-15" dirty="0">
                <a:latin typeface="Segoe UI"/>
                <a:cs typeface="Segoe UI"/>
              </a:rPr>
              <a:t> </a:t>
            </a:r>
            <a:r>
              <a:rPr sz="1800" i="1" spc="-40" dirty="0">
                <a:latin typeface="Segoe UI"/>
                <a:cs typeface="Segoe UI"/>
              </a:rPr>
              <a:t>l’entête </a:t>
            </a:r>
            <a:r>
              <a:rPr sz="1800" i="1" dirty="0">
                <a:latin typeface="Segoe UI"/>
                <a:cs typeface="Segoe UI"/>
              </a:rPr>
              <a:t>est</a:t>
            </a:r>
            <a:r>
              <a:rPr sz="1800" i="1" spc="-10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générique.</a:t>
            </a:r>
            <a:r>
              <a:rPr sz="1800" i="1" spc="-45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Dans</a:t>
            </a:r>
            <a:r>
              <a:rPr sz="1800" i="1" spc="-45" dirty="0">
                <a:latin typeface="Segoe UI"/>
                <a:cs typeface="Segoe UI"/>
              </a:rPr>
              <a:t> </a:t>
            </a:r>
            <a:r>
              <a:rPr sz="1800" i="1" spc="-35" dirty="0">
                <a:latin typeface="Segoe UI"/>
                <a:cs typeface="Segoe UI"/>
              </a:rPr>
              <a:t>l’exemple</a:t>
            </a:r>
            <a:r>
              <a:rPr sz="1800" i="1" spc="-15" dirty="0">
                <a:latin typeface="Segoe UI"/>
                <a:cs typeface="Segoe UI"/>
              </a:rPr>
              <a:t> </a:t>
            </a:r>
            <a:r>
              <a:rPr sz="1800" i="1" spc="-10" dirty="0">
                <a:latin typeface="Segoe UI"/>
                <a:cs typeface="Segoe UI"/>
              </a:rPr>
              <a:t>ci-</a:t>
            </a:r>
            <a:r>
              <a:rPr sz="1800" i="1" dirty="0">
                <a:latin typeface="Segoe UI"/>
                <a:cs typeface="Segoe UI"/>
              </a:rPr>
              <a:t>dessous,</a:t>
            </a:r>
            <a:r>
              <a:rPr sz="1800" i="1" spc="-60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«</a:t>
            </a:r>
            <a:r>
              <a:rPr sz="1800" i="1" spc="-40" dirty="0">
                <a:latin typeface="Segoe UI"/>
                <a:cs typeface="Segoe UI"/>
              </a:rPr>
              <a:t> </a:t>
            </a:r>
            <a:r>
              <a:rPr sz="1800" i="1" spc="-55" dirty="0">
                <a:latin typeface="Segoe UI"/>
                <a:cs typeface="Segoe UI"/>
              </a:rPr>
              <a:t>Testeur</a:t>
            </a:r>
            <a:r>
              <a:rPr sz="1800" i="1" spc="-5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»</a:t>
            </a:r>
            <a:r>
              <a:rPr sz="1800" i="1" spc="-15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est</a:t>
            </a:r>
            <a:r>
              <a:rPr sz="1800" i="1" spc="-20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un</a:t>
            </a:r>
            <a:r>
              <a:rPr sz="1800" i="1" spc="-30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rôle,</a:t>
            </a:r>
            <a:r>
              <a:rPr sz="1800" i="1" spc="-70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et</a:t>
            </a:r>
            <a:r>
              <a:rPr sz="1800" i="1" spc="-20" dirty="0">
                <a:latin typeface="Segoe UI"/>
                <a:cs typeface="Segoe UI"/>
              </a:rPr>
              <a:t> </a:t>
            </a:r>
            <a:r>
              <a:rPr sz="1800" i="1" spc="-25" dirty="0">
                <a:latin typeface="Segoe UI"/>
                <a:cs typeface="Segoe UI"/>
              </a:rPr>
              <a:t>s’applique</a:t>
            </a:r>
            <a:r>
              <a:rPr sz="1800" i="1" spc="-80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à</a:t>
            </a:r>
            <a:r>
              <a:rPr sz="1800" i="1" spc="-10" dirty="0">
                <a:latin typeface="Segoe UI"/>
                <a:cs typeface="Segoe UI"/>
              </a:rPr>
              <a:t> chaque </a:t>
            </a:r>
            <a:r>
              <a:rPr sz="1800" i="1" spc="-35" dirty="0">
                <a:latin typeface="Segoe UI"/>
                <a:cs typeface="Segoe UI"/>
              </a:rPr>
              <a:t>testeur.</a:t>
            </a:r>
            <a:r>
              <a:rPr sz="1800" i="1" spc="-45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«</a:t>
            </a:r>
            <a:r>
              <a:rPr sz="1800" i="1" spc="-25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MOA</a:t>
            </a:r>
            <a:r>
              <a:rPr sz="1800" i="1" spc="-5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»</a:t>
            </a:r>
            <a:r>
              <a:rPr sz="1800" i="1" spc="-30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désigne</a:t>
            </a:r>
            <a:r>
              <a:rPr sz="1800" i="1" spc="-70" dirty="0">
                <a:latin typeface="Segoe UI"/>
                <a:cs typeface="Segoe UI"/>
              </a:rPr>
              <a:t> </a:t>
            </a:r>
            <a:r>
              <a:rPr sz="1800" i="1" spc="-40" dirty="0">
                <a:latin typeface="Segoe UI"/>
                <a:cs typeface="Segoe UI"/>
              </a:rPr>
              <a:t>l’ensemble</a:t>
            </a:r>
            <a:r>
              <a:rPr sz="1800" i="1" spc="-35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de</a:t>
            </a:r>
            <a:r>
              <a:rPr sz="1800" i="1" spc="-35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l’équipe</a:t>
            </a:r>
            <a:r>
              <a:rPr sz="1800" i="1" spc="-70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MOA,</a:t>
            </a:r>
            <a:r>
              <a:rPr sz="1800" i="1" spc="-5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sans</a:t>
            </a:r>
            <a:r>
              <a:rPr sz="1800" i="1" spc="-50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distinguer</a:t>
            </a:r>
            <a:r>
              <a:rPr sz="1800" i="1" spc="-55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entre</a:t>
            </a:r>
            <a:r>
              <a:rPr sz="1800" i="1" spc="-60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le</a:t>
            </a:r>
            <a:r>
              <a:rPr sz="1800" i="1" spc="-30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CP</a:t>
            </a:r>
            <a:r>
              <a:rPr sz="1800" i="1" spc="-30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MOA</a:t>
            </a:r>
            <a:r>
              <a:rPr sz="1800" i="1" spc="-20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et</a:t>
            </a:r>
            <a:r>
              <a:rPr sz="1800" i="1" spc="-15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les</a:t>
            </a:r>
            <a:r>
              <a:rPr sz="1800" i="1" spc="-50" dirty="0">
                <a:latin typeface="Segoe UI"/>
                <a:cs typeface="Segoe UI"/>
              </a:rPr>
              <a:t> </a:t>
            </a:r>
            <a:r>
              <a:rPr sz="1800" i="1" spc="-20" dirty="0">
                <a:latin typeface="Segoe UI"/>
                <a:cs typeface="Segoe UI"/>
              </a:rPr>
              <a:t>AMO.</a:t>
            </a:r>
            <a:r>
              <a:rPr sz="1800" i="1" spc="-30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Lorsque</a:t>
            </a:r>
            <a:r>
              <a:rPr sz="1800" i="1" spc="-15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le</a:t>
            </a:r>
            <a:r>
              <a:rPr sz="1800" i="1" spc="-45" dirty="0">
                <a:latin typeface="Segoe UI"/>
                <a:cs typeface="Segoe UI"/>
              </a:rPr>
              <a:t> </a:t>
            </a:r>
            <a:r>
              <a:rPr sz="1800" i="1" spc="-10" dirty="0">
                <a:latin typeface="Segoe UI"/>
                <a:cs typeface="Segoe UI"/>
              </a:rPr>
              <a:t>processus nécessite</a:t>
            </a:r>
            <a:r>
              <a:rPr sz="1800" i="1" spc="-50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de</a:t>
            </a:r>
            <a:r>
              <a:rPr sz="1800" i="1" spc="-25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distinguer</a:t>
            </a:r>
            <a:r>
              <a:rPr sz="1800" i="1" spc="-75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plus</a:t>
            </a:r>
            <a:r>
              <a:rPr sz="1800" i="1" spc="-50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finement</a:t>
            </a:r>
            <a:r>
              <a:rPr sz="1800" i="1" spc="-55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les</a:t>
            </a:r>
            <a:r>
              <a:rPr sz="1800" i="1" spc="-40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rôles,</a:t>
            </a:r>
            <a:r>
              <a:rPr sz="1800" i="1" spc="-60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il</a:t>
            </a:r>
            <a:r>
              <a:rPr sz="1800" i="1" spc="-35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faudra</a:t>
            </a:r>
            <a:r>
              <a:rPr sz="1800" i="1" spc="-65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rajouter</a:t>
            </a:r>
            <a:r>
              <a:rPr sz="1800" i="1" spc="-55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des</a:t>
            </a:r>
            <a:r>
              <a:rPr sz="1800" i="1" spc="-30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lignes</a:t>
            </a:r>
            <a:r>
              <a:rPr sz="1800" i="1" spc="-60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de</a:t>
            </a:r>
            <a:r>
              <a:rPr sz="1800" i="1" spc="-25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nage</a:t>
            </a:r>
            <a:r>
              <a:rPr sz="1800" i="1" spc="-15" dirty="0">
                <a:latin typeface="Segoe UI"/>
                <a:cs typeface="Segoe UI"/>
              </a:rPr>
              <a:t> </a:t>
            </a:r>
            <a:r>
              <a:rPr sz="1800" i="1" spc="-10" dirty="0">
                <a:latin typeface="Segoe UI"/>
                <a:cs typeface="Segoe UI"/>
              </a:rPr>
              <a:t>spécifiques.</a:t>
            </a:r>
            <a:endParaRPr sz="1800">
              <a:latin typeface="Segoe UI"/>
              <a:cs typeface="Segoe U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8100" y="3429000"/>
            <a:ext cx="4605528" cy="294208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72898"/>
            <a:ext cx="14331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0" dirty="0">
                <a:solidFill>
                  <a:srgbClr val="242424"/>
                </a:solidFill>
                <a:latin typeface="Segoe UI Semibold"/>
                <a:cs typeface="Segoe UI Semibold"/>
              </a:rPr>
              <a:t>Pool</a:t>
            </a:r>
            <a:r>
              <a:rPr sz="1400" spc="-65" dirty="0">
                <a:solidFill>
                  <a:srgbClr val="242424"/>
                </a:solidFill>
                <a:latin typeface="Segoe UI Semibold"/>
                <a:cs typeface="Segoe UI Semibold"/>
              </a:rPr>
              <a:t> </a:t>
            </a:r>
            <a:r>
              <a:rPr sz="1400" dirty="0">
                <a:solidFill>
                  <a:srgbClr val="242424"/>
                </a:solidFill>
                <a:latin typeface="Segoe UI Semibold"/>
                <a:cs typeface="Segoe UI Semibold"/>
              </a:rPr>
              <a:t>&amp;</a:t>
            </a:r>
            <a:r>
              <a:rPr sz="1400" spc="-40" dirty="0">
                <a:solidFill>
                  <a:srgbClr val="242424"/>
                </a:solidFill>
                <a:latin typeface="Segoe UI Semibold"/>
                <a:cs typeface="Segoe UI Semibold"/>
              </a:rPr>
              <a:t> </a:t>
            </a:r>
            <a:r>
              <a:rPr sz="1400" spc="-10" dirty="0">
                <a:solidFill>
                  <a:srgbClr val="242424"/>
                </a:solidFill>
                <a:latin typeface="Segoe UI Semibold"/>
                <a:cs typeface="Segoe UI Semibold"/>
              </a:rPr>
              <a:t>Swimlanes</a:t>
            </a:r>
            <a:endParaRPr sz="1400">
              <a:latin typeface="Segoe UI Semibold"/>
              <a:cs typeface="Segoe UI Semibold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5083" y="297941"/>
            <a:ext cx="2804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/>
              <a:t>Modifications</a:t>
            </a:r>
            <a:r>
              <a:rPr sz="1800" spc="-35" dirty="0"/>
              <a:t> </a:t>
            </a:r>
            <a:r>
              <a:rPr sz="1800" dirty="0"/>
              <a:t>avec</a:t>
            </a:r>
            <a:r>
              <a:rPr sz="1800" spc="-65" dirty="0"/>
              <a:t> </a:t>
            </a:r>
            <a:r>
              <a:rPr sz="1800" spc="-10" dirty="0"/>
              <a:t>Draw.io</a:t>
            </a:r>
            <a:endParaRPr sz="1800"/>
          </a:p>
        </p:txBody>
      </p:sp>
      <p:sp>
        <p:nvSpPr>
          <p:cNvPr id="4" name="object 4"/>
          <p:cNvSpPr txBox="1"/>
          <p:nvPr/>
        </p:nvSpPr>
        <p:spPr>
          <a:xfrm>
            <a:off x="78130" y="551906"/>
            <a:ext cx="11395075" cy="217932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90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latin typeface="Segoe UI"/>
                <a:cs typeface="Segoe UI"/>
              </a:rPr>
              <a:t>Si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le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logiciel</a:t>
            </a:r>
            <a:r>
              <a:rPr sz="1800" spc="-15" dirty="0">
                <a:latin typeface="Segoe UI"/>
                <a:cs typeface="Segoe UI"/>
              </a:rPr>
              <a:t> </a:t>
            </a:r>
            <a:r>
              <a:rPr sz="1800" b="1" spc="-20" dirty="0">
                <a:latin typeface="Segoe UI"/>
                <a:cs typeface="Segoe UI"/>
              </a:rPr>
              <a:t>Draw.io</a:t>
            </a:r>
            <a:r>
              <a:rPr sz="1800" b="1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est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simple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à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spc="-40" dirty="0">
                <a:latin typeface="Segoe UI"/>
                <a:cs typeface="Segoe UI"/>
              </a:rPr>
              <a:t>utiliser,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il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peut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parfois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présenter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quelques</a:t>
            </a:r>
            <a:r>
              <a:rPr sz="1800" spc="-8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difficultés</a:t>
            </a:r>
            <a:r>
              <a:rPr sz="1800" spc="-9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de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manipulation.</a:t>
            </a:r>
            <a:endParaRPr sz="18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latin typeface="Segoe UI"/>
                <a:cs typeface="Segoe UI"/>
              </a:rPr>
              <a:t>La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combinaison</a:t>
            </a:r>
            <a:r>
              <a:rPr sz="1800" spc="-8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de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touches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b="1" spc="-10" dirty="0">
                <a:latin typeface="Segoe UI"/>
                <a:cs typeface="Segoe UI"/>
              </a:rPr>
              <a:t>Ctrl-</a:t>
            </a:r>
            <a:r>
              <a:rPr sz="1800" b="1" dirty="0">
                <a:latin typeface="Segoe UI"/>
                <a:cs typeface="Segoe UI"/>
              </a:rPr>
              <a:t>Z</a:t>
            </a:r>
            <a:r>
              <a:rPr sz="1800" b="1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permet</a:t>
            </a:r>
            <a:r>
              <a:rPr sz="1800" spc="-10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toutefois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d’</a:t>
            </a:r>
            <a:r>
              <a:rPr sz="1800" b="1" dirty="0">
                <a:latin typeface="Segoe UI"/>
                <a:cs typeface="Segoe UI"/>
              </a:rPr>
              <a:t>annuler</a:t>
            </a:r>
            <a:r>
              <a:rPr sz="1800" b="1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les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manipulations</a:t>
            </a:r>
            <a:r>
              <a:rPr sz="1800" spc="-80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malheureuses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spc="-50" dirty="0">
                <a:latin typeface="Segoe UI"/>
                <a:cs typeface="Segoe UI"/>
              </a:rPr>
              <a:t>!</a:t>
            </a:r>
            <a:endParaRPr sz="1800">
              <a:latin typeface="Segoe UI"/>
              <a:cs typeface="Segoe UI"/>
            </a:endParaRPr>
          </a:p>
          <a:p>
            <a:pPr marL="241300" marR="5080" indent="-228600">
              <a:lnSpc>
                <a:spcPct val="10000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Segoe UI"/>
                <a:cs typeface="Segoe UI"/>
              </a:rPr>
              <a:t>Un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peu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spc="-40" dirty="0">
                <a:latin typeface="Segoe UI"/>
                <a:cs typeface="Segoe UI"/>
              </a:rPr>
              <a:t>d’exercice</a:t>
            </a:r>
            <a:r>
              <a:rPr sz="1800" spc="-1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pourra</a:t>
            </a:r>
            <a:r>
              <a:rPr sz="1800" spc="-8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être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nécessaire</a:t>
            </a:r>
            <a:r>
              <a:rPr sz="1800" spc="-8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pour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bien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comprendre</a:t>
            </a:r>
            <a:r>
              <a:rPr sz="1800" spc="-1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sur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quelle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couche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de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spc="-45" dirty="0">
                <a:latin typeface="Segoe UI"/>
                <a:cs typeface="Segoe UI"/>
              </a:rPr>
              <a:t>l’objet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votre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sélection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vous </a:t>
            </a:r>
            <a:r>
              <a:rPr sz="1800" dirty="0">
                <a:latin typeface="Segoe UI"/>
                <a:cs typeface="Segoe UI"/>
              </a:rPr>
              <a:t>permettra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spc="-35" dirty="0">
                <a:latin typeface="Segoe UI"/>
                <a:cs typeface="Segoe UI"/>
              </a:rPr>
              <a:t>d’agir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(position,</a:t>
            </a:r>
            <a:r>
              <a:rPr sz="1800" spc="-8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forme,</a:t>
            </a:r>
            <a:r>
              <a:rPr sz="1800" spc="-9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libellé)</a:t>
            </a:r>
            <a:endParaRPr sz="18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b="1" spc="-10" dirty="0">
                <a:latin typeface="Segoe UI"/>
                <a:cs typeface="Segoe UI"/>
              </a:rPr>
              <a:t>N’hésitez</a:t>
            </a:r>
            <a:r>
              <a:rPr sz="1800" b="1" spc="-60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pas</a:t>
            </a:r>
            <a:r>
              <a:rPr sz="1800" b="1" spc="-60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à</a:t>
            </a:r>
            <a:r>
              <a:rPr sz="1800" b="1" spc="-15" dirty="0">
                <a:latin typeface="Segoe UI"/>
                <a:cs typeface="Segoe UI"/>
              </a:rPr>
              <a:t> </a:t>
            </a:r>
            <a:r>
              <a:rPr sz="1800" b="1" spc="-45" dirty="0">
                <a:latin typeface="Segoe UI"/>
                <a:cs typeface="Segoe UI"/>
              </a:rPr>
              <a:t>zoomer,</a:t>
            </a:r>
            <a:r>
              <a:rPr sz="1800" b="1" spc="-55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même</a:t>
            </a:r>
            <a:r>
              <a:rPr sz="1800" b="1" spc="-15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à</a:t>
            </a:r>
            <a:r>
              <a:rPr sz="1800" b="1" spc="-25" dirty="0">
                <a:latin typeface="Segoe UI"/>
                <a:cs typeface="Segoe UI"/>
              </a:rPr>
              <a:t> </a:t>
            </a:r>
            <a:r>
              <a:rPr sz="1800" b="1" spc="-55" dirty="0">
                <a:latin typeface="Segoe UI"/>
                <a:cs typeface="Segoe UI"/>
              </a:rPr>
              <a:t>l’excès</a:t>
            </a:r>
            <a:r>
              <a:rPr sz="1800" b="1" spc="-10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pour</a:t>
            </a:r>
            <a:r>
              <a:rPr sz="1800" b="1" spc="-55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des</a:t>
            </a:r>
            <a:r>
              <a:rPr sz="1800" b="1" spc="-40" dirty="0">
                <a:latin typeface="Segoe UI"/>
                <a:cs typeface="Segoe UI"/>
              </a:rPr>
              <a:t> </a:t>
            </a:r>
            <a:r>
              <a:rPr sz="1800" b="1" spc="-10" dirty="0">
                <a:latin typeface="Segoe UI"/>
                <a:cs typeface="Segoe UI"/>
              </a:rPr>
              <a:t>manipulations</a:t>
            </a:r>
            <a:r>
              <a:rPr sz="1800" b="1" spc="-80" dirty="0">
                <a:latin typeface="Segoe UI"/>
                <a:cs typeface="Segoe UI"/>
              </a:rPr>
              <a:t> </a:t>
            </a:r>
            <a:r>
              <a:rPr sz="1800" b="1" spc="-10" dirty="0">
                <a:latin typeface="Segoe UI"/>
                <a:cs typeface="Segoe UI"/>
              </a:rPr>
              <a:t>fines</a:t>
            </a:r>
            <a:endParaRPr sz="1800">
              <a:latin typeface="Segoe UI"/>
              <a:cs typeface="Segoe UI"/>
            </a:endParaRPr>
          </a:p>
          <a:p>
            <a:pPr marL="241300">
              <a:lnSpc>
                <a:spcPct val="100000"/>
              </a:lnSpc>
            </a:pPr>
            <a:r>
              <a:rPr sz="1800" dirty="0">
                <a:latin typeface="Segoe UI"/>
                <a:cs typeface="Segoe UI"/>
              </a:rPr>
              <a:t>(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Ctrl+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/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Ctrl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–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ou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Ctrl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et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roulette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souris,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ou</a:t>
            </a:r>
            <a:r>
              <a:rPr sz="1800" spc="-9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encore,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dans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le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menu</a:t>
            </a:r>
            <a:r>
              <a:rPr sz="1800" spc="-8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principal,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le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niveau</a:t>
            </a:r>
            <a:r>
              <a:rPr sz="1800" b="1" spc="-35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de</a:t>
            </a:r>
            <a:r>
              <a:rPr sz="1800" b="1" spc="-15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zoom</a:t>
            </a:r>
            <a:r>
              <a:rPr sz="1800" b="1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ou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la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b="1" spc="-10" dirty="0">
                <a:latin typeface="Segoe UI"/>
                <a:cs typeface="Segoe UI"/>
              </a:rPr>
              <a:t>loupe</a:t>
            </a:r>
            <a:r>
              <a:rPr sz="1800" spc="-10" dirty="0">
                <a:latin typeface="Segoe UI"/>
                <a:cs typeface="Segoe UI"/>
              </a:rPr>
              <a:t>).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48131" y="2687764"/>
            <a:ext cx="11568430" cy="1781175"/>
            <a:chOff x="548131" y="2687764"/>
            <a:chExt cx="11568430" cy="17811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10700" y="2910077"/>
              <a:ext cx="2695955" cy="96240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405874" y="2905251"/>
              <a:ext cx="2705735" cy="972185"/>
            </a:xfrm>
            <a:custGeom>
              <a:avLst/>
              <a:gdLst/>
              <a:ahLst/>
              <a:cxnLst/>
              <a:rect l="l" t="t" r="r" b="b"/>
              <a:pathLst>
                <a:path w="2705734" h="972185">
                  <a:moveTo>
                    <a:pt x="0" y="971931"/>
                  </a:moveTo>
                  <a:lnTo>
                    <a:pt x="2705480" y="971931"/>
                  </a:lnTo>
                  <a:lnTo>
                    <a:pt x="2705480" y="0"/>
                  </a:lnTo>
                  <a:lnTo>
                    <a:pt x="0" y="0"/>
                  </a:lnTo>
                  <a:lnTo>
                    <a:pt x="0" y="971931"/>
                  </a:lnTo>
                  <a:close/>
                </a:path>
              </a:pathLst>
            </a:custGeom>
            <a:ln w="9525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885681" y="2702051"/>
              <a:ext cx="1200150" cy="819785"/>
            </a:xfrm>
            <a:custGeom>
              <a:avLst/>
              <a:gdLst/>
              <a:ahLst/>
              <a:cxnLst/>
              <a:rect l="l" t="t" r="r" b="b"/>
              <a:pathLst>
                <a:path w="1200150" h="819785">
                  <a:moveTo>
                    <a:pt x="0" y="0"/>
                  </a:moveTo>
                  <a:lnTo>
                    <a:pt x="1199642" y="819276"/>
                  </a:lnTo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049255" y="3477894"/>
              <a:ext cx="95250" cy="83820"/>
            </a:xfrm>
            <a:custGeom>
              <a:avLst/>
              <a:gdLst/>
              <a:ahLst/>
              <a:cxnLst/>
              <a:rect l="l" t="t" r="r" b="b"/>
              <a:pathLst>
                <a:path w="95250" h="83820">
                  <a:moveTo>
                    <a:pt x="48387" y="0"/>
                  </a:moveTo>
                  <a:lnTo>
                    <a:pt x="0" y="70738"/>
                  </a:lnTo>
                  <a:lnTo>
                    <a:pt x="94996" y="83692"/>
                  </a:lnTo>
                  <a:lnTo>
                    <a:pt x="4838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520934" y="2750057"/>
              <a:ext cx="426720" cy="757555"/>
            </a:xfrm>
            <a:custGeom>
              <a:avLst/>
              <a:gdLst/>
              <a:ahLst/>
              <a:cxnLst/>
              <a:rect l="l" t="t" r="r" b="b"/>
              <a:pathLst>
                <a:path w="426720" h="757554">
                  <a:moveTo>
                    <a:pt x="0" y="0"/>
                  </a:moveTo>
                  <a:lnTo>
                    <a:pt x="426593" y="757554"/>
                  </a:lnTo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03076" y="3474084"/>
              <a:ext cx="80010" cy="95885"/>
            </a:xfrm>
            <a:custGeom>
              <a:avLst/>
              <a:gdLst/>
              <a:ahLst/>
              <a:cxnLst/>
              <a:rect l="l" t="t" r="r" b="b"/>
              <a:pathLst>
                <a:path w="80009" h="95885">
                  <a:moveTo>
                    <a:pt x="74802" y="0"/>
                  </a:moveTo>
                  <a:lnTo>
                    <a:pt x="0" y="42163"/>
                  </a:lnTo>
                  <a:lnTo>
                    <a:pt x="79501" y="95757"/>
                  </a:lnTo>
                  <a:lnTo>
                    <a:pt x="7480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0831" y="3179825"/>
              <a:ext cx="2228850" cy="127635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54481" y="3173475"/>
              <a:ext cx="2241550" cy="1289050"/>
            </a:xfrm>
            <a:custGeom>
              <a:avLst/>
              <a:gdLst/>
              <a:ahLst/>
              <a:cxnLst/>
              <a:rect l="l" t="t" r="r" b="b"/>
              <a:pathLst>
                <a:path w="2241550" h="1289050">
                  <a:moveTo>
                    <a:pt x="0" y="1289050"/>
                  </a:moveTo>
                  <a:lnTo>
                    <a:pt x="2241550" y="1289050"/>
                  </a:lnTo>
                  <a:lnTo>
                    <a:pt x="2241550" y="0"/>
                  </a:lnTo>
                  <a:lnTo>
                    <a:pt x="0" y="0"/>
                  </a:lnTo>
                  <a:lnTo>
                    <a:pt x="0" y="1289050"/>
                  </a:lnTo>
                  <a:close/>
                </a:path>
              </a:pathLst>
            </a:custGeom>
            <a:ln w="12700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55675" y="4562347"/>
            <a:ext cx="16395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Segoe UI"/>
                <a:cs typeface="Segoe UI"/>
              </a:rPr>
              <a:t>Forme</a:t>
            </a:r>
            <a:r>
              <a:rPr sz="1200" b="1" spc="-45" dirty="0">
                <a:latin typeface="Segoe UI"/>
                <a:cs typeface="Segoe UI"/>
              </a:rPr>
              <a:t> </a:t>
            </a:r>
            <a:r>
              <a:rPr sz="1200" b="1" spc="-10" dirty="0">
                <a:latin typeface="Segoe UI"/>
                <a:cs typeface="Segoe UI"/>
              </a:rPr>
              <a:t>sélectionnée</a:t>
            </a:r>
            <a:endParaRPr sz="12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</a:pPr>
            <a:r>
              <a:rPr sz="1200" dirty="0">
                <a:latin typeface="Segoe UI"/>
                <a:cs typeface="Segoe UI"/>
              </a:rPr>
              <a:t>-</a:t>
            </a:r>
            <a:r>
              <a:rPr sz="1200" spc="-1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déplaçable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à</a:t>
            </a:r>
            <a:r>
              <a:rPr sz="1200" spc="-2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la</a:t>
            </a:r>
            <a:r>
              <a:rPr sz="1200" spc="-1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souris</a:t>
            </a:r>
            <a:r>
              <a:rPr sz="1200" spc="-40" dirty="0">
                <a:latin typeface="Segoe UI"/>
                <a:cs typeface="Segoe UI"/>
              </a:rPr>
              <a:t> </a:t>
            </a:r>
            <a:r>
              <a:rPr sz="1200" spc="-60" dirty="0">
                <a:latin typeface="Segoe UI"/>
                <a:cs typeface="Segoe UI"/>
              </a:rPr>
              <a:t>-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198431" y="3180143"/>
            <a:ext cx="2334260" cy="1285875"/>
            <a:chOff x="3198431" y="3180143"/>
            <a:chExt cx="2334260" cy="1285875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08020" y="3189744"/>
              <a:ext cx="2314956" cy="126643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203194" y="3184905"/>
              <a:ext cx="2324735" cy="1276350"/>
            </a:xfrm>
            <a:custGeom>
              <a:avLst/>
              <a:gdLst/>
              <a:ahLst/>
              <a:cxnLst/>
              <a:rect l="l" t="t" r="r" b="b"/>
              <a:pathLst>
                <a:path w="2324735" h="1276350">
                  <a:moveTo>
                    <a:pt x="0" y="1275969"/>
                  </a:moveTo>
                  <a:lnTo>
                    <a:pt x="2324481" y="1275969"/>
                  </a:lnTo>
                  <a:lnTo>
                    <a:pt x="2324481" y="0"/>
                  </a:lnTo>
                  <a:lnTo>
                    <a:pt x="0" y="0"/>
                  </a:lnTo>
                  <a:lnTo>
                    <a:pt x="0" y="1275969"/>
                  </a:lnTo>
                  <a:close/>
                </a:path>
              </a:pathLst>
            </a:custGeom>
            <a:ln w="9525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426714" y="4562347"/>
            <a:ext cx="187896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Segoe UI"/>
                <a:cs typeface="Segoe UI"/>
              </a:rPr>
              <a:t>Poignée</a:t>
            </a:r>
            <a:r>
              <a:rPr sz="1200" b="1" spc="-15" dirty="0">
                <a:latin typeface="Segoe UI"/>
                <a:cs typeface="Segoe UI"/>
              </a:rPr>
              <a:t> </a:t>
            </a:r>
            <a:r>
              <a:rPr sz="1200" b="1" spc="-10" dirty="0">
                <a:latin typeface="Segoe UI"/>
                <a:cs typeface="Segoe UI"/>
              </a:rPr>
              <a:t>sélectionnée</a:t>
            </a:r>
            <a:endParaRPr sz="12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</a:pPr>
            <a:r>
              <a:rPr sz="1200" dirty="0">
                <a:latin typeface="Segoe UI"/>
                <a:cs typeface="Segoe UI"/>
              </a:rPr>
              <a:t>-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Redimensionner</a:t>
            </a:r>
            <a:r>
              <a:rPr sz="1200" spc="-9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la</a:t>
            </a:r>
            <a:r>
              <a:rPr sz="1200" spc="-20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forme</a:t>
            </a:r>
            <a:r>
              <a:rPr sz="1200" spc="-75" dirty="0">
                <a:latin typeface="Segoe UI"/>
                <a:cs typeface="Segoe UI"/>
              </a:rPr>
              <a:t> </a:t>
            </a:r>
            <a:r>
              <a:rPr sz="1200" spc="-50" dirty="0">
                <a:latin typeface="Segoe UI"/>
                <a:cs typeface="Segoe UI"/>
              </a:rPr>
              <a:t>-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20777" y="4957190"/>
            <a:ext cx="6040120" cy="1390650"/>
            <a:chOff x="120777" y="4957190"/>
            <a:chExt cx="6040120" cy="1390650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0302" y="4966703"/>
              <a:ext cx="6020562" cy="13716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25539" y="4961953"/>
              <a:ext cx="6030595" cy="1381125"/>
            </a:xfrm>
            <a:custGeom>
              <a:avLst/>
              <a:gdLst/>
              <a:ahLst/>
              <a:cxnLst/>
              <a:rect l="l" t="t" r="r" b="b"/>
              <a:pathLst>
                <a:path w="6030595" h="1381125">
                  <a:moveTo>
                    <a:pt x="0" y="1381125"/>
                  </a:moveTo>
                  <a:lnTo>
                    <a:pt x="6030595" y="1381125"/>
                  </a:lnTo>
                  <a:lnTo>
                    <a:pt x="6030595" y="0"/>
                  </a:lnTo>
                  <a:lnTo>
                    <a:pt x="0" y="0"/>
                  </a:lnTo>
                  <a:lnTo>
                    <a:pt x="0" y="1381125"/>
                  </a:lnTo>
                  <a:close/>
                </a:path>
              </a:pathLst>
            </a:custGeom>
            <a:ln w="9525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428113" y="5222240"/>
            <a:ext cx="35071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261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Segoe UI"/>
                <a:cs typeface="Segoe UI"/>
              </a:rPr>
              <a:t>Au</a:t>
            </a:r>
            <a:r>
              <a:rPr sz="1200" b="1" spc="-20" dirty="0">
                <a:latin typeface="Segoe UI"/>
                <a:cs typeface="Segoe UI"/>
              </a:rPr>
              <a:t> </a:t>
            </a:r>
            <a:r>
              <a:rPr sz="1200" b="1" dirty="0">
                <a:latin typeface="Segoe UI"/>
                <a:cs typeface="Segoe UI"/>
              </a:rPr>
              <a:t>survol</a:t>
            </a:r>
            <a:r>
              <a:rPr sz="1200" b="1" spc="-15" dirty="0">
                <a:latin typeface="Segoe UI"/>
                <a:cs typeface="Segoe UI"/>
              </a:rPr>
              <a:t> </a:t>
            </a:r>
            <a:r>
              <a:rPr sz="1200" b="1" dirty="0">
                <a:latin typeface="Segoe UI"/>
                <a:cs typeface="Segoe UI"/>
              </a:rPr>
              <a:t>d’une</a:t>
            </a:r>
            <a:r>
              <a:rPr sz="1200" b="1" spc="-25" dirty="0">
                <a:latin typeface="Segoe UI"/>
                <a:cs typeface="Segoe UI"/>
              </a:rPr>
              <a:t> </a:t>
            </a:r>
            <a:r>
              <a:rPr sz="1200" b="1" spc="-10" dirty="0">
                <a:latin typeface="Segoe UI"/>
                <a:cs typeface="Segoe UI"/>
              </a:rPr>
              <a:t>poignée</a:t>
            </a:r>
            <a:r>
              <a:rPr sz="1200" b="1" spc="-50" dirty="0">
                <a:latin typeface="Segoe UI"/>
                <a:cs typeface="Segoe UI"/>
              </a:rPr>
              <a:t> </a:t>
            </a:r>
            <a:r>
              <a:rPr sz="1200" b="1" dirty="0">
                <a:latin typeface="Segoe UI"/>
                <a:cs typeface="Segoe UI"/>
              </a:rPr>
              <a:t>de</a:t>
            </a:r>
            <a:r>
              <a:rPr sz="1200" b="1" spc="-40" dirty="0">
                <a:latin typeface="Segoe UI"/>
                <a:cs typeface="Segoe UI"/>
              </a:rPr>
              <a:t> </a:t>
            </a:r>
            <a:r>
              <a:rPr sz="1200" b="1" spc="-10" dirty="0">
                <a:latin typeface="Segoe UI"/>
                <a:cs typeface="Segoe UI"/>
              </a:rPr>
              <a:t>l’objet</a:t>
            </a:r>
            <a:endParaRPr sz="1200">
              <a:latin typeface="Segoe UI"/>
              <a:cs typeface="Segoe UI"/>
            </a:endParaRPr>
          </a:p>
          <a:p>
            <a:pPr marL="186055" indent="-173355">
              <a:lnSpc>
                <a:spcPct val="100000"/>
              </a:lnSpc>
              <a:buFont typeface="Arial MT"/>
              <a:buChar char="•"/>
              <a:tabLst>
                <a:tab pos="186055" algn="l"/>
              </a:tabLst>
            </a:pPr>
            <a:r>
              <a:rPr sz="1200" dirty="0">
                <a:latin typeface="Segoe UI"/>
                <a:cs typeface="Segoe UI"/>
              </a:rPr>
              <a:t>Tirer</a:t>
            </a:r>
            <a:r>
              <a:rPr sz="1200" spc="-6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une</a:t>
            </a:r>
            <a:r>
              <a:rPr sz="1200" spc="-60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flèche</a:t>
            </a:r>
            <a:r>
              <a:rPr sz="1200" spc="-7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vers</a:t>
            </a:r>
            <a:r>
              <a:rPr sz="1200" spc="-4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un</a:t>
            </a:r>
            <a:r>
              <a:rPr sz="1200" spc="-5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autre</a:t>
            </a:r>
            <a:r>
              <a:rPr sz="1200" spc="-6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objet</a:t>
            </a:r>
            <a:r>
              <a:rPr sz="1200" spc="-7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pour</a:t>
            </a:r>
            <a:r>
              <a:rPr sz="1200" spc="-8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les</a:t>
            </a:r>
            <a:r>
              <a:rPr sz="1200" spc="-25" dirty="0">
                <a:latin typeface="Segoe UI"/>
                <a:cs typeface="Segoe UI"/>
              </a:rPr>
              <a:t> </a:t>
            </a:r>
            <a:r>
              <a:rPr sz="1200" spc="-20" dirty="0">
                <a:latin typeface="Segoe UI"/>
                <a:cs typeface="Segoe UI"/>
              </a:rPr>
              <a:t>lier</a:t>
            </a:r>
            <a:endParaRPr sz="1200">
              <a:latin typeface="Segoe UI"/>
              <a:cs typeface="Segoe UI"/>
            </a:endParaRPr>
          </a:p>
          <a:p>
            <a:pPr marL="186055" indent="-173355">
              <a:lnSpc>
                <a:spcPct val="100000"/>
              </a:lnSpc>
              <a:buFont typeface="Arial MT"/>
              <a:buChar char="•"/>
              <a:tabLst>
                <a:tab pos="186055" algn="l"/>
              </a:tabLst>
            </a:pPr>
            <a:r>
              <a:rPr sz="1200" dirty="0">
                <a:latin typeface="Segoe UI"/>
                <a:cs typeface="Segoe UI"/>
              </a:rPr>
              <a:t>En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cliquant</a:t>
            </a:r>
            <a:r>
              <a:rPr sz="1200" spc="-6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en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même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temps</a:t>
            </a:r>
            <a:r>
              <a:rPr sz="1200" spc="28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:</a:t>
            </a:r>
            <a:r>
              <a:rPr sz="1200" spc="-2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clone</a:t>
            </a:r>
            <a:r>
              <a:rPr sz="1200" spc="-55" dirty="0">
                <a:latin typeface="Segoe UI"/>
                <a:cs typeface="Segoe UI"/>
              </a:rPr>
              <a:t> </a:t>
            </a:r>
            <a:r>
              <a:rPr sz="1200" spc="-40" dirty="0">
                <a:latin typeface="Segoe UI"/>
                <a:cs typeface="Segoe UI"/>
              </a:rPr>
              <a:t>l’objet</a:t>
            </a:r>
            <a:r>
              <a:rPr sz="1200" spc="-8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et</a:t>
            </a:r>
            <a:r>
              <a:rPr sz="1200" spc="-1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le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spc="-25" dirty="0">
                <a:latin typeface="Segoe UI"/>
                <a:cs typeface="Segoe UI"/>
              </a:rPr>
              <a:t>lie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305355" y="4119689"/>
            <a:ext cx="2163445" cy="1111885"/>
            <a:chOff x="8305355" y="4119689"/>
            <a:chExt cx="2163445" cy="1111885"/>
          </a:xfrm>
        </p:grpSpPr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14944" y="4129278"/>
              <a:ext cx="2144268" cy="109270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310118" y="4124452"/>
              <a:ext cx="2153920" cy="1102360"/>
            </a:xfrm>
            <a:custGeom>
              <a:avLst/>
              <a:gdLst/>
              <a:ahLst/>
              <a:cxnLst/>
              <a:rect l="l" t="t" r="r" b="b"/>
              <a:pathLst>
                <a:path w="2153920" h="1102360">
                  <a:moveTo>
                    <a:pt x="0" y="1102233"/>
                  </a:moveTo>
                  <a:lnTo>
                    <a:pt x="2153793" y="1102233"/>
                  </a:lnTo>
                  <a:lnTo>
                    <a:pt x="2153793" y="0"/>
                  </a:lnTo>
                  <a:lnTo>
                    <a:pt x="0" y="0"/>
                  </a:lnTo>
                  <a:lnTo>
                    <a:pt x="0" y="1102233"/>
                  </a:lnTo>
                  <a:close/>
                </a:path>
              </a:pathLst>
            </a:custGeom>
            <a:ln w="9525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595743" y="5240477"/>
            <a:ext cx="348551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346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Segoe UI"/>
                <a:cs typeface="Segoe UI"/>
              </a:rPr>
              <a:t>Liaison</a:t>
            </a:r>
            <a:r>
              <a:rPr sz="1200" b="1" spc="-60" dirty="0">
                <a:latin typeface="Segoe UI"/>
                <a:cs typeface="Segoe UI"/>
              </a:rPr>
              <a:t> </a:t>
            </a:r>
            <a:r>
              <a:rPr sz="1200" b="1" dirty="0">
                <a:latin typeface="Segoe UI"/>
                <a:cs typeface="Segoe UI"/>
              </a:rPr>
              <a:t>de</a:t>
            </a:r>
            <a:r>
              <a:rPr sz="1200" b="1" spc="-25" dirty="0">
                <a:latin typeface="Segoe UI"/>
                <a:cs typeface="Segoe UI"/>
              </a:rPr>
              <a:t> </a:t>
            </a:r>
            <a:r>
              <a:rPr sz="1200" b="1" dirty="0">
                <a:latin typeface="Segoe UI"/>
                <a:cs typeface="Segoe UI"/>
              </a:rPr>
              <a:t>deux</a:t>
            </a:r>
            <a:r>
              <a:rPr sz="1200" b="1" spc="-55" dirty="0">
                <a:latin typeface="Segoe UI"/>
                <a:cs typeface="Segoe UI"/>
              </a:rPr>
              <a:t> </a:t>
            </a:r>
            <a:r>
              <a:rPr sz="1200" b="1" spc="-10" dirty="0">
                <a:latin typeface="Segoe UI"/>
                <a:cs typeface="Segoe UI"/>
              </a:rPr>
              <a:t>objets</a:t>
            </a:r>
            <a:endParaRPr sz="1200">
              <a:latin typeface="Segoe UI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Segoe UI"/>
                <a:cs typeface="Segoe UI"/>
              </a:rPr>
              <a:t>Notez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la</a:t>
            </a:r>
            <a:r>
              <a:rPr sz="1200" spc="-20" dirty="0">
                <a:latin typeface="Segoe UI"/>
                <a:cs typeface="Segoe UI"/>
              </a:rPr>
              <a:t> </a:t>
            </a:r>
            <a:r>
              <a:rPr sz="1200" b="1" spc="-10" dirty="0">
                <a:latin typeface="Segoe UI"/>
                <a:cs typeface="Segoe UI"/>
              </a:rPr>
              <a:t>surbrillance</a:t>
            </a:r>
            <a:r>
              <a:rPr sz="1200" b="1" spc="-55" dirty="0">
                <a:latin typeface="Segoe UI"/>
                <a:cs typeface="Segoe UI"/>
              </a:rPr>
              <a:t> </a:t>
            </a:r>
            <a:r>
              <a:rPr sz="1200" b="1" dirty="0">
                <a:latin typeface="Segoe UI"/>
                <a:cs typeface="Segoe UI"/>
              </a:rPr>
              <a:t>verte</a:t>
            </a:r>
            <a:r>
              <a:rPr sz="1200" b="1" spc="-20" dirty="0">
                <a:latin typeface="Segoe UI"/>
                <a:cs typeface="Segoe UI"/>
              </a:rPr>
              <a:t> </a:t>
            </a:r>
            <a:r>
              <a:rPr sz="1200" b="1" dirty="0">
                <a:latin typeface="Segoe UI"/>
                <a:cs typeface="Segoe UI"/>
              </a:rPr>
              <a:t>sur la</a:t>
            </a:r>
            <a:r>
              <a:rPr sz="1200" b="1" spc="5" dirty="0">
                <a:latin typeface="Segoe UI"/>
                <a:cs typeface="Segoe UI"/>
              </a:rPr>
              <a:t> </a:t>
            </a:r>
            <a:r>
              <a:rPr sz="1200" b="1" spc="-10" dirty="0">
                <a:latin typeface="Segoe UI"/>
                <a:cs typeface="Segoe UI"/>
              </a:rPr>
              <a:t>poignée</a:t>
            </a:r>
            <a:r>
              <a:rPr sz="1200" b="1" spc="-30" dirty="0">
                <a:latin typeface="Segoe UI"/>
                <a:cs typeface="Segoe UI"/>
              </a:rPr>
              <a:t> </a:t>
            </a:r>
            <a:r>
              <a:rPr sz="1200" b="1" dirty="0">
                <a:latin typeface="Segoe UI"/>
                <a:cs typeface="Segoe UI"/>
              </a:rPr>
              <a:t>cible</a:t>
            </a:r>
            <a:r>
              <a:rPr sz="1200" b="1" spc="-35" dirty="0">
                <a:latin typeface="Segoe UI"/>
                <a:cs typeface="Segoe UI"/>
              </a:rPr>
              <a:t> </a:t>
            </a:r>
            <a:r>
              <a:rPr sz="1200" spc="-25" dirty="0">
                <a:latin typeface="Segoe UI"/>
                <a:cs typeface="Segoe UI"/>
              </a:rPr>
              <a:t>de </a:t>
            </a:r>
            <a:r>
              <a:rPr sz="1200" dirty="0">
                <a:latin typeface="Segoe UI"/>
                <a:cs typeface="Segoe UI"/>
              </a:rPr>
              <a:t>la</a:t>
            </a:r>
            <a:r>
              <a:rPr sz="1200" spc="-3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flèche,</a:t>
            </a:r>
            <a:r>
              <a:rPr sz="1200" spc="-5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qui</a:t>
            </a:r>
            <a:r>
              <a:rPr sz="1200" spc="-4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permet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de</a:t>
            </a:r>
            <a:r>
              <a:rPr sz="1200" spc="-15" dirty="0">
                <a:latin typeface="Segoe UI"/>
                <a:cs typeface="Segoe UI"/>
              </a:rPr>
              <a:t> </a:t>
            </a:r>
            <a:r>
              <a:rPr sz="1200" b="1" dirty="0">
                <a:latin typeface="Segoe UI"/>
                <a:cs typeface="Segoe UI"/>
              </a:rPr>
              <a:t>lier</a:t>
            </a:r>
            <a:r>
              <a:rPr sz="1200" b="1" spc="-35" dirty="0">
                <a:latin typeface="Segoe UI"/>
                <a:cs typeface="Segoe UI"/>
              </a:rPr>
              <a:t> </a:t>
            </a:r>
            <a:r>
              <a:rPr sz="1200" b="1" spc="-10" dirty="0">
                <a:latin typeface="Segoe UI"/>
                <a:cs typeface="Segoe UI"/>
              </a:rPr>
              <a:t>correctement</a:t>
            </a:r>
            <a:r>
              <a:rPr sz="1200" b="1" spc="-6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les</a:t>
            </a:r>
            <a:r>
              <a:rPr sz="1200" spc="-30" dirty="0">
                <a:latin typeface="Segoe UI"/>
                <a:cs typeface="Segoe UI"/>
              </a:rPr>
              <a:t> </a:t>
            </a:r>
            <a:r>
              <a:rPr sz="1200" spc="-50" dirty="0">
                <a:latin typeface="Segoe UI"/>
                <a:cs typeface="Segoe UI"/>
              </a:rPr>
              <a:t>2 </a:t>
            </a:r>
            <a:r>
              <a:rPr sz="1200" spc="-10" dirty="0">
                <a:latin typeface="Segoe UI"/>
                <a:cs typeface="Segoe UI"/>
              </a:rPr>
              <a:t>objets.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Segoe UI"/>
                <a:cs typeface="Segoe UI"/>
              </a:rPr>
              <a:t>En</a:t>
            </a:r>
            <a:r>
              <a:rPr sz="1200" spc="-2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cas</a:t>
            </a:r>
            <a:r>
              <a:rPr sz="1200" spc="-2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de</a:t>
            </a:r>
            <a:r>
              <a:rPr sz="1200" spc="-10" dirty="0">
                <a:latin typeface="Segoe UI"/>
                <a:cs typeface="Segoe UI"/>
              </a:rPr>
              <a:t> déplacement</a:t>
            </a:r>
            <a:r>
              <a:rPr sz="1200" spc="-7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d’un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des </a:t>
            </a:r>
            <a:r>
              <a:rPr sz="1200" spc="-10" dirty="0">
                <a:latin typeface="Segoe UI"/>
                <a:cs typeface="Segoe UI"/>
              </a:rPr>
              <a:t>objets,</a:t>
            </a:r>
            <a:r>
              <a:rPr sz="1200" spc="-5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la</a:t>
            </a:r>
            <a:r>
              <a:rPr sz="1200" spc="-2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flèche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Segoe UI"/>
                <a:cs typeface="Segoe UI"/>
              </a:rPr>
              <a:t>«</a:t>
            </a:r>
            <a:r>
              <a:rPr sz="1200" spc="-2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suivra</a:t>
            </a:r>
            <a:r>
              <a:rPr sz="1200" spc="-7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»</a:t>
            </a:r>
            <a:r>
              <a:rPr sz="1200" spc="-2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automatiquement.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5968" y="698880"/>
            <a:ext cx="12204700" cy="6159500"/>
            <a:chOff x="-5968" y="698880"/>
            <a:chExt cx="12204700" cy="6159500"/>
          </a:xfrm>
        </p:grpSpPr>
        <p:sp>
          <p:nvSpPr>
            <p:cNvPr id="3" name="object 3"/>
            <p:cNvSpPr/>
            <p:nvPr/>
          </p:nvSpPr>
          <p:spPr>
            <a:xfrm>
              <a:off x="381" y="705230"/>
              <a:ext cx="12192000" cy="5652135"/>
            </a:xfrm>
            <a:custGeom>
              <a:avLst/>
              <a:gdLst/>
              <a:ahLst/>
              <a:cxnLst/>
              <a:rect l="l" t="t" r="r" b="b"/>
              <a:pathLst>
                <a:path w="12192000" h="5652135">
                  <a:moveTo>
                    <a:pt x="12191619" y="0"/>
                  </a:moveTo>
                  <a:lnTo>
                    <a:pt x="0" y="0"/>
                  </a:lnTo>
                  <a:lnTo>
                    <a:pt x="0" y="5651754"/>
                  </a:lnTo>
                  <a:lnTo>
                    <a:pt x="12191619" y="5651754"/>
                  </a:lnTo>
                  <a:lnTo>
                    <a:pt x="121916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1" y="705230"/>
              <a:ext cx="12192000" cy="5652135"/>
            </a:xfrm>
            <a:custGeom>
              <a:avLst/>
              <a:gdLst/>
              <a:ahLst/>
              <a:cxnLst/>
              <a:rect l="l" t="t" r="r" b="b"/>
              <a:pathLst>
                <a:path w="12192000" h="5652135">
                  <a:moveTo>
                    <a:pt x="0" y="5651754"/>
                  </a:moveTo>
                  <a:lnTo>
                    <a:pt x="12192000" y="5651754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65175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8130" y="72898"/>
            <a:ext cx="5615305" cy="1143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9425">
              <a:lnSpc>
                <a:spcPct val="100000"/>
              </a:lnSpc>
              <a:spcBef>
                <a:spcPts val="100"/>
              </a:spcBef>
            </a:pPr>
            <a:r>
              <a:rPr sz="1400" spc="-30" dirty="0">
                <a:solidFill>
                  <a:srgbClr val="242424"/>
                </a:solidFill>
                <a:latin typeface="Segoe UI Semibold"/>
                <a:cs typeface="Segoe UI Semibold"/>
              </a:rPr>
              <a:t>Pool</a:t>
            </a:r>
            <a:r>
              <a:rPr sz="1400" spc="-65" dirty="0">
                <a:solidFill>
                  <a:srgbClr val="242424"/>
                </a:solidFill>
                <a:latin typeface="Segoe UI Semibold"/>
                <a:cs typeface="Segoe UI Semibold"/>
              </a:rPr>
              <a:t> </a:t>
            </a:r>
            <a:r>
              <a:rPr sz="1400" dirty="0">
                <a:solidFill>
                  <a:srgbClr val="242424"/>
                </a:solidFill>
                <a:latin typeface="Segoe UI Semibold"/>
                <a:cs typeface="Segoe UI Semibold"/>
              </a:rPr>
              <a:t>&amp;</a:t>
            </a:r>
            <a:r>
              <a:rPr sz="1400" spc="-40" dirty="0">
                <a:solidFill>
                  <a:srgbClr val="242424"/>
                </a:solidFill>
                <a:latin typeface="Segoe UI Semibold"/>
                <a:cs typeface="Segoe UI Semibold"/>
              </a:rPr>
              <a:t> </a:t>
            </a:r>
            <a:r>
              <a:rPr sz="1400" spc="-10" dirty="0">
                <a:solidFill>
                  <a:srgbClr val="242424"/>
                </a:solidFill>
                <a:latin typeface="Segoe UI Semibold"/>
                <a:cs typeface="Segoe UI Semibold"/>
              </a:rPr>
              <a:t>Swimlanes</a:t>
            </a:r>
            <a:endParaRPr sz="1400">
              <a:latin typeface="Segoe UI Semibold"/>
              <a:cs typeface="Segoe UI Semibold"/>
            </a:endParaRPr>
          </a:p>
          <a:p>
            <a:pPr marL="479425">
              <a:lnSpc>
                <a:spcPct val="100000"/>
              </a:lnSpc>
              <a:spcBef>
                <a:spcPts val="90"/>
              </a:spcBef>
            </a:pPr>
            <a:r>
              <a:rPr sz="1800" dirty="0">
                <a:solidFill>
                  <a:srgbClr val="FFFFFF"/>
                </a:solidFill>
                <a:latin typeface="Segoe UI Semibold"/>
                <a:cs typeface="Segoe UI Semibold"/>
              </a:rPr>
              <a:t>Modification</a:t>
            </a:r>
            <a:r>
              <a:rPr sz="1800" spc="-35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Semibold"/>
                <a:cs typeface="Segoe UI Semibold"/>
              </a:rPr>
              <a:t>des</a:t>
            </a:r>
            <a:r>
              <a:rPr sz="1800" spc="-80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Semibold"/>
                <a:cs typeface="Segoe UI Semibold"/>
              </a:rPr>
              <a:t>Pools</a:t>
            </a:r>
            <a:r>
              <a:rPr sz="1800" spc="-65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Semibold"/>
                <a:cs typeface="Segoe UI Semibold"/>
              </a:rPr>
              <a:t>&amp;</a:t>
            </a:r>
            <a:r>
              <a:rPr sz="1800" spc="-45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Semibold"/>
                <a:cs typeface="Segoe UI Semibold"/>
              </a:rPr>
              <a:t>Swimlanes</a:t>
            </a:r>
            <a:endParaRPr sz="1800">
              <a:latin typeface="Segoe UI Semibold"/>
              <a:cs typeface="Segoe UI Semibold"/>
            </a:endParaRPr>
          </a:p>
          <a:p>
            <a:pPr marL="240029" indent="-227329">
              <a:lnSpc>
                <a:spcPct val="100000"/>
              </a:lnSpc>
              <a:spcBef>
                <a:spcPts val="1989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spc="-20" dirty="0">
                <a:latin typeface="Segoe UI"/>
                <a:cs typeface="Segoe UI"/>
              </a:rPr>
              <a:t>Pour</a:t>
            </a:r>
            <a:r>
              <a:rPr sz="2400" b="1" spc="-100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modifier</a:t>
            </a:r>
            <a:r>
              <a:rPr sz="2400" b="1" spc="-85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la</a:t>
            </a:r>
            <a:r>
              <a:rPr sz="2400" b="1" spc="-65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hauteur</a:t>
            </a:r>
            <a:r>
              <a:rPr sz="2400" b="1" spc="-110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des</a:t>
            </a:r>
            <a:r>
              <a:rPr sz="2400" b="1" spc="-80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entêtes</a:t>
            </a:r>
            <a:r>
              <a:rPr sz="2400" b="1" spc="-80" dirty="0">
                <a:latin typeface="Segoe UI"/>
                <a:cs typeface="Segoe UI"/>
              </a:rPr>
              <a:t> </a:t>
            </a:r>
            <a:r>
              <a:rPr sz="2400" b="1" spc="-50" dirty="0">
                <a:latin typeface="Segoe UI"/>
                <a:cs typeface="Segoe UI"/>
              </a:rPr>
              <a:t>: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130" y="3238627"/>
            <a:ext cx="6311900" cy="2386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spc="-20" dirty="0">
                <a:latin typeface="Segoe UI"/>
                <a:cs typeface="Segoe UI"/>
              </a:rPr>
              <a:t>Pour</a:t>
            </a:r>
            <a:r>
              <a:rPr sz="2400" b="1" spc="-85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ajouter</a:t>
            </a:r>
            <a:r>
              <a:rPr sz="2400" b="1" spc="-75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une</a:t>
            </a:r>
            <a:r>
              <a:rPr sz="2400" b="1" spc="-40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swimlane</a:t>
            </a:r>
            <a:r>
              <a:rPr sz="2400" b="1" spc="-95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dans</a:t>
            </a:r>
            <a:r>
              <a:rPr sz="2400" b="1" spc="-80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une</a:t>
            </a:r>
            <a:r>
              <a:rPr sz="2400" b="1" spc="-40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pool</a:t>
            </a:r>
            <a:r>
              <a:rPr sz="2400" b="1" spc="-75" dirty="0">
                <a:latin typeface="Segoe UI"/>
                <a:cs typeface="Segoe UI"/>
              </a:rPr>
              <a:t> </a:t>
            </a:r>
            <a:r>
              <a:rPr sz="2400" b="1" spc="-50" dirty="0">
                <a:latin typeface="Segoe UI"/>
                <a:cs typeface="Segoe UI"/>
              </a:rPr>
              <a:t>:</a:t>
            </a:r>
            <a:endParaRPr sz="2400">
              <a:latin typeface="Segoe UI"/>
              <a:cs typeface="Segoe UI"/>
            </a:endParaRPr>
          </a:p>
          <a:p>
            <a:pPr marL="447040">
              <a:lnSpc>
                <a:spcPct val="100000"/>
              </a:lnSpc>
              <a:spcBef>
                <a:spcPts val="2205"/>
              </a:spcBef>
            </a:pPr>
            <a:r>
              <a:rPr sz="1800" spc="-10" dirty="0">
                <a:latin typeface="Segoe UI"/>
                <a:cs typeface="Segoe UI"/>
              </a:rPr>
              <a:t>Sélectionner</a:t>
            </a:r>
            <a:r>
              <a:rPr sz="1800" spc="-10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toute</a:t>
            </a:r>
            <a:r>
              <a:rPr sz="1800" spc="-8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la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piscine;</a:t>
            </a:r>
            <a:endParaRPr sz="1800">
              <a:latin typeface="Segoe UI"/>
              <a:cs typeface="Segoe UI"/>
            </a:endParaRPr>
          </a:p>
          <a:p>
            <a:pPr marL="447040" marR="60325">
              <a:lnSpc>
                <a:spcPct val="177800"/>
              </a:lnSpc>
              <a:spcBef>
                <a:spcPts val="425"/>
              </a:spcBef>
            </a:pPr>
            <a:r>
              <a:rPr sz="1800" dirty="0">
                <a:latin typeface="Segoe UI"/>
                <a:cs typeface="Segoe UI"/>
              </a:rPr>
              <a:t>Dans</a:t>
            </a:r>
            <a:r>
              <a:rPr sz="1800" spc="-9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le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cadre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à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droite,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sélectionner</a:t>
            </a:r>
            <a:r>
              <a:rPr sz="1800" spc="-100" dirty="0">
                <a:latin typeface="Segoe UI"/>
                <a:cs typeface="Segoe UI"/>
              </a:rPr>
              <a:t> </a:t>
            </a:r>
            <a:r>
              <a:rPr sz="1800" spc="-40" dirty="0">
                <a:latin typeface="Segoe UI"/>
                <a:cs typeface="Segoe UI"/>
              </a:rPr>
              <a:t>l’onglet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«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Organiser</a:t>
            </a:r>
            <a:r>
              <a:rPr sz="1800" spc="-90" dirty="0">
                <a:latin typeface="Segoe UI"/>
                <a:cs typeface="Segoe UI"/>
              </a:rPr>
              <a:t> </a:t>
            </a:r>
            <a:r>
              <a:rPr sz="1800" spc="-25" dirty="0">
                <a:latin typeface="Segoe UI"/>
                <a:cs typeface="Segoe UI"/>
              </a:rPr>
              <a:t>»; </a:t>
            </a:r>
            <a:r>
              <a:rPr sz="1800" dirty="0">
                <a:latin typeface="Segoe UI"/>
                <a:cs typeface="Segoe UI"/>
              </a:rPr>
              <a:t>Dans</a:t>
            </a:r>
            <a:r>
              <a:rPr sz="1800" spc="-8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les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outils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de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tableau,</a:t>
            </a:r>
            <a:r>
              <a:rPr sz="1800" spc="3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cliquer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sur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Insérer</a:t>
            </a:r>
            <a:r>
              <a:rPr sz="1800" spc="-10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une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colonne</a:t>
            </a:r>
            <a:endParaRPr sz="1800">
              <a:latin typeface="Segoe UI"/>
              <a:cs typeface="Segoe UI"/>
            </a:endParaRPr>
          </a:p>
          <a:p>
            <a:pPr marL="38481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Segoe UI"/>
                <a:cs typeface="Segoe UI"/>
              </a:rPr>
              <a:t>(ici,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insérera</a:t>
            </a:r>
            <a:r>
              <a:rPr sz="1800" spc="-9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une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colonne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à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droite)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55067" y="1257617"/>
            <a:ext cx="4108450" cy="1365250"/>
            <a:chOff x="155067" y="1257617"/>
            <a:chExt cx="4108450" cy="136525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592" y="1267206"/>
              <a:ext cx="4088891" cy="134569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59829" y="1262380"/>
              <a:ext cx="4098925" cy="1355725"/>
            </a:xfrm>
            <a:custGeom>
              <a:avLst/>
              <a:gdLst/>
              <a:ahLst/>
              <a:cxnLst/>
              <a:rect l="l" t="t" r="r" b="b"/>
              <a:pathLst>
                <a:path w="4098925" h="1355725">
                  <a:moveTo>
                    <a:pt x="0" y="1355216"/>
                  </a:moveTo>
                  <a:lnTo>
                    <a:pt x="4098416" y="1355216"/>
                  </a:lnTo>
                  <a:lnTo>
                    <a:pt x="4098416" y="0"/>
                  </a:lnTo>
                  <a:lnTo>
                    <a:pt x="0" y="0"/>
                  </a:lnTo>
                  <a:lnTo>
                    <a:pt x="0" y="1355216"/>
                  </a:lnTo>
                  <a:close/>
                </a:path>
              </a:pathLst>
            </a:custGeom>
            <a:ln w="9525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69060" y="2639314"/>
            <a:ext cx="2442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Segoe UI"/>
                <a:cs typeface="Segoe UI"/>
              </a:rPr>
              <a:t>1</a:t>
            </a:r>
            <a:r>
              <a:rPr sz="1200" b="1" spc="-15" dirty="0">
                <a:latin typeface="Segoe UI"/>
                <a:cs typeface="Segoe UI"/>
              </a:rPr>
              <a:t> </a:t>
            </a:r>
            <a:r>
              <a:rPr sz="1200" b="1" dirty="0">
                <a:latin typeface="Segoe UI"/>
                <a:cs typeface="Segoe UI"/>
              </a:rPr>
              <a:t>:</a:t>
            </a:r>
            <a:r>
              <a:rPr sz="1200" b="1" spc="-15" dirty="0">
                <a:latin typeface="Segoe UI"/>
                <a:cs typeface="Segoe UI"/>
              </a:rPr>
              <a:t> </a:t>
            </a:r>
            <a:r>
              <a:rPr sz="1200" b="1" spc="-10" dirty="0">
                <a:latin typeface="Segoe UI"/>
                <a:cs typeface="Segoe UI"/>
              </a:rPr>
              <a:t>Sélectionner</a:t>
            </a:r>
            <a:r>
              <a:rPr sz="1200" b="1" spc="-50" dirty="0">
                <a:latin typeface="Segoe UI"/>
                <a:cs typeface="Segoe UI"/>
              </a:rPr>
              <a:t> </a:t>
            </a:r>
            <a:r>
              <a:rPr sz="1200" b="1" spc="-35" dirty="0">
                <a:latin typeface="Segoe UI"/>
                <a:cs typeface="Segoe UI"/>
              </a:rPr>
              <a:t>l’entête</a:t>
            </a:r>
            <a:r>
              <a:rPr sz="1200" b="1" spc="-70" dirty="0">
                <a:latin typeface="Segoe UI"/>
                <a:cs typeface="Segoe UI"/>
              </a:rPr>
              <a:t> </a:t>
            </a:r>
            <a:r>
              <a:rPr sz="1200" b="1" dirty="0">
                <a:latin typeface="Segoe UI"/>
                <a:cs typeface="Segoe UI"/>
              </a:rPr>
              <a:t>à</a:t>
            </a:r>
            <a:r>
              <a:rPr sz="1200" b="1" spc="15" dirty="0">
                <a:latin typeface="Segoe UI"/>
                <a:cs typeface="Segoe UI"/>
              </a:rPr>
              <a:t> </a:t>
            </a:r>
            <a:r>
              <a:rPr sz="1200" b="1" spc="-10" dirty="0">
                <a:latin typeface="Segoe UI"/>
                <a:cs typeface="Segoe UI"/>
              </a:rPr>
              <a:t>modifier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5664" y="1355915"/>
            <a:ext cx="11029315" cy="4927600"/>
            <a:chOff x="55664" y="1355915"/>
            <a:chExt cx="11029315" cy="492760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8076" y="1365516"/>
              <a:ext cx="4203191" cy="109802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413250" y="1360677"/>
              <a:ext cx="4213225" cy="1108075"/>
            </a:xfrm>
            <a:custGeom>
              <a:avLst/>
              <a:gdLst/>
              <a:ahLst/>
              <a:cxnLst/>
              <a:rect l="l" t="t" r="r" b="b"/>
              <a:pathLst>
                <a:path w="4213225" h="1108075">
                  <a:moveTo>
                    <a:pt x="0" y="1107566"/>
                  </a:moveTo>
                  <a:lnTo>
                    <a:pt x="4212717" y="1107566"/>
                  </a:lnTo>
                  <a:lnTo>
                    <a:pt x="4212717" y="0"/>
                  </a:lnTo>
                  <a:lnTo>
                    <a:pt x="0" y="0"/>
                  </a:lnTo>
                  <a:lnTo>
                    <a:pt x="0" y="1107566"/>
                  </a:lnTo>
                  <a:close/>
                </a:path>
              </a:pathLst>
            </a:custGeom>
            <a:ln w="9525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85431" y="3045713"/>
              <a:ext cx="4189476" cy="322783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880605" y="3040951"/>
              <a:ext cx="4199255" cy="3237865"/>
            </a:xfrm>
            <a:custGeom>
              <a:avLst/>
              <a:gdLst/>
              <a:ahLst/>
              <a:cxnLst/>
              <a:rect l="l" t="t" r="r" b="b"/>
              <a:pathLst>
                <a:path w="4199255" h="3237865">
                  <a:moveTo>
                    <a:pt x="0" y="3237357"/>
                  </a:moveTo>
                  <a:lnTo>
                    <a:pt x="4199001" y="3237357"/>
                  </a:lnTo>
                  <a:lnTo>
                    <a:pt x="4199001" y="0"/>
                  </a:lnTo>
                  <a:lnTo>
                    <a:pt x="0" y="0"/>
                  </a:lnTo>
                  <a:lnTo>
                    <a:pt x="0" y="3237357"/>
                  </a:lnTo>
                  <a:close/>
                </a:path>
              </a:pathLst>
            </a:custGeom>
            <a:ln w="9525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664" y="3916679"/>
              <a:ext cx="358140" cy="1374775"/>
            </a:xfrm>
            <a:custGeom>
              <a:avLst/>
              <a:gdLst/>
              <a:ahLst/>
              <a:cxnLst/>
              <a:rect l="l" t="t" r="r" b="b"/>
              <a:pathLst>
                <a:path w="358140" h="1374775">
                  <a:moveTo>
                    <a:pt x="357974" y="1195451"/>
                  </a:moveTo>
                  <a:lnTo>
                    <a:pt x="351713" y="1148588"/>
                  </a:lnTo>
                  <a:lnTo>
                    <a:pt x="351612" y="1147826"/>
                  </a:lnTo>
                  <a:lnTo>
                    <a:pt x="337426" y="1114171"/>
                  </a:lnTo>
                  <a:lnTo>
                    <a:pt x="333590" y="1105154"/>
                  </a:lnTo>
                  <a:lnTo>
                    <a:pt x="305625" y="1068959"/>
                  </a:lnTo>
                  <a:lnTo>
                    <a:pt x="269430" y="1041019"/>
                  </a:lnTo>
                  <a:lnTo>
                    <a:pt x="231444" y="1024890"/>
                  </a:lnTo>
                  <a:lnTo>
                    <a:pt x="231444" y="1236599"/>
                  </a:lnTo>
                  <a:lnTo>
                    <a:pt x="229743" y="1243584"/>
                  </a:lnTo>
                  <a:lnTo>
                    <a:pt x="200355" y="1271778"/>
                  </a:lnTo>
                  <a:lnTo>
                    <a:pt x="177723" y="1276604"/>
                  </a:lnTo>
                  <a:lnTo>
                    <a:pt x="161747" y="1276604"/>
                  </a:lnTo>
                  <a:lnTo>
                    <a:pt x="153733" y="1275969"/>
                  </a:lnTo>
                  <a:lnTo>
                    <a:pt x="145834" y="1274445"/>
                  </a:lnTo>
                  <a:lnTo>
                    <a:pt x="139217" y="1273429"/>
                  </a:lnTo>
                  <a:lnTo>
                    <a:pt x="132829" y="1271270"/>
                  </a:lnTo>
                  <a:lnTo>
                    <a:pt x="126898" y="1268095"/>
                  </a:lnTo>
                  <a:lnTo>
                    <a:pt x="126898" y="1244092"/>
                  </a:lnTo>
                  <a:lnTo>
                    <a:pt x="133184" y="1248410"/>
                  </a:lnTo>
                  <a:lnTo>
                    <a:pt x="140208" y="1251712"/>
                  </a:lnTo>
                  <a:lnTo>
                    <a:pt x="147586" y="1253617"/>
                  </a:lnTo>
                  <a:lnTo>
                    <a:pt x="155054" y="1255649"/>
                  </a:lnTo>
                  <a:lnTo>
                    <a:pt x="162814" y="1256665"/>
                  </a:lnTo>
                  <a:lnTo>
                    <a:pt x="174282" y="1256665"/>
                  </a:lnTo>
                  <a:lnTo>
                    <a:pt x="178003" y="1256284"/>
                  </a:lnTo>
                  <a:lnTo>
                    <a:pt x="181597" y="1255649"/>
                  </a:lnTo>
                  <a:lnTo>
                    <a:pt x="185547" y="1254887"/>
                  </a:lnTo>
                  <a:lnTo>
                    <a:pt x="196240" y="1244092"/>
                  </a:lnTo>
                  <a:lnTo>
                    <a:pt x="204685" y="1235583"/>
                  </a:lnTo>
                  <a:lnTo>
                    <a:pt x="204508" y="1231011"/>
                  </a:lnTo>
                  <a:lnTo>
                    <a:pt x="204647" y="1226566"/>
                  </a:lnTo>
                  <a:lnTo>
                    <a:pt x="173393" y="1203198"/>
                  </a:lnTo>
                  <a:lnTo>
                    <a:pt x="168160" y="1202817"/>
                  </a:lnTo>
                  <a:lnTo>
                    <a:pt x="167754" y="1202690"/>
                  </a:lnTo>
                  <a:lnTo>
                    <a:pt x="162102" y="1202817"/>
                  </a:lnTo>
                  <a:lnTo>
                    <a:pt x="147548" y="1202817"/>
                  </a:lnTo>
                  <a:lnTo>
                    <a:pt x="147548" y="1182751"/>
                  </a:lnTo>
                  <a:lnTo>
                    <a:pt x="166751" y="1182751"/>
                  </a:lnTo>
                  <a:lnTo>
                    <a:pt x="198551" y="1160526"/>
                  </a:lnTo>
                  <a:lnTo>
                    <a:pt x="198577" y="1152398"/>
                  </a:lnTo>
                  <a:lnTo>
                    <a:pt x="197688" y="1148588"/>
                  </a:lnTo>
                  <a:lnTo>
                    <a:pt x="192112" y="1145540"/>
                  </a:lnTo>
                  <a:lnTo>
                    <a:pt x="171488" y="1134237"/>
                  </a:lnTo>
                  <a:lnTo>
                    <a:pt x="164922" y="1134237"/>
                  </a:lnTo>
                  <a:lnTo>
                    <a:pt x="158381" y="1135253"/>
                  </a:lnTo>
                  <a:lnTo>
                    <a:pt x="152069" y="1137031"/>
                  </a:lnTo>
                  <a:lnTo>
                    <a:pt x="145503" y="1138809"/>
                  </a:lnTo>
                  <a:lnTo>
                    <a:pt x="139255" y="1141730"/>
                  </a:lnTo>
                  <a:lnTo>
                    <a:pt x="133604" y="1145540"/>
                  </a:lnTo>
                  <a:lnTo>
                    <a:pt x="133604" y="1123315"/>
                  </a:lnTo>
                  <a:lnTo>
                    <a:pt x="139433" y="1120267"/>
                  </a:lnTo>
                  <a:lnTo>
                    <a:pt x="145719" y="1117981"/>
                  </a:lnTo>
                  <a:lnTo>
                    <a:pt x="159270" y="1114933"/>
                  </a:lnTo>
                  <a:lnTo>
                    <a:pt x="166484" y="1114171"/>
                  </a:lnTo>
                  <a:lnTo>
                    <a:pt x="180174" y="1114171"/>
                  </a:lnTo>
                  <a:lnTo>
                    <a:pt x="218020" y="1130554"/>
                  </a:lnTo>
                  <a:lnTo>
                    <a:pt x="225336" y="1146429"/>
                  </a:lnTo>
                  <a:lnTo>
                    <a:pt x="225298" y="1147826"/>
                  </a:lnTo>
                  <a:lnTo>
                    <a:pt x="225183" y="1152398"/>
                  </a:lnTo>
                  <a:lnTo>
                    <a:pt x="204939" y="1186815"/>
                  </a:lnTo>
                  <a:lnTo>
                    <a:pt x="191541" y="1191641"/>
                  </a:lnTo>
                  <a:lnTo>
                    <a:pt x="196659" y="1192149"/>
                  </a:lnTo>
                  <a:lnTo>
                    <a:pt x="201663" y="1193419"/>
                  </a:lnTo>
                  <a:lnTo>
                    <a:pt x="206400" y="1195451"/>
                  </a:lnTo>
                  <a:lnTo>
                    <a:pt x="211074" y="1197356"/>
                  </a:lnTo>
                  <a:lnTo>
                    <a:pt x="231444" y="1236599"/>
                  </a:lnTo>
                  <a:lnTo>
                    <a:pt x="231444" y="1024890"/>
                  </a:lnTo>
                  <a:lnTo>
                    <a:pt x="226695" y="1022858"/>
                  </a:lnTo>
                  <a:lnTo>
                    <a:pt x="179146" y="1016508"/>
                  </a:lnTo>
                  <a:lnTo>
                    <a:pt x="178993" y="1016508"/>
                  </a:lnTo>
                  <a:lnTo>
                    <a:pt x="131419" y="1022858"/>
                  </a:lnTo>
                  <a:lnTo>
                    <a:pt x="88353" y="1041019"/>
                  </a:lnTo>
                  <a:lnTo>
                    <a:pt x="88493" y="1041019"/>
                  </a:lnTo>
                  <a:lnTo>
                    <a:pt x="52438" y="1068959"/>
                  </a:lnTo>
                  <a:lnTo>
                    <a:pt x="24447" y="1105154"/>
                  </a:lnTo>
                  <a:lnTo>
                    <a:pt x="6388" y="1147826"/>
                  </a:lnTo>
                  <a:lnTo>
                    <a:pt x="0" y="1195451"/>
                  </a:lnTo>
                  <a:lnTo>
                    <a:pt x="6388" y="1242949"/>
                  </a:lnTo>
                  <a:lnTo>
                    <a:pt x="24422" y="1285748"/>
                  </a:lnTo>
                  <a:lnTo>
                    <a:pt x="52412" y="1321943"/>
                  </a:lnTo>
                  <a:lnTo>
                    <a:pt x="88646" y="1349883"/>
                  </a:lnTo>
                  <a:lnTo>
                    <a:pt x="131406" y="1367917"/>
                  </a:lnTo>
                  <a:lnTo>
                    <a:pt x="178993" y="1374394"/>
                  </a:lnTo>
                  <a:lnTo>
                    <a:pt x="226568" y="1367917"/>
                  </a:lnTo>
                  <a:lnTo>
                    <a:pt x="269328" y="1349883"/>
                  </a:lnTo>
                  <a:lnTo>
                    <a:pt x="305562" y="1321943"/>
                  </a:lnTo>
                  <a:lnTo>
                    <a:pt x="333540" y="1285748"/>
                  </a:lnTo>
                  <a:lnTo>
                    <a:pt x="337388" y="1276604"/>
                  </a:lnTo>
                  <a:lnTo>
                    <a:pt x="351586" y="1242949"/>
                  </a:lnTo>
                  <a:lnTo>
                    <a:pt x="357974" y="1195451"/>
                  </a:lnTo>
                  <a:close/>
                </a:path>
                <a:path w="358140" h="1374775">
                  <a:moveTo>
                    <a:pt x="357974" y="716915"/>
                  </a:moveTo>
                  <a:lnTo>
                    <a:pt x="351675" y="669798"/>
                  </a:lnTo>
                  <a:lnTo>
                    <a:pt x="351612" y="669290"/>
                  </a:lnTo>
                  <a:lnTo>
                    <a:pt x="333590" y="626618"/>
                  </a:lnTo>
                  <a:lnTo>
                    <a:pt x="305625" y="590423"/>
                  </a:lnTo>
                  <a:lnTo>
                    <a:pt x="269430" y="562483"/>
                  </a:lnTo>
                  <a:lnTo>
                    <a:pt x="230174" y="545846"/>
                  </a:lnTo>
                  <a:lnTo>
                    <a:pt x="230174" y="775843"/>
                  </a:lnTo>
                  <a:lnTo>
                    <a:pt x="230174" y="797179"/>
                  </a:lnTo>
                  <a:lnTo>
                    <a:pt x="127838" y="797179"/>
                  </a:lnTo>
                  <a:lnTo>
                    <a:pt x="133591" y="758190"/>
                  </a:lnTo>
                  <a:lnTo>
                    <a:pt x="165811" y="727964"/>
                  </a:lnTo>
                  <a:lnTo>
                    <a:pt x="177114" y="721233"/>
                  </a:lnTo>
                  <a:lnTo>
                    <a:pt x="181991" y="717677"/>
                  </a:lnTo>
                  <a:lnTo>
                    <a:pt x="201561" y="686181"/>
                  </a:lnTo>
                  <a:lnTo>
                    <a:pt x="201536" y="679196"/>
                  </a:lnTo>
                  <a:lnTo>
                    <a:pt x="197878" y="675259"/>
                  </a:lnTo>
                  <a:lnTo>
                    <a:pt x="180670" y="656717"/>
                  </a:lnTo>
                  <a:lnTo>
                    <a:pt x="169100" y="656717"/>
                  </a:lnTo>
                  <a:lnTo>
                    <a:pt x="161810" y="658495"/>
                  </a:lnTo>
                  <a:lnTo>
                    <a:pt x="148272" y="665353"/>
                  </a:lnTo>
                  <a:lnTo>
                    <a:pt x="141884" y="669798"/>
                  </a:lnTo>
                  <a:lnTo>
                    <a:pt x="136283" y="675259"/>
                  </a:lnTo>
                  <a:lnTo>
                    <a:pt x="136283" y="650875"/>
                  </a:lnTo>
                  <a:lnTo>
                    <a:pt x="141706" y="645795"/>
                  </a:lnTo>
                  <a:lnTo>
                    <a:pt x="148196" y="641985"/>
                  </a:lnTo>
                  <a:lnTo>
                    <a:pt x="162928" y="637667"/>
                  </a:lnTo>
                  <a:lnTo>
                    <a:pt x="170878" y="636524"/>
                  </a:lnTo>
                  <a:lnTo>
                    <a:pt x="185216" y="636524"/>
                  </a:lnTo>
                  <a:lnTo>
                    <a:pt x="220916" y="655828"/>
                  </a:lnTo>
                  <a:lnTo>
                    <a:pt x="227177" y="673100"/>
                  </a:lnTo>
                  <a:lnTo>
                    <a:pt x="227126" y="685165"/>
                  </a:lnTo>
                  <a:lnTo>
                    <a:pt x="211455" y="720344"/>
                  </a:lnTo>
                  <a:lnTo>
                    <a:pt x="183832" y="740791"/>
                  </a:lnTo>
                  <a:lnTo>
                    <a:pt x="174447" y="747014"/>
                  </a:lnTo>
                  <a:lnTo>
                    <a:pt x="170484" y="749808"/>
                  </a:lnTo>
                  <a:lnTo>
                    <a:pt x="166738" y="752729"/>
                  </a:lnTo>
                  <a:lnTo>
                    <a:pt x="153898" y="772160"/>
                  </a:lnTo>
                  <a:lnTo>
                    <a:pt x="153949" y="775843"/>
                  </a:lnTo>
                  <a:lnTo>
                    <a:pt x="230174" y="775843"/>
                  </a:lnTo>
                  <a:lnTo>
                    <a:pt x="230174" y="545846"/>
                  </a:lnTo>
                  <a:lnTo>
                    <a:pt x="226695" y="544322"/>
                  </a:lnTo>
                  <a:lnTo>
                    <a:pt x="179133" y="537972"/>
                  </a:lnTo>
                  <a:lnTo>
                    <a:pt x="178993" y="537972"/>
                  </a:lnTo>
                  <a:lnTo>
                    <a:pt x="131419" y="544322"/>
                  </a:lnTo>
                  <a:lnTo>
                    <a:pt x="88353" y="562483"/>
                  </a:lnTo>
                  <a:lnTo>
                    <a:pt x="88493" y="562483"/>
                  </a:lnTo>
                  <a:lnTo>
                    <a:pt x="52438" y="590423"/>
                  </a:lnTo>
                  <a:lnTo>
                    <a:pt x="24447" y="626618"/>
                  </a:lnTo>
                  <a:lnTo>
                    <a:pt x="6388" y="669290"/>
                  </a:lnTo>
                  <a:lnTo>
                    <a:pt x="0" y="716915"/>
                  </a:lnTo>
                  <a:lnTo>
                    <a:pt x="6388" y="764413"/>
                  </a:lnTo>
                  <a:lnTo>
                    <a:pt x="24447" y="807212"/>
                  </a:lnTo>
                  <a:lnTo>
                    <a:pt x="52438" y="843407"/>
                  </a:lnTo>
                  <a:lnTo>
                    <a:pt x="88658" y="871347"/>
                  </a:lnTo>
                  <a:lnTo>
                    <a:pt x="131419" y="889381"/>
                  </a:lnTo>
                  <a:lnTo>
                    <a:pt x="178993" y="895858"/>
                  </a:lnTo>
                  <a:lnTo>
                    <a:pt x="226580" y="889381"/>
                  </a:lnTo>
                  <a:lnTo>
                    <a:pt x="269341" y="871347"/>
                  </a:lnTo>
                  <a:lnTo>
                    <a:pt x="305562" y="843407"/>
                  </a:lnTo>
                  <a:lnTo>
                    <a:pt x="333552" y="807212"/>
                  </a:lnTo>
                  <a:lnTo>
                    <a:pt x="351586" y="764413"/>
                  </a:lnTo>
                  <a:lnTo>
                    <a:pt x="357873" y="717677"/>
                  </a:lnTo>
                  <a:lnTo>
                    <a:pt x="357974" y="716915"/>
                  </a:lnTo>
                  <a:close/>
                </a:path>
                <a:path w="358140" h="1374775">
                  <a:moveTo>
                    <a:pt x="357974" y="178943"/>
                  </a:moveTo>
                  <a:lnTo>
                    <a:pt x="351612" y="131318"/>
                  </a:lnTo>
                  <a:lnTo>
                    <a:pt x="335927" y="94234"/>
                  </a:lnTo>
                  <a:lnTo>
                    <a:pt x="333590" y="88646"/>
                  </a:lnTo>
                  <a:lnTo>
                    <a:pt x="305625" y="52451"/>
                  </a:lnTo>
                  <a:lnTo>
                    <a:pt x="269430" y="24511"/>
                  </a:lnTo>
                  <a:lnTo>
                    <a:pt x="226695" y="6350"/>
                  </a:lnTo>
                  <a:lnTo>
                    <a:pt x="198628" y="2667"/>
                  </a:lnTo>
                  <a:lnTo>
                    <a:pt x="198628" y="94234"/>
                  </a:lnTo>
                  <a:lnTo>
                    <a:pt x="198628" y="254889"/>
                  </a:lnTo>
                  <a:lnTo>
                    <a:pt x="171411" y="254889"/>
                  </a:lnTo>
                  <a:lnTo>
                    <a:pt x="171411" y="139446"/>
                  </a:lnTo>
                  <a:lnTo>
                    <a:pt x="171411" y="124841"/>
                  </a:lnTo>
                  <a:lnTo>
                    <a:pt x="136347" y="139446"/>
                  </a:lnTo>
                  <a:lnTo>
                    <a:pt x="136347" y="117729"/>
                  </a:lnTo>
                  <a:lnTo>
                    <a:pt x="138963" y="116967"/>
                  </a:lnTo>
                  <a:lnTo>
                    <a:pt x="141338" y="116205"/>
                  </a:lnTo>
                  <a:lnTo>
                    <a:pt x="149796" y="113284"/>
                  </a:lnTo>
                  <a:lnTo>
                    <a:pt x="153987" y="111633"/>
                  </a:lnTo>
                  <a:lnTo>
                    <a:pt x="158153" y="109855"/>
                  </a:lnTo>
                  <a:lnTo>
                    <a:pt x="162331" y="108204"/>
                  </a:lnTo>
                  <a:lnTo>
                    <a:pt x="166319" y="106045"/>
                  </a:lnTo>
                  <a:lnTo>
                    <a:pt x="170383" y="104013"/>
                  </a:lnTo>
                  <a:lnTo>
                    <a:pt x="174383" y="101727"/>
                  </a:lnTo>
                  <a:lnTo>
                    <a:pt x="176580" y="100584"/>
                  </a:lnTo>
                  <a:lnTo>
                    <a:pt x="178739" y="99314"/>
                  </a:lnTo>
                  <a:lnTo>
                    <a:pt x="182994" y="96520"/>
                  </a:lnTo>
                  <a:lnTo>
                    <a:pt x="187363" y="94234"/>
                  </a:lnTo>
                  <a:lnTo>
                    <a:pt x="198628" y="94234"/>
                  </a:lnTo>
                  <a:lnTo>
                    <a:pt x="198628" y="2667"/>
                  </a:lnTo>
                  <a:lnTo>
                    <a:pt x="179146" y="0"/>
                  </a:lnTo>
                  <a:lnTo>
                    <a:pt x="178993" y="0"/>
                  </a:lnTo>
                  <a:lnTo>
                    <a:pt x="131419" y="6350"/>
                  </a:lnTo>
                  <a:lnTo>
                    <a:pt x="88658" y="24384"/>
                  </a:lnTo>
                  <a:lnTo>
                    <a:pt x="52438" y="52451"/>
                  </a:lnTo>
                  <a:lnTo>
                    <a:pt x="24447" y="88646"/>
                  </a:lnTo>
                  <a:lnTo>
                    <a:pt x="6388" y="131318"/>
                  </a:lnTo>
                  <a:lnTo>
                    <a:pt x="0" y="178943"/>
                  </a:lnTo>
                  <a:lnTo>
                    <a:pt x="6388" y="226441"/>
                  </a:lnTo>
                  <a:lnTo>
                    <a:pt x="24447" y="269240"/>
                  </a:lnTo>
                  <a:lnTo>
                    <a:pt x="52438" y="305435"/>
                  </a:lnTo>
                  <a:lnTo>
                    <a:pt x="88658" y="333375"/>
                  </a:lnTo>
                  <a:lnTo>
                    <a:pt x="131419" y="351409"/>
                  </a:lnTo>
                  <a:lnTo>
                    <a:pt x="178993" y="357886"/>
                  </a:lnTo>
                  <a:lnTo>
                    <a:pt x="226580" y="351409"/>
                  </a:lnTo>
                  <a:lnTo>
                    <a:pt x="269341" y="333375"/>
                  </a:lnTo>
                  <a:lnTo>
                    <a:pt x="305562" y="305435"/>
                  </a:lnTo>
                  <a:lnTo>
                    <a:pt x="333552" y="269240"/>
                  </a:lnTo>
                  <a:lnTo>
                    <a:pt x="339598" y="254889"/>
                  </a:lnTo>
                  <a:lnTo>
                    <a:pt x="351586" y="226441"/>
                  </a:lnTo>
                  <a:lnTo>
                    <a:pt x="357974" y="178943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633086" y="2516504"/>
            <a:ext cx="37426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Segoe UI"/>
                <a:cs typeface="Segoe UI"/>
              </a:rPr>
              <a:t>2</a:t>
            </a:r>
            <a:r>
              <a:rPr sz="1200" b="1" spc="-30" dirty="0">
                <a:latin typeface="Segoe UI"/>
                <a:cs typeface="Segoe UI"/>
              </a:rPr>
              <a:t> </a:t>
            </a:r>
            <a:r>
              <a:rPr sz="1200" b="1" dirty="0">
                <a:latin typeface="Segoe UI"/>
                <a:cs typeface="Segoe UI"/>
              </a:rPr>
              <a:t>:</a:t>
            </a:r>
            <a:r>
              <a:rPr sz="1200" b="1" spc="-25" dirty="0">
                <a:latin typeface="Segoe UI"/>
                <a:cs typeface="Segoe UI"/>
              </a:rPr>
              <a:t> </a:t>
            </a:r>
            <a:r>
              <a:rPr sz="1200" b="1" spc="-10" dirty="0">
                <a:latin typeface="Segoe UI"/>
                <a:cs typeface="Segoe UI"/>
              </a:rPr>
              <a:t>Utiliser</a:t>
            </a:r>
            <a:r>
              <a:rPr sz="1200" b="1" spc="-75" dirty="0">
                <a:latin typeface="Segoe UI"/>
                <a:cs typeface="Segoe UI"/>
              </a:rPr>
              <a:t> </a:t>
            </a:r>
            <a:r>
              <a:rPr sz="1200" b="1" dirty="0">
                <a:latin typeface="Segoe UI"/>
                <a:cs typeface="Segoe UI"/>
              </a:rPr>
              <a:t>la</a:t>
            </a:r>
            <a:r>
              <a:rPr sz="1200" b="1" spc="-5" dirty="0">
                <a:latin typeface="Segoe UI"/>
                <a:cs typeface="Segoe UI"/>
              </a:rPr>
              <a:t> </a:t>
            </a:r>
            <a:r>
              <a:rPr sz="1200" b="1" spc="-10" dirty="0">
                <a:latin typeface="Segoe UI"/>
                <a:cs typeface="Segoe UI"/>
              </a:rPr>
              <a:t>poignée</a:t>
            </a:r>
            <a:r>
              <a:rPr sz="1200" b="1" spc="-30" dirty="0">
                <a:latin typeface="Segoe UI"/>
                <a:cs typeface="Segoe UI"/>
              </a:rPr>
              <a:t> </a:t>
            </a:r>
            <a:r>
              <a:rPr sz="1200" b="1" dirty="0">
                <a:latin typeface="Segoe UI"/>
                <a:cs typeface="Segoe UI"/>
              </a:rPr>
              <a:t>jaune pour</a:t>
            </a:r>
            <a:r>
              <a:rPr sz="1200" b="1" spc="-15" dirty="0">
                <a:latin typeface="Segoe UI"/>
                <a:cs typeface="Segoe UI"/>
              </a:rPr>
              <a:t> </a:t>
            </a:r>
            <a:r>
              <a:rPr sz="1200" b="1" spc="-10" dirty="0">
                <a:latin typeface="Segoe UI"/>
                <a:cs typeface="Segoe UI"/>
              </a:rPr>
              <a:t>modifier</a:t>
            </a:r>
            <a:r>
              <a:rPr sz="1200" b="1" spc="-55" dirty="0">
                <a:latin typeface="Segoe UI"/>
                <a:cs typeface="Segoe UI"/>
              </a:rPr>
              <a:t> </a:t>
            </a:r>
            <a:r>
              <a:rPr sz="1200" b="1" dirty="0">
                <a:latin typeface="Segoe UI"/>
                <a:cs typeface="Segoe UI"/>
              </a:rPr>
              <a:t>la</a:t>
            </a:r>
            <a:r>
              <a:rPr sz="1200" b="1" spc="-15" dirty="0">
                <a:latin typeface="Segoe UI"/>
                <a:cs typeface="Segoe UI"/>
              </a:rPr>
              <a:t> </a:t>
            </a:r>
            <a:r>
              <a:rPr sz="1200" b="1" spc="-10" dirty="0">
                <a:latin typeface="Segoe UI"/>
                <a:cs typeface="Segoe UI"/>
              </a:rPr>
              <a:t>hauteur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4840" y="778763"/>
            <a:ext cx="4628515" cy="5300980"/>
            <a:chOff x="624840" y="778763"/>
            <a:chExt cx="4628515" cy="5300980"/>
          </a:xfrm>
        </p:grpSpPr>
        <p:sp>
          <p:nvSpPr>
            <p:cNvPr id="3" name="object 3"/>
            <p:cNvSpPr/>
            <p:nvPr/>
          </p:nvSpPr>
          <p:spPr>
            <a:xfrm>
              <a:off x="624840" y="778763"/>
              <a:ext cx="4628515" cy="5300980"/>
            </a:xfrm>
            <a:custGeom>
              <a:avLst/>
              <a:gdLst/>
              <a:ahLst/>
              <a:cxnLst/>
              <a:rect l="l" t="t" r="r" b="b"/>
              <a:pathLst>
                <a:path w="4628515" h="5300980">
                  <a:moveTo>
                    <a:pt x="4628388" y="0"/>
                  </a:moveTo>
                  <a:lnTo>
                    <a:pt x="0" y="0"/>
                  </a:lnTo>
                  <a:lnTo>
                    <a:pt x="0" y="5300472"/>
                  </a:lnTo>
                  <a:lnTo>
                    <a:pt x="4628388" y="5300472"/>
                  </a:lnTo>
                  <a:lnTo>
                    <a:pt x="46283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96315" y="3571112"/>
              <a:ext cx="1239520" cy="0"/>
            </a:xfrm>
            <a:custGeom>
              <a:avLst/>
              <a:gdLst/>
              <a:ahLst/>
              <a:cxnLst/>
              <a:rect l="l" t="t" r="r" b="b"/>
              <a:pathLst>
                <a:path w="1239520">
                  <a:moveTo>
                    <a:pt x="0" y="0"/>
                  </a:moveTo>
                  <a:lnTo>
                    <a:pt x="1239266" y="0"/>
                  </a:lnTo>
                </a:path>
              </a:pathLst>
            </a:custGeom>
            <a:ln w="57150">
              <a:solidFill>
                <a:srgbClr val="549F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30551" y="5447537"/>
              <a:ext cx="1239774" cy="51892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24840" y="778763"/>
            <a:ext cx="4628515" cy="5300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2000">
              <a:latin typeface="Times New Roman"/>
              <a:cs typeface="Times New Roman"/>
            </a:endParaRPr>
          </a:p>
          <a:p>
            <a:pPr marL="114300">
              <a:lnSpc>
                <a:spcPts val="2305"/>
              </a:lnSpc>
              <a:spcBef>
                <a:spcPts val="5"/>
              </a:spcBef>
            </a:pPr>
            <a:r>
              <a:rPr sz="2000" b="1" dirty="0">
                <a:solidFill>
                  <a:srgbClr val="549FDB"/>
                </a:solidFill>
                <a:latin typeface="Arial"/>
                <a:cs typeface="Arial"/>
              </a:rPr>
              <a:t>2.</a:t>
            </a:r>
            <a:r>
              <a:rPr sz="2000" b="1" spc="-80" dirty="0">
                <a:solidFill>
                  <a:srgbClr val="549FD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49FDB"/>
                </a:solidFill>
                <a:latin typeface="Arial"/>
                <a:cs typeface="Arial"/>
              </a:rPr>
              <a:t>Objets</a:t>
            </a:r>
            <a:r>
              <a:rPr sz="2000" b="1" spc="-95" dirty="0">
                <a:solidFill>
                  <a:srgbClr val="549FD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49FDB"/>
                </a:solidFill>
                <a:latin typeface="Arial"/>
                <a:cs typeface="Arial"/>
              </a:rPr>
              <a:t>de</a:t>
            </a:r>
            <a:r>
              <a:rPr sz="2000" b="1" spc="-40" dirty="0">
                <a:solidFill>
                  <a:srgbClr val="549FD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49FDB"/>
                </a:solidFill>
                <a:latin typeface="Arial"/>
                <a:cs typeface="Arial"/>
              </a:rPr>
              <a:t>flux</a:t>
            </a:r>
            <a:r>
              <a:rPr sz="2000" b="1" spc="-75" dirty="0">
                <a:solidFill>
                  <a:srgbClr val="549FD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49FDB"/>
                </a:solidFill>
                <a:latin typeface="Arial"/>
                <a:cs typeface="Arial"/>
              </a:rPr>
              <a:t>:</a:t>
            </a:r>
            <a:r>
              <a:rPr sz="2000" b="1" spc="-40" dirty="0">
                <a:solidFill>
                  <a:srgbClr val="549FDB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549FDB"/>
                </a:solidFill>
                <a:latin typeface="Arial"/>
                <a:cs typeface="Arial"/>
              </a:rPr>
              <a:t>Tâches/Activités</a:t>
            </a:r>
            <a:endParaRPr sz="2000">
              <a:latin typeface="Arial"/>
              <a:cs typeface="Arial"/>
            </a:endParaRPr>
          </a:p>
          <a:p>
            <a:pPr marL="406400" indent="-294005">
              <a:lnSpc>
                <a:spcPts val="2285"/>
              </a:lnSpc>
              <a:buSzPct val="111111"/>
              <a:buAutoNum type="arabicParenR"/>
              <a:tabLst>
                <a:tab pos="406400" algn="l"/>
              </a:tabLst>
            </a:pPr>
            <a:r>
              <a:rPr sz="1800" spc="-10" dirty="0">
                <a:solidFill>
                  <a:srgbClr val="549FDB"/>
                </a:solidFill>
                <a:latin typeface="Arial MT"/>
                <a:cs typeface="Arial MT"/>
              </a:rPr>
              <a:t>Définition</a:t>
            </a:r>
            <a:endParaRPr sz="1800">
              <a:latin typeface="Arial MT"/>
              <a:cs typeface="Arial MT"/>
            </a:endParaRPr>
          </a:p>
          <a:p>
            <a:pPr marL="380365" indent="-267970">
              <a:lnSpc>
                <a:spcPts val="2140"/>
              </a:lnSpc>
              <a:buAutoNum type="arabicParenR"/>
              <a:tabLst>
                <a:tab pos="380365" algn="l"/>
              </a:tabLst>
            </a:pPr>
            <a:r>
              <a:rPr sz="1800" spc="-10" dirty="0">
                <a:solidFill>
                  <a:srgbClr val="549FDB"/>
                </a:solidFill>
                <a:latin typeface="Arial MT"/>
                <a:cs typeface="Arial MT"/>
              </a:rPr>
              <a:t>Liaisons</a:t>
            </a:r>
            <a:endParaRPr sz="1800">
              <a:latin typeface="Arial MT"/>
              <a:cs typeface="Arial MT"/>
            </a:endParaRPr>
          </a:p>
          <a:p>
            <a:pPr marL="379730" indent="-267335">
              <a:lnSpc>
                <a:spcPct val="100000"/>
              </a:lnSpc>
              <a:buAutoNum type="arabicParenR"/>
              <a:tabLst>
                <a:tab pos="379730" algn="l"/>
              </a:tabLst>
            </a:pPr>
            <a:r>
              <a:rPr sz="1800" dirty="0">
                <a:solidFill>
                  <a:srgbClr val="549FDB"/>
                </a:solidFill>
                <a:latin typeface="Arial MT"/>
                <a:cs typeface="Arial MT"/>
              </a:rPr>
              <a:t>Tâche</a:t>
            </a:r>
            <a:r>
              <a:rPr sz="1800" spc="-110" dirty="0">
                <a:solidFill>
                  <a:srgbClr val="549FDB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49FDB"/>
                </a:solidFill>
                <a:latin typeface="Arial MT"/>
                <a:cs typeface="Arial MT"/>
              </a:rPr>
              <a:t>générique</a:t>
            </a:r>
            <a:endParaRPr sz="1800">
              <a:latin typeface="Arial MT"/>
              <a:cs typeface="Arial MT"/>
            </a:endParaRPr>
          </a:p>
          <a:p>
            <a:pPr marL="380365" indent="-267970">
              <a:lnSpc>
                <a:spcPct val="100000"/>
              </a:lnSpc>
              <a:buAutoNum type="arabicParenR"/>
              <a:tabLst>
                <a:tab pos="380365" algn="l"/>
              </a:tabLst>
            </a:pPr>
            <a:r>
              <a:rPr sz="1800" dirty="0">
                <a:solidFill>
                  <a:srgbClr val="549FDB"/>
                </a:solidFill>
                <a:latin typeface="Arial MT"/>
                <a:cs typeface="Arial MT"/>
              </a:rPr>
              <a:t>Tâches</a:t>
            </a:r>
            <a:r>
              <a:rPr sz="1800" spc="-85" dirty="0">
                <a:solidFill>
                  <a:srgbClr val="549FDB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49FDB"/>
                </a:solidFill>
                <a:latin typeface="Arial MT"/>
                <a:cs typeface="Arial MT"/>
              </a:rPr>
              <a:t>spécialisées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" y="698500"/>
            <a:ext cx="12198350" cy="6159500"/>
            <a:chOff x="-1" y="698500"/>
            <a:chExt cx="12198350" cy="6159500"/>
          </a:xfrm>
        </p:grpSpPr>
        <p:sp>
          <p:nvSpPr>
            <p:cNvPr id="3" name="object 3"/>
            <p:cNvSpPr/>
            <p:nvPr/>
          </p:nvSpPr>
          <p:spPr>
            <a:xfrm>
              <a:off x="6348" y="704850"/>
              <a:ext cx="12185650" cy="5652135"/>
            </a:xfrm>
            <a:custGeom>
              <a:avLst/>
              <a:gdLst/>
              <a:ahLst/>
              <a:cxnLst/>
              <a:rect l="l" t="t" r="r" b="b"/>
              <a:pathLst>
                <a:path w="12185650" h="5652135">
                  <a:moveTo>
                    <a:pt x="12185651" y="0"/>
                  </a:moveTo>
                  <a:lnTo>
                    <a:pt x="0" y="0"/>
                  </a:lnTo>
                  <a:lnTo>
                    <a:pt x="0" y="5651754"/>
                  </a:lnTo>
                  <a:lnTo>
                    <a:pt x="12185651" y="5651754"/>
                  </a:lnTo>
                  <a:lnTo>
                    <a:pt x="121856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348" y="704850"/>
              <a:ext cx="12185650" cy="5652135"/>
            </a:xfrm>
            <a:custGeom>
              <a:avLst/>
              <a:gdLst/>
              <a:ahLst/>
              <a:cxnLst/>
              <a:rect l="l" t="t" r="r" b="b"/>
              <a:pathLst>
                <a:path w="12185650" h="5652135">
                  <a:moveTo>
                    <a:pt x="12185651" y="0"/>
                  </a:moveTo>
                  <a:lnTo>
                    <a:pt x="0" y="0"/>
                  </a:lnTo>
                  <a:lnTo>
                    <a:pt x="0" y="5651754"/>
                  </a:lnTo>
                  <a:lnTo>
                    <a:pt x="12185651" y="5651754"/>
                  </a:lnTo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8130" y="72898"/>
            <a:ext cx="11734800" cy="2797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0695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242424"/>
                </a:solidFill>
                <a:latin typeface="Segoe UI Semibold"/>
                <a:cs typeface="Segoe UI Semibold"/>
              </a:rPr>
              <a:t>Objets</a:t>
            </a:r>
            <a:r>
              <a:rPr sz="1400" spc="-70" dirty="0">
                <a:solidFill>
                  <a:srgbClr val="242424"/>
                </a:solidFill>
                <a:latin typeface="Segoe UI Semibold"/>
                <a:cs typeface="Segoe UI Semibold"/>
              </a:rPr>
              <a:t> </a:t>
            </a:r>
            <a:r>
              <a:rPr sz="1400" dirty="0">
                <a:solidFill>
                  <a:srgbClr val="242424"/>
                </a:solidFill>
                <a:latin typeface="Segoe UI Semibold"/>
                <a:cs typeface="Segoe UI Semibold"/>
              </a:rPr>
              <a:t>de</a:t>
            </a:r>
            <a:r>
              <a:rPr sz="1400" spc="-30" dirty="0">
                <a:solidFill>
                  <a:srgbClr val="242424"/>
                </a:solidFill>
                <a:latin typeface="Segoe UI Semibold"/>
                <a:cs typeface="Segoe UI Semibold"/>
              </a:rPr>
              <a:t> </a:t>
            </a:r>
            <a:r>
              <a:rPr sz="1400" spc="-20" dirty="0">
                <a:solidFill>
                  <a:srgbClr val="242424"/>
                </a:solidFill>
                <a:latin typeface="Segoe UI Semibold"/>
                <a:cs typeface="Segoe UI Semibold"/>
              </a:rPr>
              <a:t>flux</a:t>
            </a:r>
            <a:endParaRPr sz="1400">
              <a:latin typeface="Segoe UI Semibold"/>
              <a:cs typeface="Segoe UI Semibold"/>
            </a:endParaRPr>
          </a:p>
          <a:p>
            <a:pPr marL="480695">
              <a:lnSpc>
                <a:spcPct val="100000"/>
              </a:lnSpc>
              <a:spcBef>
                <a:spcPts val="80"/>
              </a:spcBef>
            </a:pPr>
            <a:r>
              <a:rPr sz="1800" spc="-10" dirty="0">
                <a:solidFill>
                  <a:srgbClr val="FFFFFF"/>
                </a:solidFill>
                <a:latin typeface="Segoe UI Semibold"/>
                <a:cs typeface="Segoe UI Semibold"/>
              </a:rPr>
              <a:t>Définition</a:t>
            </a:r>
            <a:endParaRPr sz="1800">
              <a:latin typeface="Segoe UI Semibold"/>
              <a:cs typeface="Segoe UI Semibold"/>
            </a:endParaRPr>
          </a:p>
          <a:p>
            <a:pPr marL="241300" marR="1464310" indent="-228600">
              <a:lnSpc>
                <a:spcPct val="100000"/>
              </a:lnSpc>
              <a:spcBef>
                <a:spcPts val="151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b="1" dirty="0">
                <a:latin typeface="Segoe UI"/>
                <a:cs typeface="Segoe UI"/>
              </a:rPr>
              <a:t>BPMN</a:t>
            </a:r>
            <a:r>
              <a:rPr sz="2000" b="1" spc="-9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présente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spc="-35" dirty="0">
                <a:latin typeface="Segoe UI"/>
                <a:cs typeface="Segoe UI"/>
              </a:rPr>
              <a:t>l’avantage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de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ne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pas</a:t>
            </a:r>
            <a:r>
              <a:rPr sz="2000" spc="-7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être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aussi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«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rigoriste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»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qu’UML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en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ce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qui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concerne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la </a:t>
            </a:r>
            <a:r>
              <a:rPr sz="2000" spc="-10" dirty="0">
                <a:latin typeface="Segoe UI"/>
                <a:cs typeface="Segoe UI"/>
              </a:rPr>
              <a:t>représentation.</a:t>
            </a:r>
            <a:endParaRPr sz="2000">
              <a:latin typeface="Segoe UI"/>
              <a:cs typeface="Segoe UI"/>
            </a:endParaRPr>
          </a:p>
          <a:p>
            <a:pPr marL="241300">
              <a:lnSpc>
                <a:spcPct val="100000"/>
              </a:lnSpc>
            </a:pPr>
            <a:r>
              <a:rPr sz="2000" spc="-70" dirty="0">
                <a:latin typeface="Segoe UI"/>
                <a:cs typeface="Segoe UI"/>
              </a:rPr>
              <a:t>L’objectif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est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de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rendre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compréhensible</a:t>
            </a:r>
            <a:r>
              <a:rPr sz="2000" b="1" spc="-7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le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processus</a:t>
            </a:r>
            <a:r>
              <a:rPr sz="2000" dirty="0">
                <a:latin typeface="Segoe UI"/>
                <a:cs typeface="Segoe UI"/>
              </a:rPr>
              <a:t> par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tous</a:t>
            </a:r>
            <a:r>
              <a:rPr sz="2000" b="1" spc="-6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les</a:t>
            </a:r>
            <a:r>
              <a:rPr sz="2000" b="1" spc="-55" dirty="0">
                <a:latin typeface="Segoe UI"/>
                <a:cs typeface="Segoe UI"/>
              </a:rPr>
              <a:t> </a:t>
            </a:r>
            <a:r>
              <a:rPr sz="2000" b="1" spc="-10" dirty="0">
                <a:latin typeface="Segoe UI"/>
                <a:cs typeface="Segoe UI"/>
              </a:rPr>
              <a:t>acteurs</a:t>
            </a:r>
            <a:r>
              <a:rPr sz="2000" spc="-10" dirty="0">
                <a:latin typeface="Segoe UI"/>
                <a:cs typeface="Segoe UI"/>
              </a:rPr>
              <a:t>.</a:t>
            </a:r>
            <a:endParaRPr sz="20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Segoe UI"/>
                <a:cs typeface="Segoe UI"/>
              </a:rPr>
              <a:t>Les</a:t>
            </a:r>
            <a:r>
              <a:rPr sz="2000" spc="-6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tâches</a:t>
            </a:r>
            <a:r>
              <a:rPr sz="2000" b="1" spc="-9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sont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un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type</a:t>
            </a:r>
            <a:r>
              <a:rPr sz="2000" spc="-75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d’activité</a:t>
            </a:r>
            <a:r>
              <a:rPr sz="2000" spc="-8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qui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ne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peut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pas</a:t>
            </a:r>
            <a:r>
              <a:rPr sz="2000" spc="-7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être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décomposé.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On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parle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d’</a:t>
            </a:r>
            <a:r>
              <a:rPr sz="2000" b="1" dirty="0">
                <a:latin typeface="Segoe UI"/>
                <a:cs typeface="Segoe UI"/>
              </a:rPr>
              <a:t>unité</a:t>
            </a:r>
            <a:r>
              <a:rPr sz="2000" b="1" spc="-5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élémentaire</a:t>
            </a:r>
            <a:r>
              <a:rPr sz="2000" dirty="0">
                <a:latin typeface="Segoe UI"/>
                <a:cs typeface="Segoe UI"/>
              </a:rPr>
              <a:t>.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spc="-20" dirty="0">
                <a:latin typeface="Segoe UI"/>
                <a:cs typeface="Segoe UI"/>
              </a:rPr>
              <a:t>Pour</a:t>
            </a:r>
            <a:endParaRPr sz="2000">
              <a:latin typeface="Segoe UI"/>
              <a:cs typeface="Segoe UI"/>
            </a:endParaRPr>
          </a:p>
          <a:p>
            <a:pPr marL="241300">
              <a:lnSpc>
                <a:spcPct val="100000"/>
              </a:lnSpc>
            </a:pPr>
            <a:r>
              <a:rPr sz="2000" dirty="0">
                <a:latin typeface="Segoe UI"/>
                <a:cs typeface="Segoe UI"/>
              </a:rPr>
              <a:t>distinguer</a:t>
            </a:r>
            <a:r>
              <a:rPr sz="2000" spc="-7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sa</a:t>
            </a:r>
            <a:r>
              <a:rPr sz="2000" spc="-7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nature</a:t>
            </a:r>
            <a:r>
              <a:rPr sz="2000" dirty="0">
                <a:latin typeface="Segoe UI"/>
                <a:cs typeface="Segoe UI"/>
              </a:rPr>
              <a:t>,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des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b="1" spc="-10" dirty="0">
                <a:latin typeface="Segoe UI"/>
                <a:cs typeface="Segoe UI"/>
              </a:rPr>
              <a:t>pictogrammes</a:t>
            </a:r>
            <a:r>
              <a:rPr sz="2000" b="1" spc="-9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peuvent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être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ajoutés.</a:t>
            </a:r>
            <a:endParaRPr sz="20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Segoe UI"/>
                <a:cs typeface="Segoe UI"/>
              </a:rPr>
              <a:t>Nous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utiliserons</a:t>
            </a:r>
            <a:r>
              <a:rPr sz="200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principalement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les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types</a:t>
            </a:r>
            <a:r>
              <a:rPr sz="2000" spc="-80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d’activités/tâches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suivants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spc="-50" dirty="0">
                <a:latin typeface="Segoe UI"/>
                <a:cs typeface="Segoe UI"/>
              </a:rPr>
              <a:t>: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555367" y="3155950"/>
            <a:ext cx="5935345" cy="2724150"/>
            <a:chOff x="2555367" y="3155950"/>
            <a:chExt cx="5935345" cy="272415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5367" y="3155950"/>
              <a:ext cx="5935217" cy="272415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629400" y="4191000"/>
              <a:ext cx="1861185" cy="304800"/>
            </a:xfrm>
            <a:custGeom>
              <a:avLst/>
              <a:gdLst/>
              <a:ahLst/>
              <a:cxnLst/>
              <a:rect l="l" t="t" r="r" b="b"/>
              <a:pathLst>
                <a:path w="1861184" h="304800">
                  <a:moveTo>
                    <a:pt x="1861184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861184" y="304800"/>
                  </a:lnTo>
                  <a:lnTo>
                    <a:pt x="1861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815708" y="4218813"/>
            <a:ext cx="14884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Envoi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message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19600" y="4178680"/>
            <a:ext cx="2139950" cy="304800"/>
          </a:xfrm>
          <a:custGeom>
            <a:avLst/>
            <a:gdLst/>
            <a:ahLst/>
            <a:cxnLst/>
            <a:rect l="l" t="t" r="r" b="b"/>
            <a:pathLst>
              <a:path w="2139950" h="304800">
                <a:moveTo>
                  <a:pt x="2139696" y="0"/>
                </a:moveTo>
                <a:lnTo>
                  <a:pt x="0" y="0"/>
                </a:lnTo>
                <a:lnTo>
                  <a:pt x="0" y="304800"/>
                </a:lnTo>
                <a:lnTo>
                  <a:pt x="2139696" y="304800"/>
                </a:lnTo>
                <a:lnTo>
                  <a:pt x="21396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568190" y="4206621"/>
            <a:ext cx="18434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Réception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message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5968" y="698880"/>
            <a:ext cx="12204700" cy="6159500"/>
            <a:chOff x="-5968" y="698880"/>
            <a:chExt cx="12204700" cy="6159500"/>
          </a:xfrm>
        </p:grpSpPr>
        <p:sp>
          <p:nvSpPr>
            <p:cNvPr id="3" name="object 3"/>
            <p:cNvSpPr/>
            <p:nvPr/>
          </p:nvSpPr>
          <p:spPr>
            <a:xfrm>
              <a:off x="381" y="705230"/>
              <a:ext cx="12192000" cy="5652135"/>
            </a:xfrm>
            <a:custGeom>
              <a:avLst/>
              <a:gdLst/>
              <a:ahLst/>
              <a:cxnLst/>
              <a:rect l="l" t="t" r="r" b="b"/>
              <a:pathLst>
                <a:path w="12192000" h="5652135">
                  <a:moveTo>
                    <a:pt x="12191619" y="0"/>
                  </a:moveTo>
                  <a:lnTo>
                    <a:pt x="0" y="0"/>
                  </a:lnTo>
                  <a:lnTo>
                    <a:pt x="0" y="5651754"/>
                  </a:lnTo>
                  <a:lnTo>
                    <a:pt x="12191619" y="5651754"/>
                  </a:lnTo>
                  <a:lnTo>
                    <a:pt x="121916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1" y="705230"/>
              <a:ext cx="12192000" cy="5652135"/>
            </a:xfrm>
            <a:custGeom>
              <a:avLst/>
              <a:gdLst/>
              <a:ahLst/>
              <a:cxnLst/>
              <a:rect l="l" t="t" r="r" b="b"/>
              <a:pathLst>
                <a:path w="12192000" h="5652135">
                  <a:moveTo>
                    <a:pt x="0" y="5651754"/>
                  </a:moveTo>
                  <a:lnTo>
                    <a:pt x="12192000" y="5651754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65175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8130" y="72898"/>
            <a:ext cx="11054080" cy="3190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9425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242424"/>
                </a:solidFill>
                <a:latin typeface="Segoe UI Semibold"/>
                <a:cs typeface="Segoe UI Semibold"/>
              </a:rPr>
              <a:t>Objets</a:t>
            </a:r>
            <a:r>
              <a:rPr sz="1400" spc="-70" dirty="0">
                <a:solidFill>
                  <a:srgbClr val="242424"/>
                </a:solidFill>
                <a:latin typeface="Segoe UI Semibold"/>
                <a:cs typeface="Segoe UI Semibold"/>
              </a:rPr>
              <a:t> </a:t>
            </a:r>
            <a:r>
              <a:rPr sz="1400" dirty="0">
                <a:solidFill>
                  <a:srgbClr val="242424"/>
                </a:solidFill>
                <a:latin typeface="Segoe UI Semibold"/>
                <a:cs typeface="Segoe UI Semibold"/>
              </a:rPr>
              <a:t>de</a:t>
            </a:r>
            <a:r>
              <a:rPr sz="1400" spc="-30" dirty="0">
                <a:solidFill>
                  <a:srgbClr val="242424"/>
                </a:solidFill>
                <a:latin typeface="Segoe UI Semibold"/>
                <a:cs typeface="Segoe UI Semibold"/>
              </a:rPr>
              <a:t> </a:t>
            </a:r>
            <a:r>
              <a:rPr sz="1400" spc="-20" dirty="0">
                <a:solidFill>
                  <a:srgbClr val="242424"/>
                </a:solidFill>
                <a:latin typeface="Segoe UI Semibold"/>
                <a:cs typeface="Segoe UI Semibold"/>
              </a:rPr>
              <a:t>flux</a:t>
            </a:r>
            <a:endParaRPr sz="1400">
              <a:latin typeface="Segoe UI Semibold"/>
              <a:cs typeface="Segoe UI Semibold"/>
            </a:endParaRPr>
          </a:p>
          <a:p>
            <a:pPr marL="479425">
              <a:lnSpc>
                <a:spcPct val="100000"/>
              </a:lnSpc>
              <a:spcBef>
                <a:spcPts val="90"/>
              </a:spcBef>
            </a:pPr>
            <a:r>
              <a:rPr sz="1800" dirty="0">
                <a:solidFill>
                  <a:srgbClr val="FFFFFF"/>
                </a:solidFill>
                <a:latin typeface="Segoe UI Semibold"/>
                <a:cs typeface="Segoe UI Semibold"/>
              </a:rPr>
              <a:t>Liaison</a:t>
            </a:r>
            <a:r>
              <a:rPr sz="1800" spc="-80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Semibold"/>
                <a:cs typeface="Segoe UI Semibold"/>
              </a:rPr>
              <a:t>entre</a:t>
            </a:r>
            <a:r>
              <a:rPr sz="1800" spc="-55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Semibold"/>
                <a:cs typeface="Segoe UI Semibold"/>
              </a:rPr>
              <a:t>les</a:t>
            </a:r>
            <a:r>
              <a:rPr sz="1800" spc="-45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Semibold"/>
                <a:cs typeface="Segoe UI Semibold"/>
              </a:rPr>
              <a:t>objets</a:t>
            </a:r>
            <a:r>
              <a:rPr sz="1800" spc="-45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Segoe UI Semibold"/>
                <a:cs typeface="Segoe UI Semibold"/>
              </a:rPr>
              <a:t>BPMN</a:t>
            </a:r>
            <a:endParaRPr sz="1800">
              <a:latin typeface="Segoe UI Semibold"/>
              <a:cs typeface="Segoe UI Semibold"/>
            </a:endParaRPr>
          </a:p>
          <a:p>
            <a:pPr marL="241300" marR="5080" indent="-228600">
              <a:lnSpc>
                <a:spcPct val="78900"/>
              </a:lnSpc>
              <a:spcBef>
                <a:spcPts val="1465"/>
              </a:spcBef>
              <a:buFont typeface="Arial MT"/>
              <a:buChar char="•"/>
              <a:tabLst>
                <a:tab pos="241300" algn="l"/>
              </a:tabLst>
            </a:pPr>
            <a:r>
              <a:rPr sz="1900" dirty="0">
                <a:latin typeface="Segoe UI"/>
                <a:cs typeface="Segoe UI"/>
              </a:rPr>
              <a:t>Un</a:t>
            </a:r>
            <a:r>
              <a:rPr sz="1900" spc="-40" dirty="0">
                <a:latin typeface="Segoe UI"/>
                <a:cs typeface="Segoe UI"/>
              </a:rPr>
              <a:t> </a:t>
            </a:r>
            <a:r>
              <a:rPr sz="1900" spc="-10" dirty="0">
                <a:latin typeface="Segoe UI"/>
                <a:cs typeface="Segoe UI"/>
              </a:rPr>
              <a:t>processus,</a:t>
            </a:r>
            <a:r>
              <a:rPr sz="1900" spc="-6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dans</a:t>
            </a:r>
            <a:r>
              <a:rPr sz="1900" spc="-4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un</a:t>
            </a:r>
            <a:r>
              <a:rPr sz="1900" spc="-1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diagramme</a:t>
            </a:r>
            <a:r>
              <a:rPr sz="1900" spc="-6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BPMN,</a:t>
            </a:r>
            <a:r>
              <a:rPr sz="1900" spc="-50" dirty="0">
                <a:latin typeface="Segoe UI"/>
                <a:cs typeface="Segoe UI"/>
              </a:rPr>
              <a:t> </a:t>
            </a:r>
            <a:r>
              <a:rPr sz="1900" spc="-20" dirty="0">
                <a:latin typeface="Segoe UI"/>
                <a:cs typeface="Segoe UI"/>
              </a:rPr>
              <a:t>représente</a:t>
            </a:r>
            <a:r>
              <a:rPr sz="1900" spc="-6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un</a:t>
            </a:r>
            <a:r>
              <a:rPr sz="1900" spc="-45" dirty="0">
                <a:latin typeface="Segoe UI"/>
                <a:cs typeface="Segoe UI"/>
              </a:rPr>
              <a:t> </a:t>
            </a:r>
            <a:r>
              <a:rPr sz="1900" spc="-10" dirty="0">
                <a:latin typeface="Segoe UI"/>
                <a:cs typeface="Segoe UI"/>
              </a:rPr>
              <a:t>enchaînement</a:t>
            </a:r>
            <a:r>
              <a:rPr sz="1900" spc="-7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de</a:t>
            </a:r>
            <a:r>
              <a:rPr sz="1900" spc="-2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tâches</a:t>
            </a:r>
            <a:r>
              <a:rPr sz="1900" spc="-8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liées</a:t>
            </a:r>
            <a:r>
              <a:rPr sz="1900" spc="-4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par</a:t>
            </a:r>
            <a:r>
              <a:rPr sz="1900" spc="-6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des</a:t>
            </a:r>
            <a:r>
              <a:rPr sz="1900" spc="-35" dirty="0">
                <a:latin typeface="Segoe UI"/>
                <a:cs typeface="Segoe UI"/>
              </a:rPr>
              <a:t> </a:t>
            </a:r>
            <a:r>
              <a:rPr sz="1900" b="1" spc="-10" dirty="0">
                <a:latin typeface="Segoe UI"/>
                <a:cs typeface="Segoe UI"/>
              </a:rPr>
              <a:t>flèches directionnelles</a:t>
            </a:r>
            <a:r>
              <a:rPr sz="1900" spc="-10" dirty="0">
                <a:latin typeface="Segoe UI"/>
                <a:cs typeface="Segoe UI"/>
              </a:rPr>
              <a:t>.</a:t>
            </a:r>
            <a:endParaRPr sz="19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dirty="0">
                <a:latin typeface="Segoe UI"/>
                <a:cs typeface="Segoe UI"/>
              </a:rPr>
              <a:t>Via</a:t>
            </a:r>
            <a:r>
              <a:rPr sz="1900" spc="-5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le</a:t>
            </a:r>
            <a:r>
              <a:rPr sz="1900" spc="-40" dirty="0">
                <a:latin typeface="Segoe UI"/>
                <a:cs typeface="Segoe UI"/>
              </a:rPr>
              <a:t> </a:t>
            </a:r>
            <a:r>
              <a:rPr sz="1900" spc="-10" dirty="0">
                <a:latin typeface="Segoe UI"/>
                <a:cs typeface="Segoe UI"/>
              </a:rPr>
              <a:t>panneau</a:t>
            </a:r>
            <a:r>
              <a:rPr sz="1900" spc="-4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à</a:t>
            </a:r>
            <a:r>
              <a:rPr sz="1900" spc="-45" dirty="0">
                <a:latin typeface="Segoe UI"/>
                <a:cs typeface="Segoe UI"/>
              </a:rPr>
              <a:t> </a:t>
            </a:r>
            <a:r>
              <a:rPr sz="1900" spc="-10" dirty="0">
                <a:latin typeface="Segoe UI"/>
                <a:cs typeface="Segoe UI"/>
              </a:rPr>
              <a:t>droite,</a:t>
            </a:r>
            <a:r>
              <a:rPr sz="1900" spc="-25" dirty="0">
                <a:latin typeface="Segoe UI"/>
                <a:cs typeface="Segoe UI"/>
              </a:rPr>
              <a:t> </a:t>
            </a:r>
            <a:r>
              <a:rPr sz="1900" spc="-30" dirty="0">
                <a:latin typeface="Segoe UI"/>
                <a:cs typeface="Segoe UI"/>
              </a:rPr>
              <a:t>Draw.io</a:t>
            </a:r>
            <a:r>
              <a:rPr sz="1900" spc="-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permet</a:t>
            </a:r>
            <a:r>
              <a:rPr sz="1900" spc="-7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de</a:t>
            </a:r>
            <a:r>
              <a:rPr sz="1900" spc="-3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définir</a:t>
            </a:r>
            <a:r>
              <a:rPr sz="1900" spc="-40" dirty="0">
                <a:latin typeface="Segoe UI"/>
                <a:cs typeface="Segoe UI"/>
              </a:rPr>
              <a:t> </a:t>
            </a:r>
            <a:r>
              <a:rPr sz="1900" b="1" spc="-25" dirty="0">
                <a:latin typeface="Segoe UI"/>
                <a:cs typeface="Segoe UI"/>
              </a:rPr>
              <a:t>l’aspect</a:t>
            </a:r>
            <a:r>
              <a:rPr sz="1900" b="1" spc="-80" dirty="0">
                <a:latin typeface="Segoe UI"/>
                <a:cs typeface="Segoe UI"/>
              </a:rPr>
              <a:t> </a:t>
            </a:r>
            <a:r>
              <a:rPr sz="1900" spc="-10" dirty="0">
                <a:latin typeface="Segoe UI"/>
                <a:cs typeface="Segoe UI"/>
              </a:rPr>
              <a:t>d’une/des</a:t>
            </a:r>
            <a:r>
              <a:rPr sz="1900" spc="-9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flèche(s)dans</a:t>
            </a:r>
            <a:r>
              <a:rPr sz="1900" spc="-75" dirty="0">
                <a:latin typeface="Segoe UI"/>
                <a:cs typeface="Segoe UI"/>
              </a:rPr>
              <a:t> </a:t>
            </a:r>
            <a:r>
              <a:rPr sz="1900" spc="-40" dirty="0">
                <a:latin typeface="Segoe UI"/>
                <a:cs typeface="Segoe UI"/>
              </a:rPr>
              <a:t>l’onglet</a:t>
            </a:r>
            <a:r>
              <a:rPr sz="1900" spc="-3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«</a:t>
            </a:r>
            <a:r>
              <a:rPr sz="1900" spc="-40" dirty="0">
                <a:latin typeface="Segoe UI"/>
                <a:cs typeface="Segoe UI"/>
              </a:rPr>
              <a:t> </a:t>
            </a:r>
            <a:r>
              <a:rPr sz="1900" b="1" spc="-10" dirty="0">
                <a:latin typeface="Segoe UI"/>
                <a:cs typeface="Segoe UI"/>
              </a:rPr>
              <a:t>Style</a:t>
            </a:r>
            <a:r>
              <a:rPr sz="1900" b="1" spc="-85" dirty="0">
                <a:latin typeface="Segoe UI"/>
                <a:cs typeface="Segoe UI"/>
              </a:rPr>
              <a:t> </a:t>
            </a:r>
            <a:r>
              <a:rPr sz="1900" spc="-25" dirty="0">
                <a:latin typeface="Segoe UI"/>
                <a:cs typeface="Segoe UI"/>
              </a:rPr>
              <a:t>».</a:t>
            </a:r>
            <a:endParaRPr sz="19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dirty="0">
                <a:latin typeface="Segoe UI"/>
                <a:cs typeface="Segoe UI"/>
              </a:rPr>
              <a:t>Les</a:t>
            </a:r>
            <a:r>
              <a:rPr sz="1900" spc="-4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flèches</a:t>
            </a:r>
            <a:r>
              <a:rPr sz="1900" spc="-6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«</a:t>
            </a:r>
            <a:r>
              <a:rPr sz="1900" spc="-25" dirty="0">
                <a:latin typeface="Segoe UI"/>
                <a:cs typeface="Segoe UI"/>
              </a:rPr>
              <a:t> </a:t>
            </a:r>
            <a:r>
              <a:rPr sz="1900" b="1" spc="-25" dirty="0">
                <a:latin typeface="Segoe UI"/>
                <a:cs typeface="Segoe UI"/>
              </a:rPr>
              <a:t>s’accrochent</a:t>
            </a:r>
            <a:r>
              <a:rPr sz="1900" b="1" spc="-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»</a:t>
            </a:r>
            <a:r>
              <a:rPr sz="1900" spc="-2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aux</a:t>
            </a:r>
            <a:r>
              <a:rPr sz="1900" spc="-25" dirty="0">
                <a:latin typeface="Segoe UI"/>
                <a:cs typeface="Segoe UI"/>
              </a:rPr>
              <a:t> </a:t>
            </a:r>
            <a:r>
              <a:rPr sz="1900" spc="-20" dirty="0">
                <a:latin typeface="Segoe UI"/>
                <a:cs typeface="Segoe UI"/>
              </a:rPr>
              <a:t>(nombreuses) </a:t>
            </a:r>
            <a:r>
              <a:rPr sz="1900" b="1" dirty="0">
                <a:latin typeface="Segoe UI"/>
                <a:cs typeface="Segoe UI"/>
              </a:rPr>
              <a:t>poignées</a:t>
            </a:r>
            <a:r>
              <a:rPr sz="1900" b="1" spc="-8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des</a:t>
            </a:r>
            <a:r>
              <a:rPr sz="1900" spc="-25" dirty="0">
                <a:latin typeface="Segoe UI"/>
                <a:cs typeface="Segoe UI"/>
              </a:rPr>
              <a:t> </a:t>
            </a:r>
            <a:r>
              <a:rPr sz="1900" spc="-10" dirty="0">
                <a:latin typeface="Segoe UI"/>
                <a:cs typeface="Segoe UI"/>
              </a:rPr>
              <a:t>objets.</a:t>
            </a:r>
            <a:endParaRPr sz="19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dirty="0">
                <a:latin typeface="Segoe UI"/>
                <a:cs typeface="Segoe UI"/>
              </a:rPr>
              <a:t>Elles</a:t>
            </a:r>
            <a:r>
              <a:rPr sz="1900" spc="-6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sont</a:t>
            </a:r>
            <a:r>
              <a:rPr sz="1900" spc="-45" dirty="0">
                <a:latin typeface="Segoe UI"/>
                <a:cs typeface="Segoe UI"/>
              </a:rPr>
              <a:t> </a:t>
            </a:r>
            <a:r>
              <a:rPr sz="1900" b="1" spc="-10" dirty="0">
                <a:latin typeface="Segoe UI"/>
                <a:cs typeface="Segoe UI"/>
              </a:rPr>
              <a:t>modifiables</a:t>
            </a:r>
            <a:r>
              <a:rPr sz="1900" b="1" spc="-9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en</a:t>
            </a:r>
            <a:r>
              <a:rPr sz="1900" spc="-3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les</a:t>
            </a:r>
            <a:r>
              <a:rPr sz="1900" spc="-4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sélectionnant</a:t>
            </a:r>
            <a:r>
              <a:rPr sz="1900" spc="-5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et</a:t>
            </a:r>
            <a:r>
              <a:rPr sz="1900" spc="-2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en</a:t>
            </a:r>
            <a:r>
              <a:rPr sz="1900" spc="-3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agissant</a:t>
            </a:r>
            <a:r>
              <a:rPr sz="1900" spc="-5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sur</a:t>
            </a:r>
            <a:r>
              <a:rPr sz="1900" spc="-4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un</a:t>
            </a:r>
            <a:r>
              <a:rPr sz="1900" spc="-3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de</a:t>
            </a:r>
            <a:r>
              <a:rPr sz="1900" spc="-2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leurs</a:t>
            </a:r>
            <a:r>
              <a:rPr sz="1900" spc="-35" dirty="0">
                <a:latin typeface="Segoe UI"/>
                <a:cs typeface="Segoe UI"/>
              </a:rPr>
              <a:t> </a:t>
            </a:r>
            <a:r>
              <a:rPr sz="1900" b="1" spc="-10" dirty="0">
                <a:latin typeface="Segoe UI"/>
                <a:cs typeface="Segoe UI"/>
              </a:rPr>
              <a:t>repères</a:t>
            </a:r>
            <a:r>
              <a:rPr sz="1900" spc="-10" dirty="0">
                <a:latin typeface="Segoe UI"/>
                <a:cs typeface="Segoe UI"/>
              </a:rPr>
              <a:t>.</a:t>
            </a:r>
            <a:endParaRPr sz="1900">
              <a:latin typeface="Segoe UI"/>
              <a:cs typeface="Segoe UI"/>
            </a:endParaRPr>
          </a:p>
          <a:p>
            <a:pPr marL="241300" marR="4128135" indent="-228600">
              <a:lnSpc>
                <a:spcPct val="789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1900" dirty="0">
                <a:latin typeface="Segoe UI"/>
                <a:cs typeface="Segoe UI"/>
              </a:rPr>
              <a:t>Si</a:t>
            </a:r>
            <a:r>
              <a:rPr sz="1900" spc="-5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le</a:t>
            </a:r>
            <a:r>
              <a:rPr sz="1900" spc="-4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chemin</a:t>
            </a:r>
            <a:r>
              <a:rPr sz="1900" spc="-7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d’une</a:t>
            </a:r>
            <a:r>
              <a:rPr sz="1900" spc="-6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flèche</a:t>
            </a:r>
            <a:r>
              <a:rPr sz="1900" spc="-6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devient</a:t>
            </a:r>
            <a:r>
              <a:rPr sz="1900" spc="-3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erratique</a:t>
            </a:r>
            <a:r>
              <a:rPr sz="1900" spc="-8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ou</a:t>
            </a:r>
            <a:r>
              <a:rPr sz="1900" spc="-4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trop</a:t>
            </a:r>
            <a:r>
              <a:rPr sz="1900" spc="-60" dirty="0">
                <a:latin typeface="Segoe UI"/>
                <a:cs typeface="Segoe UI"/>
              </a:rPr>
              <a:t> </a:t>
            </a:r>
            <a:r>
              <a:rPr sz="1900" b="1" spc="-10" dirty="0">
                <a:latin typeface="Segoe UI"/>
                <a:cs typeface="Segoe UI"/>
              </a:rPr>
              <a:t>complexe</a:t>
            </a:r>
            <a:r>
              <a:rPr sz="1900" b="1" spc="-35" dirty="0">
                <a:latin typeface="Segoe UI"/>
                <a:cs typeface="Segoe UI"/>
              </a:rPr>
              <a:t> </a:t>
            </a:r>
            <a:r>
              <a:rPr sz="1900" spc="-50" dirty="0">
                <a:latin typeface="Segoe UI"/>
                <a:cs typeface="Segoe UI"/>
              </a:rPr>
              <a:t>: </a:t>
            </a:r>
            <a:r>
              <a:rPr sz="1900" dirty="0">
                <a:latin typeface="Segoe UI"/>
                <a:cs typeface="Segoe UI"/>
              </a:rPr>
              <a:t>Onglet</a:t>
            </a:r>
            <a:r>
              <a:rPr sz="1900" spc="-25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«</a:t>
            </a:r>
            <a:r>
              <a:rPr sz="1900" b="1" spc="-50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Organiser</a:t>
            </a:r>
            <a:r>
              <a:rPr sz="1900" b="1" spc="-90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»</a:t>
            </a:r>
            <a:r>
              <a:rPr sz="1900" b="1" spc="-70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&gt;</a:t>
            </a:r>
            <a:r>
              <a:rPr sz="1900" b="1" spc="-55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Supprimer</a:t>
            </a:r>
            <a:r>
              <a:rPr sz="1900" b="1" spc="-100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les</a:t>
            </a:r>
            <a:r>
              <a:rPr sz="1900" b="1" spc="-70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repères</a:t>
            </a:r>
            <a:r>
              <a:rPr sz="1900" b="1" spc="-4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la</a:t>
            </a:r>
            <a:r>
              <a:rPr sz="1900" spc="-40" dirty="0">
                <a:latin typeface="Segoe UI"/>
                <a:cs typeface="Segoe UI"/>
              </a:rPr>
              <a:t> </a:t>
            </a:r>
            <a:r>
              <a:rPr sz="1900" spc="-10" dirty="0">
                <a:latin typeface="Segoe UI"/>
                <a:cs typeface="Segoe UI"/>
              </a:rPr>
              <a:t>réinitialisera.</a:t>
            </a:r>
            <a:endParaRPr sz="19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spc="-20" dirty="0">
                <a:latin typeface="Segoe UI"/>
                <a:cs typeface="Segoe UI"/>
              </a:rPr>
              <a:t>Pour</a:t>
            </a:r>
            <a:r>
              <a:rPr sz="1900" spc="-40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ajouter</a:t>
            </a:r>
            <a:r>
              <a:rPr sz="1900" b="1" spc="-60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un</a:t>
            </a:r>
            <a:r>
              <a:rPr sz="1900" b="1" spc="-55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libellé</a:t>
            </a:r>
            <a:r>
              <a:rPr sz="1900" b="1" spc="-9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à</a:t>
            </a:r>
            <a:r>
              <a:rPr sz="1900" spc="-3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une</a:t>
            </a:r>
            <a:r>
              <a:rPr sz="1900" spc="-3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flèche,</a:t>
            </a:r>
            <a:r>
              <a:rPr sz="1900" spc="-6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la</a:t>
            </a:r>
            <a:r>
              <a:rPr sz="1900" spc="-2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sélectionner</a:t>
            </a:r>
            <a:r>
              <a:rPr sz="1900" spc="-7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puis</a:t>
            </a:r>
            <a:r>
              <a:rPr sz="1900" spc="-6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taper</a:t>
            </a:r>
            <a:r>
              <a:rPr sz="1900" spc="-6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le</a:t>
            </a:r>
            <a:r>
              <a:rPr sz="1900" spc="-35" dirty="0">
                <a:latin typeface="Segoe UI"/>
                <a:cs typeface="Segoe UI"/>
              </a:rPr>
              <a:t> </a:t>
            </a:r>
            <a:r>
              <a:rPr sz="1900" spc="-10" dirty="0">
                <a:latin typeface="Segoe UI"/>
                <a:cs typeface="Segoe UI"/>
              </a:rPr>
              <a:t>libellé.</a:t>
            </a:r>
            <a:endParaRPr sz="1900">
              <a:latin typeface="Segoe UI"/>
              <a:cs typeface="Segoe U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12826" y="1664589"/>
            <a:ext cx="11494135" cy="4620260"/>
            <a:chOff x="512826" y="1664589"/>
            <a:chExt cx="11494135" cy="462026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43871" y="1674114"/>
              <a:ext cx="2353055" cy="460095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639045" y="1669351"/>
              <a:ext cx="2362835" cy="4610735"/>
            </a:xfrm>
            <a:custGeom>
              <a:avLst/>
              <a:gdLst/>
              <a:ahLst/>
              <a:cxnLst/>
              <a:rect l="l" t="t" r="r" b="b"/>
              <a:pathLst>
                <a:path w="2362834" h="4610735">
                  <a:moveTo>
                    <a:pt x="0" y="4610481"/>
                  </a:moveTo>
                  <a:lnTo>
                    <a:pt x="2362580" y="4610481"/>
                  </a:lnTo>
                  <a:lnTo>
                    <a:pt x="2362580" y="0"/>
                  </a:lnTo>
                  <a:lnTo>
                    <a:pt x="0" y="0"/>
                  </a:lnTo>
                  <a:lnTo>
                    <a:pt x="0" y="4610481"/>
                  </a:lnTo>
                  <a:close/>
                </a:path>
              </a:pathLst>
            </a:custGeom>
            <a:ln w="9525">
              <a:solidFill>
                <a:srgbClr val="2D53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2826" y="3760470"/>
              <a:ext cx="6897624" cy="2514600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5968" y="698880"/>
            <a:ext cx="12204700" cy="6159500"/>
            <a:chOff x="-5968" y="698880"/>
            <a:chExt cx="12204700" cy="6159500"/>
          </a:xfrm>
        </p:grpSpPr>
        <p:sp>
          <p:nvSpPr>
            <p:cNvPr id="3" name="object 3"/>
            <p:cNvSpPr/>
            <p:nvPr/>
          </p:nvSpPr>
          <p:spPr>
            <a:xfrm>
              <a:off x="381" y="705230"/>
              <a:ext cx="12192000" cy="5652135"/>
            </a:xfrm>
            <a:custGeom>
              <a:avLst/>
              <a:gdLst/>
              <a:ahLst/>
              <a:cxnLst/>
              <a:rect l="l" t="t" r="r" b="b"/>
              <a:pathLst>
                <a:path w="12192000" h="5652135">
                  <a:moveTo>
                    <a:pt x="12191619" y="0"/>
                  </a:moveTo>
                  <a:lnTo>
                    <a:pt x="0" y="0"/>
                  </a:lnTo>
                  <a:lnTo>
                    <a:pt x="0" y="5651754"/>
                  </a:lnTo>
                  <a:lnTo>
                    <a:pt x="12191619" y="5651754"/>
                  </a:lnTo>
                  <a:lnTo>
                    <a:pt x="121916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1" y="705230"/>
              <a:ext cx="12192000" cy="5652135"/>
            </a:xfrm>
            <a:custGeom>
              <a:avLst/>
              <a:gdLst/>
              <a:ahLst/>
              <a:cxnLst/>
              <a:rect l="l" t="t" r="r" b="b"/>
              <a:pathLst>
                <a:path w="12192000" h="5652135">
                  <a:moveTo>
                    <a:pt x="0" y="5651754"/>
                  </a:moveTo>
                  <a:lnTo>
                    <a:pt x="12192000" y="5651754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65175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0640" y="72898"/>
            <a:ext cx="10267315" cy="2236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689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242424"/>
                </a:solidFill>
                <a:latin typeface="Segoe UI Semibold"/>
                <a:cs typeface="Segoe UI Semibold"/>
              </a:rPr>
              <a:t>Objets</a:t>
            </a:r>
            <a:r>
              <a:rPr sz="1400" spc="-70" dirty="0">
                <a:solidFill>
                  <a:srgbClr val="242424"/>
                </a:solidFill>
                <a:latin typeface="Segoe UI Semibold"/>
                <a:cs typeface="Segoe UI Semibold"/>
              </a:rPr>
              <a:t> </a:t>
            </a:r>
            <a:r>
              <a:rPr sz="1400" dirty="0">
                <a:solidFill>
                  <a:srgbClr val="242424"/>
                </a:solidFill>
                <a:latin typeface="Segoe UI Semibold"/>
                <a:cs typeface="Segoe UI Semibold"/>
              </a:rPr>
              <a:t>de</a:t>
            </a:r>
            <a:r>
              <a:rPr sz="1400" spc="-30" dirty="0">
                <a:solidFill>
                  <a:srgbClr val="242424"/>
                </a:solidFill>
                <a:latin typeface="Segoe UI Semibold"/>
                <a:cs typeface="Segoe UI Semibold"/>
              </a:rPr>
              <a:t> </a:t>
            </a:r>
            <a:r>
              <a:rPr sz="1400" spc="-20" dirty="0">
                <a:solidFill>
                  <a:srgbClr val="242424"/>
                </a:solidFill>
                <a:latin typeface="Segoe UI Semibold"/>
                <a:cs typeface="Segoe UI Semibold"/>
              </a:rPr>
              <a:t>flux</a:t>
            </a:r>
            <a:endParaRPr sz="1400">
              <a:latin typeface="Segoe UI Semibold"/>
              <a:cs typeface="Segoe UI Semibold"/>
            </a:endParaRPr>
          </a:p>
          <a:p>
            <a:pPr marL="516890">
              <a:lnSpc>
                <a:spcPct val="100000"/>
              </a:lnSpc>
              <a:spcBef>
                <a:spcPts val="90"/>
              </a:spcBef>
            </a:pPr>
            <a:r>
              <a:rPr sz="1800" spc="-20" dirty="0">
                <a:solidFill>
                  <a:srgbClr val="FFFFFF"/>
                </a:solidFill>
                <a:latin typeface="Segoe UI Semibold"/>
                <a:cs typeface="Segoe UI Semibold"/>
              </a:rPr>
              <a:t>Activités/Tâches</a:t>
            </a:r>
            <a:r>
              <a:rPr sz="1800" spc="-30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Semibold"/>
                <a:cs typeface="Segoe UI Semibold"/>
              </a:rPr>
              <a:t>génériques</a:t>
            </a:r>
            <a:endParaRPr sz="1800">
              <a:latin typeface="Segoe UI Semibold"/>
              <a:cs typeface="Segoe UI Semibold"/>
            </a:endParaRPr>
          </a:p>
          <a:p>
            <a:pPr marL="278765" indent="-227965">
              <a:lnSpc>
                <a:spcPct val="100000"/>
              </a:lnSpc>
              <a:spcBef>
                <a:spcPts val="1470"/>
              </a:spcBef>
              <a:buFont typeface="Arial MT"/>
              <a:buChar char="•"/>
              <a:tabLst>
                <a:tab pos="278765" algn="l"/>
              </a:tabLst>
            </a:pPr>
            <a:r>
              <a:rPr sz="2000" b="1" spc="-75" dirty="0">
                <a:latin typeface="Segoe UI"/>
                <a:cs typeface="Segoe UI"/>
              </a:rPr>
              <a:t>Tâche</a:t>
            </a:r>
            <a:r>
              <a:rPr sz="2000" b="1" spc="-65" dirty="0">
                <a:latin typeface="Segoe UI"/>
                <a:cs typeface="Segoe UI"/>
              </a:rPr>
              <a:t> </a:t>
            </a:r>
            <a:r>
              <a:rPr sz="2000" b="1" spc="-10" dirty="0">
                <a:latin typeface="Segoe UI"/>
                <a:cs typeface="Segoe UI"/>
              </a:rPr>
              <a:t>générique</a:t>
            </a:r>
            <a:endParaRPr sz="2000">
              <a:latin typeface="Segoe UI"/>
              <a:cs typeface="Segoe UI"/>
            </a:endParaRPr>
          </a:p>
          <a:p>
            <a:pPr marL="279400">
              <a:lnSpc>
                <a:spcPct val="100000"/>
              </a:lnSpc>
            </a:pPr>
            <a:r>
              <a:rPr sz="2000" dirty="0">
                <a:latin typeface="Segoe UI"/>
                <a:cs typeface="Segoe UI"/>
              </a:rPr>
              <a:t>La</a:t>
            </a:r>
            <a:r>
              <a:rPr sz="2000" spc="-7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plus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couramment</a:t>
            </a:r>
            <a:r>
              <a:rPr sz="2000" spc="-7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utilisée.</a:t>
            </a:r>
            <a:endParaRPr sz="2000">
              <a:latin typeface="Segoe UI"/>
              <a:cs typeface="Segoe UI"/>
            </a:endParaRPr>
          </a:p>
          <a:p>
            <a:pPr marL="279400">
              <a:lnSpc>
                <a:spcPct val="100000"/>
              </a:lnSpc>
            </a:pPr>
            <a:r>
              <a:rPr sz="2000" dirty="0">
                <a:latin typeface="Segoe UI"/>
                <a:cs typeface="Segoe UI"/>
              </a:rPr>
              <a:t>Elle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est</a:t>
            </a:r>
            <a:r>
              <a:rPr sz="2000" spc="-8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représentée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par</a:t>
            </a:r>
            <a:r>
              <a:rPr sz="2000" spc="-10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un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rectangle</a:t>
            </a:r>
            <a:r>
              <a:rPr sz="2000" b="1" spc="-8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arrondi</a:t>
            </a:r>
            <a:r>
              <a:rPr sz="2000" b="1" spc="-8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vide.</a:t>
            </a:r>
            <a:endParaRPr sz="2000">
              <a:latin typeface="Segoe UI"/>
              <a:cs typeface="Segoe UI"/>
            </a:endParaRPr>
          </a:p>
          <a:p>
            <a:pPr marL="279400">
              <a:lnSpc>
                <a:spcPct val="100000"/>
              </a:lnSpc>
            </a:pPr>
            <a:r>
              <a:rPr sz="2000" dirty="0">
                <a:latin typeface="Segoe UI"/>
                <a:cs typeface="Segoe UI"/>
              </a:rPr>
              <a:t>On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y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indique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la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nature</a:t>
            </a:r>
            <a:r>
              <a:rPr sz="2000" b="1" spc="-3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de</a:t>
            </a:r>
            <a:r>
              <a:rPr sz="2000" b="1" spc="-40" dirty="0">
                <a:latin typeface="Segoe UI"/>
                <a:cs typeface="Segoe UI"/>
              </a:rPr>
              <a:t> </a:t>
            </a:r>
            <a:r>
              <a:rPr sz="2000" b="1" spc="-25" dirty="0">
                <a:latin typeface="Segoe UI"/>
                <a:cs typeface="Segoe UI"/>
              </a:rPr>
              <a:t>l’activité</a:t>
            </a:r>
            <a:r>
              <a:rPr sz="2000" b="1" spc="-8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du</a:t>
            </a:r>
            <a:r>
              <a:rPr sz="2000" b="1" spc="-3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point</a:t>
            </a:r>
            <a:r>
              <a:rPr sz="2000" b="1" spc="-8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de</a:t>
            </a:r>
            <a:r>
              <a:rPr sz="2000" b="1" spc="-4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vue</a:t>
            </a:r>
            <a:r>
              <a:rPr sz="2000" b="1" spc="-3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de</a:t>
            </a:r>
            <a:r>
              <a:rPr sz="2000" b="1" spc="-20" dirty="0">
                <a:latin typeface="Segoe UI"/>
                <a:cs typeface="Segoe UI"/>
              </a:rPr>
              <a:t> </a:t>
            </a:r>
            <a:r>
              <a:rPr sz="2000" b="1" spc="-30" dirty="0">
                <a:latin typeface="Segoe UI"/>
                <a:cs typeface="Segoe UI"/>
              </a:rPr>
              <a:t>l’acteur</a:t>
            </a:r>
            <a:r>
              <a:rPr sz="2000" b="1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défini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dans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la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swimlane.</a:t>
            </a:r>
            <a:endParaRPr sz="2000">
              <a:latin typeface="Segoe UI"/>
              <a:cs typeface="Segoe UI"/>
            </a:endParaRPr>
          </a:p>
          <a:p>
            <a:pPr marL="2794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Segoe UI"/>
                <a:cs typeface="Segoe UI"/>
              </a:rPr>
              <a:t>On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utilise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un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verbe</a:t>
            </a:r>
            <a:r>
              <a:rPr sz="2000" b="1" spc="-1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à</a:t>
            </a:r>
            <a:r>
              <a:rPr sz="2000" b="1" spc="-4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la</a:t>
            </a:r>
            <a:r>
              <a:rPr sz="2000" b="1" spc="-5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3</a:t>
            </a:r>
            <a:r>
              <a:rPr sz="1950" b="1" baseline="21367" dirty="0">
                <a:latin typeface="Segoe UI"/>
                <a:cs typeface="Segoe UI"/>
              </a:rPr>
              <a:t>ème</a:t>
            </a:r>
            <a:r>
              <a:rPr sz="1950" b="1" spc="284" baseline="21367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personne</a:t>
            </a:r>
            <a:r>
              <a:rPr sz="2000" b="1" spc="-4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de</a:t>
            </a:r>
            <a:r>
              <a:rPr sz="2000" b="1" spc="-30" dirty="0">
                <a:latin typeface="Segoe UI"/>
                <a:cs typeface="Segoe UI"/>
              </a:rPr>
              <a:t> </a:t>
            </a:r>
            <a:r>
              <a:rPr sz="2000" b="1" spc="-10" dirty="0">
                <a:latin typeface="Segoe UI"/>
                <a:cs typeface="Segoe UI"/>
              </a:rPr>
              <a:t>l’indicatif.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130" y="3933825"/>
            <a:ext cx="73482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Segoe UI"/>
                <a:cs typeface="Segoe UI"/>
              </a:rPr>
              <a:t>Elle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peut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être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complétée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par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des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artefacts</a:t>
            </a:r>
            <a:r>
              <a:rPr sz="2000" b="1" spc="-6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ou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des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b="1" spc="-10" dirty="0">
                <a:latin typeface="Segoe UI"/>
                <a:cs typeface="Segoe UI"/>
              </a:rPr>
              <a:t>annotations</a:t>
            </a:r>
            <a:r>
              <a:rPr sz="2000" spc="-10" dirty="0">
                <a:latin typeface="Segoe UI"/>
                <a:cs typeface="Segoe UI"/>
              </a:rPr>
              <a:t>.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689159" y="2338133"/>
            <a:ext cx="3736975" cy="4025900"/>
            <a:chOff x="3689159" y="2338133"/>
            <a:chExt cx="3736975" cy="40259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40757" y="2347721"/>
              <a:ext cx="1610106" cy="138150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535931" y="2342895"/>
              <a:ext cx="1619885" cy="1391285"/>
            </a:xfrm>
            <a:custGeom>
              <a:avLst/>
              <a:gdLst/>
              <a:ahLst/>
              <a:cxnLst/>
              <a:rect l="l" t="t" r="r" b="b"/>
              <a:pathLst>
                <a:path w="1619885" h="1391285">
                  <a:moveTo>
                    <a:pt x="0" y="1391030"/>
                  </a:moveTo>
                  <a:lnTo>
                    <a:pt x="1619631" y="1391030"/>
                  </a:lnTo>
                  <a:lnTo>
                    <a:pt x="1619631" y="0"/>
                  </a:lnTo>
                  <a:lnTo>
                    <a:pt x="0" y="0"/>
                  </a:lnTo>
                  <a:lnTo>
                    <a:pt x="0" y="1391030"/>
                  </a:lnTo>
                  <a:close/>
                </a:path>
              </a:pathLst>
            </a:custGeom>
            <a:ln w="9525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8747" y="4325111"/>
              <a:ext cx="3717798" cy="202920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693921" y="4320349"/>
              <a:ext cx="3727450" cy="2038985"/>
            </a:xfrm>
            <a:custGeom>
              <a:avLst/>
              <a:gdLst/>
              <a:ahLst/>
              <a:cxnLst/>
              <a:rect l="l" t="t" r="r" b="b"/>
              <a:pathLst>
                <a:path w="3727450" h="2038985">
                  <a:moveTo>
                    <a:pt x="0" y="2038731"/>
                  </a:moveTo>
                  <a:lnTo>
                    <a:pt x="3727323" y="2038731"/>
                  </a:lnTo>
                  <a:lnTo>
                    <a:pt x="3727323" y="0"/>
                  </a:lnTo>
                  <a:lnTo>
                    <a:pt x="0" y="0"/>
                  </a:lnTo>
                  <a:lnTo>
                    <a:pt x="0" y="2038731"/>
                  </a:lnTo>
                  <a:close/>
                </a:path>
              </a:pathLst>
            </a:custGeom>
            <a:ln w="9525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5968" y="698880"/>
            <a:ext cx="12204700" cy="6159500"/>
            <a:chOff x="-5968" y="698880"/>
            <a:chExt cx="12204700" cy="6159500"/>
          </a:xfrm>
        </p:grpSpPr>
        <p:sp>
          <p:nvSpPr>
            <p:cNvPr id="3" name="object 3"/>
            <p:cNvSpPr/>
            <p:nvPr/>
          </p:nvSpPr>
          <p:spPr>
            <a:xfrm>
              <a:off x="381" y="705230"/>
              <a:ext cx="12192000" cy="5652135"/>
            </a:xfrm>
            <a:custGeom>
              <a:avLst/>
              <a:gdLst/>
              <a:ahLst/>
              <a:cxnLst/>
              <a:rect l="l" t="t" r="r" b="b"/>
              <a:pathLst>
                <a:path w="12192000" h="5652135">
                  <a:moveTo>
                    <a:pt x="12191619" y="0"/>
                  </a:moveTo>
                  <a:lnTo>
                    <a:pt x="0" y="0"/>
                  </a:lnTo>
                  <a:lnTo>
                    <a:pt x="0" y="5651754"/>
                  </a:lnTo>
                  <a:lnTo>
                    <a:pt x="12191619" y="5651754"/>
                  </a:lnTo>
                  <a:lnTo>
                    <a:pt x="121916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1" y="705230"/>
              <a:ext cx="12192000" cy="5652135"/>
            </a:xfrm>
            <a:custGeom>
              <a:avLst/>
              <a:gdLst/>
              <a:ahLst/>
              <a:cxnLst/>
              <a:rect l="l" t="t" r="r" b="b"/>
              <a:pathLst>
                <a:path w="12192000" h="5652135">
                  <a:moveTo>
                    <a:pt x="0" y="5651754"/>
                  </a:moveTo>
                  <a:lnTo>
                    <a:pt x="12192000" y="5651754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65175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8130" y="72898"/>
            <a:ext cx="10147935" cy="1954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9425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242424"/>
                </a:solidFill>
                <a:latin typeface="Segoe UI Semibold"/>
                <a:cs typeface="Segoe UI Semibold"/>
              </a:rPr>
              <a:t>Objets</a:t>
            </a:r>
            <a:r>
              <a:rPr sz="1400" spc="-70" dirty="0">
                <a:solidFill>
                  <a:srgbClr val="242424"/>
                </a:solidFill>
                <a:latin typeface="Segoe UI Semibold"/>
                <a:cs typeface="Segoe UI Semibold"/>
              </a:rPr>
              <a:t> </a:t>
            </a:r>
            <a:r>
              <a:rPr sz="1400" dirty="0">
                <a:solidFill>
                  <a:srgbClr val="242424"/>
                </a:solidFill>
                <a:latin typeface="Segoe UI Semibold"/>
                <a:cs typeface="Segoe UI Semibold"/>
              </a:rPr>
              <a:t>de</a:t>
            </a:r>
            <a:r>
              <a:rPr sz="1400" spc="-30" dirty="0">
                <a:solidFill>
                  <a:srgbClr val="242424"/>
                </a:solidFill>
                <a:latin typeface="Segoe UI Semibold"/>
                <a:cs typeface="Segoe UI Semibold"/>
              </a:rPr>
              <a:t> </a:t>
            </a:r>
            <a:r>
              <a:rPr sz="1400" spc="-20" dirty="0">
                <a:solidFill>
                  <a:srgbClr val="242424"/>
                </a:solidFill>
                <a:latin typeface="Segoe UI Semibold"/>
                <a:cs typeface="Segoe UI Semibold"/>
              </a:rPr>
              <a:t>flux</a:t>
            </a:r>
            <a:endParaRPr sz="1400">
              <a:latin typeface="Segoe UI Semibold"/>
              <a:cs typeface="Segoe UI Semibold"/>
            </a:endParaRPr>
          </a:p>
          <a:p>
            <a:pPr marL="479425">
              <a:lnSpc>
                <a:spcPct val="100000"/>
              </a:lnSpc>
              <a:spcBef>
                <a:spcPts val="90"/>
              </a:spcBef>
            </a:pPr>
            <a:r>
              <a:rPr sz="1800" spc="-20" dirty="0">
                <a:solidFill>
                  <a:srgbClr val="FFFFFF"/>
                </a:solidFill>
                <a:latin typeface="Segoe UI Semibold"/>
                <a:cs typeface="Segoe UI Semibold"/>
              </a:rPr>
              <a:t>Activités/Tâches</a:t>
            </a:r>
            <a:r>
              <a:rPr sz="1800" spc="-30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Semibold"/>
                <a:cs typeface="Segoe UI Semibold"/>
              </a:rPr>
              <a:t>spécialisées</a:t>
            </a:r>
            <a:endParaRPr sz="1800">
              <a:latin typeface="Segoe UI Semibold"/>
              <a:cs typeface="Segoe UI Semibold"/>
            </a:endParaRPr>
          </a:p>
          <a:p>
            <a:pPr marL="240665" indent="-227965">
              <a:lnSpc>
                <a:spcPct val="100000"/>
              </a:lnSpc>
              <a:spcBef>
                <a:spcPts val="147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spc="-70" dirty="0">
                <a:latin typeface="Segoe UI"/>
                <a:cs typeface="Segoe UI"/>
              </a:rPr>
              <a:t>Tâches</a:t>
            </a:r>
            <a:r>
              <a:rPr sz="2000" b="1" spc="-40" dirty="0">
                <a:latin typeface="Segoe UI"/>
                <a:cs typeface="Segoe UI"/>
              </a:rPr>
              <a:t> </a:t>
            </a:r>
            <a:r>
              <a:rPr sz="2000" b="1" spc="-10" dirty="0">
                <a:latin typeface="Segoe UI"/>
                <a:cs typeface="Segoe UI"/>
              </a:rPr>
              <a:t>spécialisées</a:t>
            </a:r>
            <a:endParaRPr sz="2000">
              <a:latin typeface="Segoe UI"/>
              <a:cs typeface="Segoe UI"/>
            </a:endParaRPr>
          </a:p>
          <a:p>
            <a:pPr marL="241300">
              <a:lnSpc>
                <a:spcPct val="100000"/>
              </a:lnSpc>
            </a:pPr>
            <a:r>
              <a:rPr sz="2000" spc="-20" dirty="0">
                <a:latin typeface="Segoe UI"/>
                <a:cs typeface="Segoe UI"/>
              </a:rPr>
              <a:t>Par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souci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de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précision,</a:t>
            </a:r>
            <a:r>
              <a:rPr sz="2000" spc="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on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pourra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utiliser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des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symboles</a:t>
            </a:r>
            <a:r>
              <a:rPr sz="2000" spc="-7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spécifiques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pour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certaines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tâches.</a:t>
            </a:r>
            <a:endParaRPr sz="200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2580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b="1" dirty="0">
                <a:latin typeface="Segoe UI"/>
                <a:cs typeface="Segoe UI"/>
              </a:rPr>
              <a:t>Envoi</a:t>
            </a:r>
            <a:r>
              <a:rPr sz="2000" b="1" spc="-8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et</a:t>
            </a:r>
            <a:r>
              <a:rPr sz="2000" b="1" spc="-7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réception</a:t>
            </a:r>
            <a:r>
              <a:rPr sz="2000" b="1" spc="-8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de</a:t>
            </a:r>
            <a:r>
              <a:rPr sz="2000" b="1" spc="-75" dirty="0">
                <a:latin typeface="Segoe UI"/>
                <a:cs typeface="Segoe UI"/>
              </a:rPr>
              <a:t> </a:t>
            </a:r>
            <a:r>
              <a:rPr sz="2000" b="1" spc="-10" dirty="0">
                <a:latin typeface="Segoe UI"/>
                <a:cs typeface="Segoe UI"/>
              </a:rPr>
              <a:t>message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635" y="3933825"/>
            <a:ext cx="56083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spc="-10" dirty="0">
                <a:latin typeface="Segoe UI"/>
                <a:cs typeface="Segoe UI"/>
              </a:rPr>
              <a:t>Précision</a:t>
            </a:r>
            <a:r>
              <a:rPr sz="2000" b="1" spc="-10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du</a:t>
            </a:r>
            <a:r>
              <a:rPr sz="2000" b="1" spc="-2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moyen</a:t>
            </a:r>
            <a:r>
              <a:rPr sz="2000" b="1" spc="-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de</a:t>
            </a:r>
            <a:r>
              <a:rPr sz="2000" b="1" spc="-15" dirty="0">
                <a:latin typeface="Segoe UI"/>
                <a:cs typeface="Segoe UI"/>
              </a:rPr>
              <a:t> </a:t>
            </a:r>
            <a:r>
              <a:rPr sz="2000" b="1" spc="-10" dirty="0">
                <a:latin typeface="Segoe UI"/>
                <a:cs typeface="Segoe UI"/>
              </a:rPr>
              <a:t>réalisation</a:t>
            </a:r>
            <a:r>
              <a:rPr sz="2000" b="1" spc="-9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de</a:t>
            </a:r>
            <a:r>
              <a:rPr sz="2000" b="1" spc="-3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la</a:t>
            </a:r>
            <a:r>
              <a:rPr sz="2000" b="1" spc="-45" dirty="0">
                <a:latin typeface="Segoe UI"/>
                <a:cs typeface="Segoe UI"/>
              </a:rPr>
              <a:t> </a:t>
            </a:r>
            <a:r>
              <a:rPr sz="2000" b="1" spc="-10" dirty="0">
                <a:latin typeface="Segoe UI"/>
                <a:cs typeface="Segoe UI"/>
              </a:rPr>
              <a:t>tâche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81277" y="2133638"/>
            <a:ext cx="6182995" cy="4071620"/>
            <a:chOff x="1081277" y="2133638"/>
            <a:chExt cx="6182995" cy="407162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4450" y="2245741"/>
              <a:ext cx="4134612" cy="13906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1277" y="4604918"/>
              <a:ext cx="6182868" cy="16002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75104" y="2133638"/>
              <a:ext cx="3733800" cy="1120990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4840" y="778763"/>
            <a:ext cx="4628515" cy="5300980"/>
            <a:chOff x="624840" y="778763"/>
            <a:chExt cx="4628515" cy="5300980"/>
          </a:xfrm>
        </p:grpSpPr>
        <p:sp>
          <p:nvSpPr>
            <p:cNvPr id="3" name="object 3"/>
            <p:cNvSpPr/>
            <p:nvPr/>
          </p:nvSpPr>
          <p:spPr>
            <a:xfrm>
              <a:off x="624840" y="778763"/>
              <a:ext cx="4628515" cy="5300980"/>
            </a:xfrm>
            <a:custGeom>
              <a:avLst/>
              <a:gdLst/>
              <a:ahLst/>
              <a:cxnLst/>
              <a:rect l="l" t="t" r="r" b="b"/>
              <a:pathLst>
                <a:path w="4628515" h="5300980">
                  <a:moveTo>
                    <a:pt x="4628388" y="0"/>
                  </a:moveTo>
                  <a:lnTo>
                    <a:pt x="0" y="0"/>
                  </a:lnTo>
                  <a:lnTo>
                    <a:pt x="0" y="5300472"/>
                  </a:lnTo>
                  <a:lnTo>
                    <a:pt x="4628388" y="5300472"/>
                  </a:lnTo>
                  <a:lnTo>
                    <a:pt x="46283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96315" y="3571112"/>
              <a:ext cx="1239520" cy="0"/>
            </a:xfrm>
            <a:custGeom>
              <a:avLst/>
              <a:gdLst/>
              <a:ahLst/>
              <a:cxnLst/>
              <a:rect l="l" t="t" r="r" b="b"/>
              <a:pathLst>
                <a:path w="1239520">
                  <a:moveTo>
                    <a:pt x="0" y="0"/>
                  </a:moveTo>
                  <a:lnTo>
                    <a:pt x="1239266" y="0"/>
                  </a:lnTo>
                </a:path>
              </a:pathLst>
            </a:custGeom>
            <a:ln w="57150">
              <a:solidFill>
                <a:srgbClr val="549F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30551" y="5447537"/>
              <a:ext cx="1239774" cy="51892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24840" y="778763"/>
            <a:ext cx="4628515" cy="5300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5"/>
              </a:spcBef>
            </a:pPr>
            <a:endParaRPr sz="2000">
              <a:latin typeface="Times New Roman"/>
              <a:cs typeface="Times New Roman"/>
            </a:endParaRPr>
          </a:p>
          <a:p>
            <a:pPr marL="461645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549FDB"/>
                </a:solidFill>
                <a:latin typeface="Arial"/>
                <a:cs typeface="Arial"/>
              </a:rPr>
              <a:t>3.</a:t>
            </a:r>
            <a:r>
              <a:rPr sz="2000" b="1" spc="-130" dirty="0">
                <a:solidFill>
                  <a:srgbClr val="549FDB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549FDB"/>
                </a:solidFill>
                <a:latin typeface="Arial"/>
                <a:cs typeface="Arial"/>
              </a:rPr>
              <a:t>Passerelles</a:t>
            </a:r>
            <a:endParaRPr sz="2000">
              <a:latin typeface="Arial"/>
              <a:cs typeface="Arial"/>
            </a:endParaRPr>
          </a:p>
          <a:p>
            <a:pPr marL="757555" indent="-295910">
              <a:lnSpc>
                <a:spcPct val="100000"/>
              </a:lnSpc>
              <a:spcBef>
                <a:spcPts val="1210"/>
              </a:spcBef>
              <a:buSzPct val="111111"/>
              <a:buAutoNum type="arabicParenR"/>
              <a:tabLst>
                <a:tab pos="757555" algn="l"/>
              </a:tabLst>
            </a:pPr>
            <a:r>
              <a:rPr sz="1800" spc="-10" dirty="0">
                <a:solidFill>
                  <a:srgbClr val="549FDB"/>
                </a:solidFill>
                <a:latin typeface="Arial MT"/>
                <a:cs typeface="Arial MT"/>
              </a:rPr>
              <a:t>Exclusives</a:t>
            </a:r>
            <a:endParaRPr sz="1800">
              <a:latin typeface="Arial MT"/>
              <a:cs typeface="Arial MT"/>
            </a:endParaRPr>
          </a:p>
          <a:p>
            <a:pPr marL="727710" indent="-266065">
              <a:lnSpc>
                <a:spcPct val="100000"/>
              </a:lnSpc>
              <a:spcBef>
                <a:spcPts val="1350"/>
              </a:spcBef>
              <a:buAutoNum type="arabicParenR"/>
              <a:tabLst>
                <a:tab pos="727710" algn="l"/>
              </a:tabLst>
            </a:pPr>
            <a:r>
              <a:rPr sz="1800" spc="-10" dirty="0">
                <a:solidFill>
                  <a:srgbClr val="549FDB"/>
                </a:solidFill>
                <a:latin typeface="Arial MT"/>
                <a:cs typeface="Arial MT"/>
              </a:rPr>
              <a:t>Parallèles</a:t>
            </a:r>
            <a:endParaRPr sz="1800">
              <a:latin typeface="Arial MT"/>
              <a:cs typeface="Arial MT"/>
            </a:endParaRPr>
          </a:p>
          <a:p>
            <a:pPr marL="727710" indent="-266065">
              <a:lnSpc>
                <a:spcPct val="100000"/>
              </a:lnSpc>
              <a:spcBef>
                <a:spcPts val="1310"/>
              </a:spcBef>
              <a:buAutoNum type="arabicParenR"/>
              <a:tabLst>
                <a:tab pos="727710" algn="l"/>
              </a:tabLst>
            </a:pPr>
            <a:r>
              <a:rPr sz="1800" spc="-10" dirty="0">
                <a:solidFill>
                  <a:srgbClr val="549FDB"/>
                </a:solidFill>
                <a:latin typeface="Arial MT"/>
                <a:cs typeface="Arial MT"/>
              </a:rPr>
              <a:t>Passerelles</a:t>
            </a:r>
            <a:r>
              <a:rPr sz="1800" spc="-55" dirty="0">
                <a:solidFill>
                  <a:srgbClr val="549FD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49FDB"/>
                </a:solidFill>
                <a:latin typeface="Arial MT"/>
                <a:cs typeface="Arial MT"/>
              </a:rPr>
              <a:t>plus</a:t>
            </a:r>
            <a:r>
              <a:rPr sz="1800" spc="10" dirty="0">
                <a:solidFill>
                  <a:srgbClr val="549FDB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49FDB"/>
                </a:solidFill>
                <a:latin typeface="Arial MT"/>
                <a:cs typeface="Arial MT"/>
              </a:rPr>
              <a:t>complexes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5968" y="698880"/>
            <a:ext cx="12204700" cy="6159500"/>
            <a:chOff x="-5968" y="698880"/>
            <a:chExt cx="12204700" cy="6159500"/>
          </a:xfrm>
        </p:grpSpPr>
        <p:sp>
          <p:nvSpPr>
            <p:cNvPr id="3" name="object 3"/>
            <p:cNvSpPr/>
            <p:nvPr/>
          </p:nvSpPr>
          <p:spPr>
            <a:xfrm>
              <a:off x="381" y="705230"/>
              <a:ext cx="12192000" cy="5652135"/>
            </a:xfrm>
            <a:custGeom>
              <a:avLst/>
              <a:gdLst/>
              <a:ahLst/>
              <a:cxnLst/>
              <a:rect l="l" t="t" r="r" b="b"/>
              <a:pathLst>
                <a:path w="12192000" h="5652135">
                  <a:moveTo>
                    <a:pt x="12191619" y="0"/>
                  </a:moveTo>
                  <a:lnTo>
                    <a:pt x="0" y="0"/>
                  </a:lnTo>
                  <a:lnTo>
                    <a:pt x="0" y="5651754"/>
                  </a:lnTo>
                  <a:lnTo>
                    <a:pt x="12191619" y="5651754"/>
                  </a:lnTo>
                  <a:lnTo>
                    <a:pt x="121916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1" y="705230"/>
              <a:ext cx="12192000" cy="5652135"/>
            </a:xfrm>
            <a:custGeom>
              <a:avLst/>
              <a:gdLst/>
              <a:ahLst/>
              <a:cxnLst/>
              <a:rect l="l" t="t" r="r" b="b"/>
              <a:pathLst>
                <a:path w="12192000" h="5652135">
                  <a:moveTo>
                    <a:pt x="0" y="5651754"/>
                  </a:moveTo>
                  <a:lnTo>
                    <a:pt x="12192000" y="5651754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65175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8130" y="72898"/>
            <a:ext cx="11855450" cy="32912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0695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242424"/>
                </a:solidFill>
                <a:latin typeface="Segoe UI Semibold"/>
                <a:cs typeface="Segoe UI Semibold"/>
              </a:rPr>
              <a:t>Passerelles</a:t>
            </a:r>
            <a:endParaRPr sz="1400">
              <a:latin typeface="Segoe UI Semibold"/>
              <a:cs typeface="Segoe UI Semibold"/>
            </a:endParaRPr>
          </a:p>
          <a:p>
            <a:pPr marL="480695">
              <a:lnSpc>
                <a:spcPct val="100000"/>
              </a:lnSpc>
              <a:spcBef>
                <a:spcPts val="80"/>
              </a:spcBef>
            </a:pPr>
            <a:r>
              <a:rPr sz="1800" spc="-10" dirty="0">
                <a:solidFill>
                  <a:srgbClr val="FFFFFF"/>
                </a:solidFill>
                <a:latin typeface="Segoe UI Semibold"/>
                <a:cs typeface="Segoe UI Semibold"/>
              </a:rPr>
              <a:t>Définition</a:t>
            </a:r>
            <a:endParaRPr sz="1800">
              <a:latin typeface="Segoe UI Semibold"/>
              <a:cs typeface="Segoe UI Semibold"/>
            </a:endParaRPr>
          </a:p>
          <a:p>
            <a:pPr marL="240665" indent="-227965">
              <a:lnSpc>
                <a:spcPct val="100000"/>
              </a:lnSpc>
              <a:spcBef>
                <a:spcPts val="1989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Segoe UI"/>
                <a:cs typeface="Segoe UI"/>
              </a:rPr>
              <a:t>Les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b="1" spc="-10" dirty="0">
                <a:latin typeface="Segoe UI"/>
                <a:cs typeface="Segoe UI"/>
              </a:rPr>
              <a:t>passerelles</a:t>
            </a:r>
            <a:r>
              <a:rPr sz="2000" b="1" spc="-8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sont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spc="-20" dirty="0">
                <a:latin typeface="Segoe UI"/>
                <a:cs typeface="Segoe UI"/>
              </a:rPr>
              <a:t>représentées</a:t>
            </a:r>
            <a:r>
              <a:rPr sz="2000" spc="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sous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la</a:t>
            </a:r>
            <a:r>
              <a:rPr sz="2000" spc="-6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forme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schématisée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d’un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b="1" spc="-10" dirty="0">
                <a:latin typeface="Segoe UI"/>
                <a:cs typeface="Segoe UI"/>
              </a:rPr>
              <a:t>losange</a:t>
            </a:r>
            <a:r>
              <a:rPr sz="2000" spc="-10" dirty="0">
                <a:latin typeface="Segoe UI"/>
                <a:cs typeface="Segoe UI"/>
              </a:rPr>
              <a:t>.</a:t>
            </a:r>
            <a:endParaRPr sz="20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219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Segoe UI"/>
                <a:cs typeface="Segoe UI"/>
              </a:rPr>
              <a:t>Une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passerelle</a:t>
            </a:r>
            <a:r>
              <a:rPr sz="2000" spc="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permet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de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gérer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soit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la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b="1" spc="-10" dirty="0">
                <a:latin typeface="Segoe UI"/>
                <a:cs typeface="Segoe UI"/>
              </a:rPr>
              <a:t>division</a:t>
            </a:r>
            <a:r>
              <a:rPr sz="2000" b="1" spc="-9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d’un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flux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en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plusieurs,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soit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la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b="1" spc="-10" dirty="0">
                <a:latin typeface="Segoe UI"/>
                <a:cs typeface="Segoe UI"/>
              </a:rPr>
              <a:t>convergence</a:t>
            </a:r>
            <a:r>
              <a:rPr sz="2000" spc="-10" dirty="0">
                <a:latin typeface="Segoe UI"/>
                <a:cs typeface="Segoe UI"/>
              </a:rPr>
              <a:t>, </a:t>
            </a:r>
            <a:r>
              <a:rPr sz="2000" dirty="0">
                <a:latin typeface="Segoe UI"/>
                <a:cs typeface="Segoe UI"/>
              </a:rPr>
              <a:t>soit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la</a:t>
            </a:r>
            <a:endParaRPr sz="2000">
              <a:latin typeface="Segoe UI"/>
              <a:cs typeface="Segoe UI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latin typeface="Segoe UI"/>
                <a:cs typeface="Segoe UI"/>
              </a:rPr>
              <a:t>réunion</a:t>
            </a:r>
            <a:r>
              <a:rPr sz="2000" b="1" spc="-6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de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plusieurs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flux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en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un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seul.</a:t>
            </a:r>
            <a:endParaRPr sz="20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220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Segoe UI"/>
                <a:cs typeface="Segoe UI"/>
              </a:rPr>
              <a:t>Une</a:t>
            </a:r>
            <a:r>
              <a:rPr sz="2000" spc="-6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seule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passerelle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peut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avoir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plusieurs</a:t>
            </a:r>
            <a:r>
              <a:rPr sz="2000" b="1" spc="-9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entrées</a:t>
            </a:r>
            <a:r>
              <a:rPr sz="2000" b="1" spc="-5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et</a:t>
            </a:r>
            <a:r>
              <a:rPr sz="2000" b="1" spc="-6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plusieurs</a:t>
            </a:r>
            <a:r>
              <a:rPr sz="2000" b="1" spc="-9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flux</a:t>
            </a:r>
            <a:r>
              <a:rPr sz="2000" b="1" spc="-7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de</a:t>
            </a:r>
            <a:r>
              <a:rPr sz="2000" b="1" spc="-50" dirty="0">
                <a:latin typeface="Segoe UI"/>
                <a:cs typeface="Segoe UI"/>
              </a:rPr>
              <a:t> </a:t>
            </a:r>
            <a:r>
              <a:rPr sz="2000" b="1" spc="-10" dirty="0">
                <a:latin typeface="Segoe UI"/>
                <a:cs typeface="Segoe UI"/>
              </a:rPr>
              <a:t>sortie</a:t>
            </a:r>
            <a:r>
              <a:rPr sz="2000" spc="-10" dirty="0">
                <a:latin typeface="Segoe UI"/>
                <a:cs typeface="Segoe UI"/>
              </a:rPr>
              <a:t>.</a:t>
            </a:r>
            <a:endParaRPr sz="20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220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Segoe UI"/>
                <a:cs typeface="Segoe UI"/>
              </a:rPr>
              <a:t>Il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y</a:t>
            </a:r>
            <a:r>
              <a:rPr sz="2000" spc="-7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</a:t>
            </a:r>
            <a:r>
              <a:rPr sz="2000" spc="-7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plusieurs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comportements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de</a:t>
            </a:r>
            <a:r>
              <a:rPr sz="2000" spc="-7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passerelles.</a:t>
            </a:r>
            <a:r>
              <a:rPr sz="2000" dirty="0">
                <a:latin typeface="Segoe UI"/>
                <a:cs typeface="Segoe UI"/>
              </a:rPr>
              <a:t> Nous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utiliserons</a:t>
            </a:r>
            <a:r>
              <a:rPr sz="2000" spc="-6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principalement</a:t>
            </a:r>
            <a:r>
              <a:rPr sz="2000" spc="-7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les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passerelles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suivantes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spc="-50" dirty="0">
                <a:latin typeface="Segoe UI"/>
                <a:cs typeface="Segoe UI"/>
              </a:rPr>
              <a:t>:</a:t>
            </a:r>
            <a:endParaRPr sz="2000">
              <a:latin typeface="Segoe UI"/>
              <a:cs typeface="Segoe U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rcRect b="47074"/>
          <a:stretch>
            <a:fillRect/>
          </a:stretch>
        </p:blipFill>
        <p:spPr>
          <a:xfrm>
            <a:off x="3438905" y="3829050"/>
            <a:ext cx="5423915" cy="111108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BE0508-7B19-C79A-DECB-61ED1D96D966}"/>
              </a:ext>
            </a:extLst>
          </p:cNvPr>
          <p:cNvSpPr txBox="1"/>
          <p:nvPr/>
        </p:nvSpPr>
        <p:spPr>
          <a:xfrm>
            <a:off x="3352800" y="4940135"/>
            <a:ext cx="144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latin typeface="Segoe UI "/>
              </a:rPr>
              <a:t>Réprésente un « OU » logique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D0D4F6-22EA-39E7-FAFF-0C4E1876F3E4}"/>
              </a:ext>
            </a:extLst>
          </p:cNvPr>
          <p:cNvSpPr txBox="1"/>
          <p:nvPr/>
        </p:nvSpPr>
        <p:spPr>
          <a:xfrm>
            <a:off x="5372100" y="4940135"/>
            <a:ext cx="144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latin typeface="Segoe UI "/>
              </a:rPr>
              <a:t>Réprésente un « ET » logique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26A84C-2F19-1CA3-0EC1-9DECCD2C67BC}"/>
              </a:ext>
            </a:extLst>
          </p:cNvPr>
          <p:cNvSpPr txBox="1"/>
          <p:nvPr/>
        </p:nvSpPr>
        <p:spPr>
          <a:xfrm>
            <a:off x="7086600" y="4940135"/>
            <a:ext cx="1930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latin typeface="Segoe UI "/>
              </a:rPr>
              <a:t>La sortie dépend de plusieurs conditions, facteurs, règles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5968" y="698880"/>
            <a:ext cx="12204700" cy="6159500"/>
            <a:chOff x="-5968" y="698880"/>
            <a:chExt cx="12204700" cy="6159500"/>
          </a:xfrm>
        </p:grpSpPr>
        <p:sp>
          <p:nvSpPr>
            <p:cNvPr id="3" name="object 3"/>
            <p:cNvSpPr/>
            <p:nvPr/>
          </p:nvSpPr>
          <p:spPr>
            <a:xfrm>
              <a:off x="381" y="705230"/>
              <a:ext cx="12192000" cy="5652135"/>
            </a:xfrm>
            <a:custGeom>
              <a:avLst/>
              <a:gdLst/>
              <a:ahLst/>
              <a:cxnLst/>
              <a:rect l="l" t="t" r="r" b="b"/>
              <a:pathLst>
                <a:path w="12192000" h="5652135">
                  <a:moveTo>
                    <a:pt x="12191619" y="0"/>
                  </a:moveTo>
                  <a:lnTo>
                    <a:pt x="0" y="0"/>
                  </a:lnTo>
                  <a:lnTo>
                    <a:pt x="0" y="5651754"/>
                  </a:lnTo>
                  <a:lnTo>
                    <a:pt x="12191619" y="5651754"/>
                  </a:lnTo>
                  <a:lnTo>
                    <a:pt x="121916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1" y="705230"/>
              <a:ext cx="12192000" cy="5652135"/>
            </a:xfrm>
            <a:custGeom>
              <a:avLst/>
              <a:gdLst/>
              <a:ahLst/>
              <a:cxnLst/>
              <a:rect l="l" t="t" r="r" b="b"/>
              <a:pathLst>
                <a:path w="12192000" h="5652135">
                  <a:moveTo>
                    <a:pt x="0" y="5651754"/>
                  </a:moveTo>
                  <a:lnTo>
                    <a:pt x="12192000" y="5651754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65175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8130" y="72898"/>
            <a:ext cx="8072120" cy="37230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9425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242424"/>
                </a:solidFill>
                <a:latin typeface="Segoe UI Semibold"/>
                <a:cs typeface="Segoe UI Semibold"/>
              </a:rPr>
              <a:t>Passerelles</a:t>
            </a:r>
            <a:endParaRPr sz="1400">
              <a:latin typeface="Segoe UI Semibold"/>
              <a:cs typeface="Segoe UI Semibold"/>
            </a:endParaRPr>
          </a:p>
          <a:p>
            <a:pPr marL="479425">
              <a:lnSpc>
                <a:spcPct val="100000"/>
              </a:lnSpc>
              <a:spcBef>
                <a:spcPts val="90"/>
              </a:spcBef>
            </a:pPr>
            <a:r>
              <a:rPr sz="1800" spc="-10" dirty="0">
                <a:solidFill>
                  <a:srgbClr val="FFFFFF"/>
                </a:solidFill>
                <a:latin typeface="Segoe UI Semibold"/>
                <a:cs typeface="Segoe UI Semibold"/>
              </a:rPr>
              <a:t>Passerelle</a:t>
            </a:r>
            <a:r>
              <a:rPr sz="1800" spc="-85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Semibold"/>
                <a:cs typeface="Segoe UI Semibold"/>
              </a:rPr>
              <a:t>exclusive</a:t>
            </a:r>
            <a:endParaRPr sz="1800">
              <a:latin typeface="Segoe UI Semibold"/>
              <a:cs typeface="Segoe UI Semibold"/>
            </a:endParaRPr>
          </a:p>
          <a:p>
            <a:pPr marL="240665" indent="-227965">
              <a:lnSpc>
                <a:spcPct val="100000"/>
              </a:lnSpc>
              <a:spcBef>
                <a:spcPts val="222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Segoe UI"/>
                <a:cs typeface="Segoe UI"/>
              </a:rPr>
              <a:t>Elle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symbolise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une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porte</a:t>
            </a:r>
            <a:r>
              <a:rPr sz="2000" b="1" spc="-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logique</a:t>
            </a:r>
            <a:r>
              <a:rPr sz="2000" b="1" spc="-7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«</a:t>
            </a:r>
            <a:r>
              <a:rPr sz="2000" b="1" spc="-4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OU</a:t>
            </a:r>
            <a:r>
              <a:rPr sz="2000" b="1" spc="-4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»</a:t>
            </a:r>
            <a:r>
              <a:rPr sz="2000" b="1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(«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ou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bien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»)</a:t>
            </a:r>
            <a:endParaRPr sz="20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221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Segoe UI"/>
                <a:cs typeface="Segoe UI"/>
              </a:rPr>
              <a:t>Elle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possède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une</a:t>
            </a:r>
            <a:r>
              <a:rPr sz="2000" b="1" spc="-2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entrée</a:t>
            </a:r>
            <a:r>
              <a:rPr sz="2000" b="1" spc="-1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et</a:t>
            </a:r>
            <a:r>
              <a:rPr sz="2000" b="1" spc="-25" dirty="0">
                <a:latin typeface="Segoe UI"/>
                <a:cs typeface="Segoe UI"/>
              </a:rPr>
              <a:t> </a:t>
            </a:r>
            <a:r>
              <a:rPr sz="2000" b="1">
                <a:latin typeface="Segoe UI"/>
                <a:cs typeface="Segoe UI"/>
              </a:rPr>
              <a:t>plusieurs</a:t>
            </a:r>
            <a:r>
              <a:rPr sz="2000" b="1" spc="-65">
                <a:latin typeface="Segoe UI"/>
                <a:cs typeface="Segoe UI"/>
              </a:rPr>
              <a:t> </a:t>
            </a:r>
            <a:r>
              <a:rPr sz="2000" b="1">
                <a:latin typeface="Segoe UI"/>
                <a:cs typeface="Segoe UI"/>
              </a:rPr>
              <a:t>(au</a:t>
            </a:r>
            <a:r>
              <a:rPr sz="2000" b="1" spc="-4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moins</a:t>
            </a:r>
            <a:r>
              <a:rPr sz="2000" b="1" spc="-7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2)</a:t>
            </a:r>
            <a:r>
              <a:rPr sz="2000" b="1" spc="-3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sorties </a:t>
            </a:r>
            <a:r>
              <a:rPr sz="2000" spc="-10" dirty="0">
                <a:latin typeface="Segoe UI"/>
                <a:cs typeface="Segoe UI"/>
              </a:rPr>
              <a:t>possibles.</a:t>
            </a:r>
            <a:endParaRPr sz="20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220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Segoe UI"/>
                <a:cs typeface="Segoe UI"/>
              </a:rPr>
              <a:t>Lorsque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b="1" spc="-10" dirty="0">
                <a:latin typeface="Segoe UI"/>
                <a:cs typeface="Segoe UI"/>
              </a:rPr>
              <a:t>plusieurs</a:t>
            </a:r>
            <a:r>
              <a:rPr sz="2000" b="1" spc="-6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sorties</a:t>
            </a:r>
            <a:r>
              <a:rPr sz="2000" b="1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sont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possibles,</a:t>
            </a:r>
            <a:endParaRPr sz="2000">
              <a:latin typeface="Segoe UI"/>
              <a:cs typeface="Segoe UI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latin typeface="Segoe UI"/>
                <a:cs typeface="Segoe UI"/>
              </a:rPr>
              <a:t>un</a:t>
            </a:r>
            <a:r>
              <a:rPr sz="2000" b="1" spc="-3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seul</a:t>
            </a:r>
            <a:r>
              <a:rPr sz="2000" b="1" spc="-4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chemin</a:t>
            </a:r>
            <a:r>
              <a:rPr sz="2000" b="1" spc="-8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à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la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fois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peut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être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emprunté.</a:t>
            </a:r>
            <a:endParaRPr sz="2000">
              <a:latin typeface="Segoe UI"/>
              <a:cs typeface="Segoe UI"/>
            </a:endParaRPr>
          </a:p>
          <a:p>
            <a:pPr marL="241300" marR="4337050" indent="-228600">
              <a:lnSpc>
                <a:spcPct val="150000"/>
              </a:lnSpc>
              <a:spcBef>
                <a:spcPts val="55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Segoe UI"/>
                <a:cs typeface="Segoe UI"/>
              </a:rPr>
              <a:t>Elle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est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idéale</a:t>
            </a:r>
            <a:r>
              <a:rPr sz="2000" b="1" spc="-7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pour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spc="-20" dirty="0">
                <a:latin typeface="Segoe UI"/>
                <a:cs typeface="Segoe UI"/>
              </a:rPr>
              <a:t>représenter </a:t>
            </a:r>
            <a:r>
              <a:rPr sz="2000" dirty="0">
                <a:latin typeface="Segoe UI"/>
                <a:cs typeface="Segoe UI"/>
              </a:rPr>
              <a:t>les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conditions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«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b="1" spc="-20" dirty="0">
                <a:latin typeface="Segoe UI"/>
                <a:cs typeface="Segoe UI"/>
              </a:rPr>
              <a:t>OK/KO</a:t>
            </a:r>
            <a:r>
              <a:rPr sz="2000" b="1" spc="-80" dirty="0">
                <a:latin typeface="Segoe UI"/>
                <a:cs typeface="Segoe UI"/>
              </a:rPr>
              <a:t> </a:t>
            </a:r>
            <a:r>
              <a:rPr sz="2000" spc="-50" dirty="0">
                <a:latin typeface="Segoe UI"/>
                <a:cs typeface="Segoe UI"/>
              </a:rPr>
              <a:t>»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22376" y="1935035"/>
            <a:ext cx="10427970" cy="3747770"/>
            <a:chOff x="722376" y="1935035"/>
            <a:chExt cx="10427970" cy="374777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2376" y="3995927"/>
              <a:ext cx="3153918" cy="168630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67449" y="1944624"/>
              <a:ext cx="4872990" cy="289407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262623" y="1939798"/>
              <a:ext cx="4882515" cy="2903855"/>
            </a:xfrm>
            <a:custGeom>
              <a:avLst/>
              <a:gdLst/>
              <a:ahLst/>
              <a:cxnLst/>
              <a:rect l="l" t="t" r="r" b="b"/>
              <a:pathLst>
                <a:path w="4882515" h="2903854">
                  <a:moveTo>
                    <a:pt x="0" y="2903601"/>
                  </a:moveTo>
                  <a:lnTo>
                    <a:pt x="4882514" y="2903601"/>
                  </a:lnTo>
                  <a:lnTo>
                    <a:pt x="4882514" y="0"/>
                  </a:lnTo>
                  <a:lnTo>
                    <a:pt x="0" y="0"/>
                  </a:lnTo>
                  <a:lnTo>
                    <a:pt x="0" y="2903601"/>
                  </a:lnTo>
                  <a:close/>
                </a:path>
              </a:pathLst>
            </a:custGeom>
            <a:ln w="9525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72898"/>
            <a:ext cx="8731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242424"/>
                </a:solidFill>
                <a:latin typeface="Segoe UI Semibold"/>
                <a:cs typeface="Segoe UI Semibold"/>
              </a:rPr>
              <a:t>Passerelles</a:t>
            </a:r>
            <a:endParaRPr sz="1400">
              <a:latin typeface="Segoe UI Semibold"/>
              <a:cs typeface="Segoe UI Semibold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5083" y="297941"/>
            <a:ext cx="1962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/>
              <a:t>Passerelle</a:t>
            </a:r>
            <a:r>
              <a:rPr sz="1800" spc="-85" dirty="0"/>
              <a:t> </a:t>
            </a:r>
            <a:r>
              <a:rPr sz="1800" spc="-10" dirty="0"/>
              <a:t>parallèle</a:t>
            </a:r>
            <a:endParaRPr sz="1800"/>
          </a:p>
        </p:txBody>
      </p:sp>
      <p:sp>
        <p:nvSpPr>
          <p:cNvPr id="4" name="object 4"/>
          <p:cNvSpPr txBox="1"/>
          <p:nvPr/>
        </p:nvSpPr>
        <p:spPr>
          <a:xfrm>
            <a:off x="78130" y="853820"/>
            <a:ext cx="9678670" cy="1500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Segoe UI"/>
                <a:cs typeface="Segoe UI"/>
              </a:rPr>
              <a:t>Elle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symbolise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une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porte</a:t>
            </a:r>
            <a:r>
              <a:rPr sz="2000" b="1" spc="-1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logique</a:t>
            </a:r>
            <a:r>
              <a:rPr sz="2000" b="1" spc="-7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«</a:t>
            </a:r>
            <a:r>
              <a:rPr sz="2000" b="1" spc="-4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ET</a:t>
            </a:r>
            <a:r>
              <a:rPr sz="2000" b="1" spc="-25" dirty="0">
                <a:latin typeface="Segoe UI"/>
                <a:cs typeface="Segoe UI"/>
              </a:rPr>
              <a:t> </a:t>
            </a:r>
            <a:r>
              <a:rPr sz="2000" b="1" spc="-50" dirty="0">
                <a:latin typeface="Segoe UI"/>
                <a:cs typeface="Segoe UI"/>
              </a:rPr>
              <a:t>»</a:t>
            </a:r>
            <a:endParaRPr sz="20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221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Segoe UI"/>
                <a:cs typeface="Segoe UI"/>
              </a:rPr>
              <a:t>Les</a:t>
            </a:r>
            <a:r>
              <a:rPr sz="2000" spc="-8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passerelles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parallèles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peuvent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comporter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plusieurs</a:t>
            </a:r>
            <a:r>
              <a:rPr sz="2000" b="1" spc="-10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entrées</a:t>
            </a:r>
            <a:r>
              <a:rPr sz="2000" b="1" spc="-6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et</a:t>
            </a:r>
            <a:r>
              <a:rPr sz="2000" b="1" spc="-6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plusieurs</a:t>
            </a:r>
            <a:r>
              <a:rPr sz="2000" b="1" spc="-125" dirty="0">
                <a:latin typeface="Segoe UI"/>
                <a:cs typeface="Segoe UI"/>
              </a:rPr>
              <a:t> </a:t>
            </a:r>
            <a:r>
              <a:rPr sz="2000" b="1" spc="-10" dirty="0">
                <a:latin typeface="Segoe UI"/>
                <a:cs typeface="Segoe UI"/>
              </a:rPr>
              <a:t>sorties</a:t>
            </a:r>
            <a:r>
              <a:rPr sz="2000" spc="-10" dirty="0">
                <a:latin typeface="Segoe UI"/>
                <a:cs typeface="Segoe UI"/>
              </a:rPr>
              <a:t>.</a:t>
            </a:r>
            <a:endParaRPr sz="20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219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Segoe UI"/>
                <a:cs typeface="Segoe UI"/>
              </a:rPr>
              <a:t>Elles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s’utilisent</a:t>
            </a:r>
            <a:r>
              <a:rPr sz="2000" spc="-6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en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mode</a:t>
            </a:r>
            <a:r>
              <a:rPr sz="2000" b="1" spc="-6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division</a:t>
            </a:r>
            <a:r>
              <a:rPr sz="2000" b="1" spc="-10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ou</a:t>
            </a:r>
            <a:r>
              <a:rPr sz="2000" spc="-8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en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mode</a:t>
            </a:r>
            <a:r>
              <a:rPr sz="2000" b="1" spc="-65" dirty="0">
                <a:latin typeface="Segoe UI"/>
                <a:cs typeface="Segoe UI"/>
              </a:rPr>
              <a:t> </a:t>
            </a:r>
            <a:r>
              <a:rPr sz="2000" b="1" spc="-10" dirty="0">
                <a:latin typeface="Segoe UI"/>
                <a:cs typeface="Segoe UI"/>
              </a:rPr>
              <a:t>réunion</a:t>
            </a:r>
            <a:r>
              <a:rPr sz="2000" spc="-10" dirty="0">
                <a:latin typeface="Segoe UI"/>
                <a:cs typeface="Segoe UI"/>
              </a:rPr>
              <a:t>.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7828" y="2491739"/>
            <a:ext cx="11748770" cy="3354070"/>
            <a:chOff x="147828" y="2491739"/>
            <a:chExt cx="11748770" cy="33540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828" y="2491739"/>
              <a:ext cx="4848606" cy="335356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51625" y="2491739"/>
              <a:ext cx="5744718" cy="304876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72898"/>
            <a:ext cx="8731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242424"/>
                </a:solidFill>
                <a:latin typeface="Segoe UI Semibold"/>
                <a:cs typeface="Segoe UI Semibold"/>
              </a:rPr>
              <a:t>Passerelles</a:t>
            </a:r>
            <a:endParaRPr sz="1400">
              <a:latin typeface="Segoe UI Semibold"/>
              <a:cs typeface="Segoe UI Semibold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5083" y="297941"/>
            <a:ext cx="2774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/>
              <a:t>Passerelles</a:t>
            </a:r>
            <a:r>
              <a:rPr sz="1800" spc="-30" dirty="0"/>
              <a:t> </a:t>
            </a:r>
            <a:r>
              <a:rPr sz="1800" dirty="0"/>
              <a:t>plus</a:t>
            </a:r>
            <a:r>
              <a:rPr sz="1800" spc="-60" dirty="0"/>
              <a:t> </a:t>
            </a:r>
            <a:r>
              <a:rPr sz="1800" spc="-10" dirty="0"/>
              <a:t>complexes</a:t>
            </a:r>
            <a:endParaRPr sz="1800"/>
          </a:p>
        </p:txBody>
      </p:sp>
      <p:sp>
        <p:nvSpPr>
          <p:cNvPr id="4" name="object 4"/>
          <p:cNvSpPr txBox="1"/>
          <p:nvPr/>
        </p:nvSpPr>
        <p:spPr>
          <a:xfrm>
            <a:off x="78130" y="853820"/>
            <a:ext cx="119786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spc="-30" dirty="0">
                <a:latin typeface="Segoe UI"/>
                <a:cs typeface="Segoe UI"/>
              </a:rPr>
              <a:t>D’autres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passerelles </a:t>
            </a:r>
            <a:r>
              <a:rPr sz="2000" dirty="0">
                <a:latin typeface="Segoe UI"/>
                <a:cs typeface="Segoe UI"/>
              </a:rPr>
              <a:t>peuvent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aussi</a:t>
            </a:r>
            <a:r>
              <a:rPr sz="2000" spc="-7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être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utilisées,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au</a:t>
            </a:r>
            <a:r>
              <a:rPr sz="2000" spc="-7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risque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de</a:t>
            </a:r>
            <a:r>
              <a:rPr sz="2000" spc="-6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compliquer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la</a:t>
            </a:r>
            <a:r>
              <a:rPr sz="2000" spc="-7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compréhension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du</a:t>
            </a:r>
            <a:r>
              <a:rPr sz="2000" spc="-7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processus.</a:t>
            </a:r>
            <a:endParaRPr sz="200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291333"/>
            <a:ext cx="5302757" cy="30114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64921" y="2127884"/>
            <a:ext cx="3038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Segoe UI"/>
                <a:cs typeface="Segoe UI"/>
              </a:rPr>
              <a:t>Passerelle</a:t>
            </a:r>
            <a:r>
              <a:rPr sz="1800" b="1" spc="-45" dirty="0">
                <a:latin typeface="Segoe UI"/>
                <a:cs typeface="Segoe UI"/>
              </a:rPr>
              <a:t> </a:t>
            </a:r>
            <a:r>
              <a:rPr sz="1800" b="1" spc="-20" dirty="0">
                <a:latin typeface="Segoe UI"/>
                <a:cs typeface="Segoe UI"/>
              </a:rPr>
              <a:t>exclusive</a:t>
            </a:r>
            <a:r>
              <a:rPr sz="1800" b="1" spc="-35" dirty="0">
                <a:latin typeface="Segoe UI"/>
                <a:cs typeface="Segoe UI"/>
              </a:rPr>
              <a:t> </a:t>
            </a:r>
            <a:r>
              <a:rPr sz="1800" b="1" spc="-10" dirty="0">
                <a:latin typeface="Segoe UI"/>
                <a:cs typeface="Segoe UI"/>
              </a:rPr>
              <a:t>multiple</a:t>
            </a:r>
            <a:endParaRPr sz="1800">
              <a:latin typeface="Segoe UI"/>
              <a:cs typeface="Segoe U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94247" y="1233677"/>
            <a:ext cx="5775198" cy="51259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637146" y="2127884"/>
            <a:ext cx="2142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Segoe UI"/>
                <a:cs typeface="Segoe UI"/>
              </a:rPr>
              <a:t>Passerelle</a:t>
            </a:r>
            <a:r>
              <a:rPr sz="1800" b="1" spc="-70" dirty="0">
                <a:latin typeface="Segoe UI"/>
                <a:cs typeface="Segoe UI"/>
              </a:rPr>
              <a:t> </a:t>
            </a:r>
            <a:r>
              <a:rPr sz="1800" b="1" spc="-10" dirty="0">
                <a:latin typeface="Segoe UI"/>
                <a:cs typeface="Segoe UI"/>
              </a:rPr>
              <a:t>complexe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4840" y="778763"/>
            <a:ext cx="4628515" cy="5300980"/>
            <a:chOff x="624840" y="778763"/>
            <a:chExt cx="4628515" cy="5300980"/>
          </a:xfrm>
        </p:grpSpPr>
        <p:sp>
          <p:nvSpPr>
            <p:cNvPr id="3" name="object 3"/>
            <p:cNvSpPr/>
            <p:nvPr/>
          </p:nvSpPr>
          <p:spPr>
            <a:xfrm>
              <a:off x="624840" y="778763"/>
              <a:ext cx="4628515" cy="5300980"/>
            </a:xfrm>
            <a:custGeom>
              <a:avLst/>
              <a:gdLst/>
              <a:ahLst/>
              <a:cxnLst/>
              <a:rect l="l" t="t" r="r" b="b"/>
              <a:pathLst>
                <a:path w="4628515" h="5300980">
                  <a:moveTo>
                    <a:pt x="4628388" y="0"/>
                  </a:moveTo>
                  <a:lnTo>
                    <a:pt x="0" y="0"/>
                  </a:lnTo>
                  <a:lnTo>
                    <a:pt x="0" y="5300472"/>
                  </a:lnTo>
                  <a:lnTo>
                    <a:pt x="4628388" y="5300472"/>
                  </a:lnTo>
                  <a:lnTo>
                    <a:pt x="46283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96315" y="3571112"/>
              <a:ext cx="1239520" cy="0"/>
            </a:xfrm>
            <a:custGeom>
              <a:avLst/>
              <a:gdLst/>
              <a:ahLst/>
              <a:cxnLst/>
              <a:rect l="l" t="t" r="r" b="b"/>
              <a:pathLst>
                <a:path w="1239520">
                  <a:moveTo>
                    <a:pt x="0" y="0"/>
                  </a:moveTo>
                  <a:lnTo>
                    <a:pt x="1239266" y="0"/>
                  </a:lnTo>
                </a:path>
              </a:pathLst>
            </a:custGeom>
            <a:ln w="57150">
              <a:solidFill>
                <a:srgbClr val="549F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30551" y="5447537"/>
              <a:ext cx="1239774" cy="51892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24840" y="778763"/>
            <a:ext cx="4628515" cy="5300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>
              <a:latin typeface="Times New Roman"/>
              <a:cs typeface="Times New Roman"/>
            </a:endParaRPr>
          </a:p>
          <a:p>
            <a:pPr marL="461645">
              <a:lnSpc>
                <a:spcPct val="100000"/>
              </a:lnSpc>
            </a:pPr>
            <a:r>
              <a:rPr sz="2000" b="1" dirty="0">
                <a:solidFill>
                  <a:srgbClr val="549FDB"/>
                </a:solidFill>
                <a:latin typeface="Arial"/>
                <a:cs typeface="Arial"/>
              </a:rPr>
              <a:t>4.</a:t>
            </a:r>
            <a:r>
              <a:rPr sz="2000" b="1" spc="-85" dirty="0">
                <a:solidFill>
                  <a:srgbClr val="549FDB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549FDB"/>
                </a:solidFill>
                <a:latin typeface="Arial"/>
                <a:cs typeface="Arial"/>
              </a:rPr>
              <a:t>Évènements</a:t>
            </a:r>
            <a:endParaRPr sz="2000">
              <a:latin typeface="Arial"/>
              <a:cs typeface="Arial"/>
            </a:endParaRPr>
          </a:p>
          <a:p>
            <a:pPr marL="757555" indent="-295910">
              <a:lnSpc>
                <a:spcPct val="100000"/>
              </a:lnSpc>
              <a:spcBef>
                <a:spcPts val="1210"/>
              </a:spcBef>
              <a:buSzPct val="111111"/>
              <a:buAutoNum type="arabicParenR"/>
              <a:tabLst>
                <a:tab pos="757555" algn="l"/>
              </a:tabLst>
            </a:pPr>
            <a:r>
              <a:rPr sz="1800" dirty="0">
                <a:solidFill>
                  <a:srgbClr val="549FDB"/>
                </a:solidFill>
                <a:latin typeface="Arial MT"/>
                <a:cs typeface="Arial MT"/>
              </a:rPr>
              <a:t>Évènement</a:t>
            </a:r>
            <a:r>
              <a:rPr sz="1800" spc="-85" dirty="0">
                <a:solidFill>
                  <a:srgbClr val="549FD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49FDB"/>
                </a:solidFill>
                <a:latin typeface="Arial MT"/>
                <a:cs typeface="Arial MT"/>
              </a:rPr>
              <a:t>déclencheur</a:t>
            </a:r>
            <a:r>
              <a:rPr sz="1800" spc="-90" dirty="0">
                <a:solidFill>
                  <a:srgbClr val="549FD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49FDB"/>
                </a:solidFill>
                <a:latin typeface="Arial MT"/>
                <a:cs typeface="Arial MT"/>
              </a:rPr>
              <a:t>&amp;</a:t>
            </a:r>
            <a:r>
              <a:rPr sz="1800" spc="-55" dirty="0">
                <a:solidFill>
                  <a:srgbClr val="549FDB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549FDB"/>
                </a:solidFill>
                <a:latin typeface="Arial MT"/>
                <a:cs typeface="Arial MT"/>
              </a:rPr>
              <a:t>fin</a:t>
            </a:r>
            <a:endParaRPr sz="1800">
              <a:latin typeface="Arial MT"/>
              <a:cs typeface="Arial MT"/>
            </a:endParaRPr>
          </a:p>
          <a:p>
            <a:pPr marL="727710" indent="-266065">
              <a:lnSpc>
                <a:spcPct val="100000"/>
              </a:lnSpc>
              <a:spcBef>
                <a:spcPts val="1365"/>
              </a:spcBef>
              <a:buAutoNum type="arabicParenR"/>
              <a:tabLst>
                <a:tab pos="727710" algn="l"/>
              </a:tabLst>
            </a:pPr>
            <a:r>
              <a:rPr sz="1800" dirty="0">
                <a:solidFill>
                  <a:srgbClr val="549FDB"/>
                </a:solidFill>
                <a:latin typeface="Arial MT"/>
                <a:cs typeface="Arial MT"/>
              </a:rPr>
              <a:t>Évènements</a:t>
            </a:r>
            <a:r>
              <a:rPr sz="1800" spc="-95" dirty="0">
                <a:solidFill>
                  <a:srgbClr val="549FDB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49FDB"/>
                </a:solidFill>
                <a:latin typeface="Arial MT"/>
                <a:cs typeface="Arial MT"/>
              </a:rPr>
              <a:t>intermédiaires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72898"/>
            <a:ext cx="9912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242424"/>
                </a:solidFill>
                <a:latin typeface="Segoe UI Semibold"/>
                <a:cs typeface="Segoe UI Semibold"/>
              </a:rPr>
              <a:t>Évènements</a:t>
            </a:r>
            <a:endParaRPr sz="1400">
              <a:latin typeface="Segoe UI Semibold"/>
              <a:cs typeface="Segoe UI Semibold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5083" y="297941"/>
            <a:ext cx="2668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/>
              <a:t>Début</a:t>
            </a:r>
            <a:r>
              <a:rPr sz="1800" spc="-50" dirty="0"/>
              <a:t> </a:t>
            </a:r>
            <a:r>
              <a:rPr sz="1800" dirty="0"/>
              <a:t>&amp;</a:t>
            </a:r>
            <a:r>
              <a:rPr sz="1800" spc="-45" dirty="0"/>
              <a:t> </a:t>
            </a:r>
            <a:r>
              <a:rPr sz="1800" dirty="0"/>
              <a:t>Fin</a:t>
            </a:r>
            <a:r>
              <a:rPr sz="1800" spc="-50" dirty="0"/>
              <a:t> </a:t>
            </a:r>
            <a:r>
              <a:rPr sz="1800" dirty="0"/>
              <a:t>du</a:t>
            </a:r>
            <a:r>
              <a:rPr sz="1800" spc="-30" dirty="0"/>
              <a:t> </a:t>
            </a:r>
            <a:r>
              <a:rPr sz="1800" spc="-10" dirty="0"/>
              <a:t>processus</a:t>
            </a:r>
            <a:endParaRPr sz="1800"/>
          </a:p>
        </p:txBody>
      </p:sp>
      <p:sp>
        <p:nvSpPr>
          <p:cNvPr id="4" name="object 4"/>
          <p:cNvSpPr txBox="1"/>
          <p:nvPr/>
        </p:nvSpPr>
        <p:spPr>
          <a:xfrm>
            <a:off x="78130" y="853820"/>
            <a:ext cx="11565255" cy="1500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Segoe UI"/>
                <a:cs typeface="Segoe UI"/>
              </a:rPr>
              <a:t>Le</a:t>
            </a:r>
            <a:r>
              <a:rPr sz="2000" spc="-65" dirty="0">
                <a:latin typeface="Segoe UI"/>
                <a:cs typeface="Segoe UI"/>
              </a:rPr>
              <a:t> </a:t>
            </a:r>
            <a:r>
              <a:rPr sz="2000" b="1" spc="-10" dirty="0">
                <a:latin typeface="Segoe UI"/>
                <a:cs typeface="Segoe UI"/>
              </a:rPr>
              <a:t>commencement</a:t>
            </a:r>
            <a:r>
              <a:rPr sz="2000" b="1" spc="-7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du</a:t>
            </a:r>
            <a:r>
              <a:rPr sz="2000" b="1" spc="-4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processus</a:t>
            </a:r>
            <a:r>
              <a:rPr sz="2000" b="1" spc="-8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doit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être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unique</a:t>
            </a:r>
            <a:r>
              <a:rPr sz="2000" dirty="0">
                <a:latin typeface="Segoe UI"/>
                <a:cs typeface="Segoe UI"/>
              </a:rPr>
              <a:t>,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spc="-45" dirty="0">
                <a:latin typeface="Segoe UI"/>
                <a:cs typeface="Segoe UI"/>
              </a:rPr>
              <a:t>clair,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et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marqué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par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une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activité</a:t>
            </a:r>
            <a:r>
              <a:rPr sz="2000" spc="-6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d’un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des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acteurs.</a:t>
            </a:r>
            <a:endParaRPr sz="20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221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Segoe UI"/>
                <a:cs typeface="Segoe UI"/>
              </a:rPr>
              <a:t>La</a:t>
            </a:r>
            <a:r>
              <a:rPr sz="2000" spc="-8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fin</a:t>
            </a:r>
            <a:r>
              <a:rPr sz="2000" b="1" spc="-8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du</a:t>
            </a:r>
            <a:r>
              <a:rPr sz="2000" b="1" spc="-4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processus</a:t>
            </a:r>
            <a:r>
              <a:rPr sz="2000" b="1" spc="-9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peut</a:t>
            </a:r>
            <a:r>
              <a:rPr sz="2000" spc="-5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être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multiple</a:t>
            </a:r>
            <a:r>
              <a:rPr sz="2000" dirty="0">
                <a:latin typeface="Segoe UI"/>
                <a:cs typeface="Segoe UI"/>
              </a:rPr>
              <a:t>,</a:t>
            </a:r>
            <a:r>
              <a:rPr sz="2000" spc="-6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en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cas</a:t>
            </a:r>
            <a:r>
              <a:rPr sz="2000" spc="-7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de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sorties</a:t>
            </a:r>
            <a:r>
              <a:rPr sz="2000" spc="1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différenciées</a:t>
            </a:r>
            <a:r>
              <a:rPr sz="2000" spc="4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possibles.</a:t>
            </a:r>
            <a:endParaRPr sz="20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219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Segoe UI"/>
                <a:cs typeface="Segoe UI"/>
              </a:rPr>
              <a:t>Les</a:t>
            </a:r>
            <a:r>
              <a:rPr sz="2000" spc="-6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symboles</a:t>
            </a:r>
            <a:r>
              <a:rPr sz="2000" spc="-7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peuvent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être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«</a:t>
            </a:r>
            <a:r>
              <a:rPr sz="2000" b="1" spc="-5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stylés</a:t>
            </a:r>
            <a:r>
              <a:rPr sz="2000" b="1" spc="-10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»</a:t>
            </a:r>
            <a:r>
              <a:rPr sz="2000" b="1" spc="-6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avec</a:t>
            </a:r>
            <a:r>
              <a:rPr sz="2000" b="1" spc="-3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des</a:t>
            </a:r>
            <a:r>
              <a:rPr sz="2000" b="1" spc="-6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couleurs</a:t>
            </a:r>
            <a:r>
              <a:rPr sz="2000" b="1" spc="-7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pour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plus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de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lisibilité.</a:t>
            </a:r>
            <a:endParaRPr sz="200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3170" y="2795777"/>
            <a:ext cx="6240017" cy="323926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72898"/>
            <a:ext cx="9912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242424"/>
                </a:solidFill>
                <a:latin typeface="Segoe UI Semibold"/>
                <a:cs typeface="Segoe UI Semibold"/>
              </a:rPr>
              <a:t>Évènements</a:t>
            </a:r>
            <a:endParaRPr sz="1400">
              <a:latin typeface="Segoe UI Semibold"/>
              <a:cs typeface="Segoe UI Semibold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5083" y="297941"/>
            <a:ext cx="2819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/>
              <a:t>Évènements</a:t>
            </a:r>
            <a:r>
              <a:rPr sz="1800" spc="-120" dirty="0"/>
              <a:t> </a:t>
            </a:r>
            <a:r>
              <a:rPr sz="1800" spc="-10" dirty="0"/>
              <a:t>intermédiaires</a:t>
            </a:r>
            <a:endParaRPr sz="1800"/>
          </a:p>
        </p:txBody>
      </p:sp>
      <p:sp>
        <p:nvSpPr>
          <p:cNvPr id="4" name="object 4"/>
          <p:cNvSpPr txBox="1"/>
          <p:nvPr/>
        </p:nvSpPr>
        <p:spPr>
          <a:xfrm>
            <a:off x="78130" y="680745"/>
            <a:ext cx="11790045" cy="233299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85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b="1" dirty="0">
                <a:latin typeface="Segoe UI"/>
                <a:cs typeface="Segoe UI"/>
              </a:rPr>
              <a:t>Les</a:t>
            </a:r>
            <a:r>
              <a:rPr sz="1900" b="1" spc="-45" dirty="0">
                <a:latin typeface="Segoe UI"/>
                <a:cs typeface="Segoe UI"/>
              </a:rPr>
              <a:t> </a:t>
            </a:r>
            <a:r>
              <a:rPr sz="1900" b="1" spc="-10" dirty="0">
                <a:latin typeface="Segoe UI"/>
                <a:cs typeface="Segoe UI"/>
              </a:rPr>
              <a:t>évènements</a:t>
            </a:r>
            <a:r>
              <a:rPr sz="1900" b="1" spc="-80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intermédiaires</a:t>
            </a:r>
            <a:r>
              <a:rPr sz="1900" b="1" spc="-80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peuvent</a:t>
            </a:r>
            <a:r>
              <a:rPr sz="1900" b="1" spc="-75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être</a:t>
            </a:r>
            <a:r>
              <a:rPr sz="1900" b="1" spc="-50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placés</a:t>
            </a:r>
            <a:r>
              <a:rPr sz="1900" b="1" spc="-70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dans</a:t>
            </a:r>
            <a:r>
              <a:rPr sz="1900" b="1" spc="-65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le</a:t>
            </a:r>
            <a:r>
              <a:rPr sz="1900" b="1" spc="-130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flux</a:t>
            </a:r>
            <a:r>
              <a:rPr sz="1900" b="1" spc="-50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séquentiel</a:t>
            </a:r>
            <a:r>
              <a:rPr sz="1900" b="1" spc="-80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ou</a:t>
            </a:r>
            <a:r>
              <a:rPr sz="1900" b="1" spc="-45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venir</a:t>
            </a:r>
            <a:r>
              <a:rPr sz="1900" b="1" spc="-70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en</a:t>
            </a:r>
            <a:r>
              <a:rPr sz="1900" b="1" spc="-35" dirty="0">
                <a:latin typeface="Segoe UI"/>
                <a:cs typeface="Segoe UI"/>
              </a:rPr>
              <a:t> </a:t>
            </a:r>
            <a:r>
              <a:rPr sz="1900" b="1" spc="-10" dirty="0">
                <a:latin typeface="Segoe UI"/>
                <a:cs typeface="Segoe UI"/>
              </a:rPr>
              <a:t>complément</a:t>
            </a:r>
            <a:endParaRPr sz="1900">
              <a:latin typeface="Segoe UI"/>
              <a:cs typeface="Segoe UI"/>
            </a:endParaRPr>
          </a:p>
          <a:p>
            <a:pPr marL="241300">
              <a:lnSpc>
                <a:spcPct val="100000"/>
              </a:lnSpc>
              <a:spcBef>
                <a:spcPts val="680"/>
              </a:spcBef>
            </a:pPr>
            <a:r>
              <a:rPr sz="1900" b="1" dirty="0">
                <a:latin typeface="Segoe UI"/>
                <a:cs typeface="Segoe UI"/>
              </a:rPr>
              <a:t>d’une</a:t>
            </a:r>
            <a:r>
              <a:rPr sz="1900" b="1" spc="-55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tâche.</a:t>
            </a:r>
            <a:r>
              <a:rPr sz="1900" b="1" spc="-40" dirty="0">
                <a:latin typeface="Segoe UI"/>
                <a:cs typeface="Segoe U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Segoe UI"/>
                <a:cs typeface="Segoe UI"/>
              </a:rPr>
              <a:t>Attention</a:t>
            </a:r>
            <a:r>
              <a:rPr sz="1800" b="1" dirty="0">
                <a:solidFill>
                  <a:srgbClr val="C00000"/>
                </a:solidFill>
                <a:latin typeface="Segoe UI"/>
                <a:cs typeface="Segoe UI"/>
              </a:rPr>
              <a:t> !</a:t>
            </a:r>
            <a:r>
              <a:rPr sz="1800" b="1" spc="-20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Segoe UI"/>
                <a:cs typeface="Segoe UI"/>
              </a:rPr>
              <a:t>La</a:t>
            </a:r>
            <a:r>
              <a:rPr sz="1800" b="1" spc="-40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Segoe UI"/>
                <a:cs typeface="Segoe UI"/>
              </a:rPr>
              <a:t>lecture/compréhension</a:t>
            </a:r>
            <a:r>
              <a:rPr sz="1800" b="1" spc="-30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Segoe UI"/>
                <a:cs typeface="Segoe UI"/>
              </a:rPr>
              <a:t>du</a:t>
            </a:r>
            <a:r>
              <a:rPr sz="1800" b="1" spc="-45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Segoe UI"/>
                <a:cs typeface="Segoe UI"/>
              </a:rPr>
              <a:t>diagramme</a:t>
            </a:r>
            <a:r>
              <a:rPr sz="1800" b="1" spc="-55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Segoe UI"/>
                <a:cs typeface="Segoe UI"/>
              </a:rPr>
              <a:t>se</a:t>
            </a:r>
            <a:r>
              <a:rPr sz="1800" b="1" spc="-35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Segoe UI"/>
                <a:cs typeface="Segoe UI"/>
              </a:rPr>
              <a:t>complique</a:t>
            </a:r>
            <a:r>
              <a:rPr sz="1800" b="1" spc="-50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Segoe UI"/>
                <a:cs typeface="Segoe UI"/>
              </a:rPr>
              <a:t>!</a:t>
            </a:r>
            <a:r>
              <a:rPr sz="1800" b="1" spc="-20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Segoe UI"/>
                <a:cs typeface="Segoe UI"/>
              </a:rPr>
              <a:t>À</a:t>
            </a:r>
            <a:r>
              <a:rPr sz="1800" b="1" spc="-25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Segoe UI"/>
                <a:cs typeface="Segoe UI"/>
              </a:rPr>
              <a:t>utiliser</a:t>
            </a:r>
            <a:r>
              <a:rPr sz="1800" b="1" spc="-60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Segoe UI"/>
                <a:cs typeface="Segoe UI"/>
              </a:rPr>
              <a:t>avec</a:t>
            </a:r>
            <a:r>
              <a:rPr sz="1800" b="1" spc="-40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Segoe UI"/>
                <a:cs typeface="Segoe UI"/>
              </a:rPr>
              <a:t>précaution.</a:t>
            </a:r>
            <a:endParaRPr sz="180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2020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b="1" dirty="0">
                <a:latin typeface="Segoe UI"/>
                <a:cs typeface="Segoe UI"/>
              </a:rPr>
              <a:t>Placé</a:t>
            </a:r>
            <a:r>
              <a:rPr sz="1900" b="1" spc="-90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dans</a:t>
            </a:r>
            <a:r>
              <a:rPr sz="1900" b="1" spc="-65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le</a:t>
            </a:r>
            <a:r>
              <a:rPr sz="1900" b="1" spc="-60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flux</a:t>
            </a:r>
            <a:r>
              <a:rPr sz="1900" b="1" spc="-70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séquentiel</a:t>
            </a:r>
            <a:r>
              <a:rPr sz="1900" dirty="0">
                <a:latin typeface="Segoe UI"/>
                <a:cs typeface="Segoe UI"/>
              </a:rPr>
              <a:t>,</a:t>
            </a:r>
            <a:r>
              <a:rPr sz="1900" spc="-9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un</a:t>
            </a:r>
            <a:r>
              <a:rPr sz="1900" spc="-3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évènement</a:t>
            </a:r>
            <a:r>
              <a:rPr sz="1900" spc="-85" dirty="0">
                <a:latin typeface="Segoe UI"/>
                <a:cs typeface="Segoe UI"/>
              </a:rPr>
              <a:t> </a:t>
            </a:r>
            <a:r>
              <a:rPr sz="1900" spc="-10" dirty="0">
                <a:latin typeface="Segoe UI"/>
                <a:cs typeface="Segoe UI"/>
              </a:rPr>
              <a:t>intermédiaire</a:t>
            </a:r>
            <a:r>
              <a:rPr sz="1900" spc="-25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affiche</a:t>
            </a:r>
            <a:r>
              <a:rPr sz="1900" spc="-50" dirty="0">
                <a:latin typeface="Segoe UI"/>
                <a:cs typeface="Segoe UI"/>
              </a:rPr>
              <a:t> </a:t>
            </a:r>
            <a:r>
              <a:rPr sz="1900" dirty="0">
                <a:latin typeface="Segoe UI"/>
                <a:cs typeface="Segoe UI"/>
              </a:rPr>
              <a:t>une</a:t>
            </a:r>
            <a:r>
              <a:rPr sz="1900" spc="-50" dirty="0">
                <a:latin typeface="Segoe UI"/>
                <a:cs typeface="Segoe UI"/>
              </a:rPr>
              <a:t> </a:t>
            </a:r>
            <a:r>
              <a:rPr sz="1900" b="1" dirty="0">
                <a:latin typeface="Segoe UI"/>
                <a:cs typeface="Segoe UI"/>
              </a:rPr>
              <a:t>bordure</a:t>
            </a:r>
            <a:r>
              <a:rPr sz="1900" b="1" spc="-85" dirty="0">
                <a:latin typeface="Segoe UI"/>
                <a:cs typeface="Segoe UI"/>
              </a:rPr>
              <a:t> </a:t>
            </a:r>
            <a:r>
              <a:rPr sz="1900" b="1" spc="-10" dirty="0">
                <a:latin typeface="Segoe UI"/>
                <a:cs typeface="Segoe UI"/>
              </a:rPr>
              <a:t>double</a:t>
            </a:r>
            <a:r>
              <a:rPr sz="1900" spc="-10" dirty="0">
                <a:latin typeface="Segoe UI"/>
                <a:cs typeface="Segoe UI"/>
              </a:rPr>
              <a:t>.</a:t>
            </a:r>
            <a:endParaRPr sz="1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700" dirty="0">
                <a:latin typeface="Segoe UI"/>
                <a:cs typeface="Segoe UI"/>
              </a:rPr>
              <a:t>Il</a:t>
            </a:r>
            <a:r>
              <a:rPr sz="1700" spc="-25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y</a:t>
            </a:r>
            <a:r>
              <a:rPr sz="1700" spc="-25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a</a:t>
            </a:r>
            <a:r>
              <a:rPr sz="1700" spc="-25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deux</a:t>
            </a:r>
            <a:r>
              <a:rPr sz="1700" spc="-35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sortes </a:t>
            </a:r>
            <a:r>
              <a:rPr sz="1700" spc="-10" dirty="0">
                <a:latin typeface="Segoe UI"/>
                <a:cs typeface="Segoe UI"/>
              </a:rPr>
              <a:t>d’évènements</a:t>
            </a:r>
            <a:r>
              <a:rPr sz="1700" spc="-45" dirty="0">
                <a:latin typeface="Segoe UI"/>
                <a:cs typeface="Segoe UI"/>
              </a:rPr>
              <a:t> </a:t>
            </a:r>
            <a:r>
              <a:rPr sz="1700" spc="-20" dirty="0">
                <a:latin typeface="Segoe UI"/>
                <a:cs typeface="Segoe UI"/>
              </a:rPr>
              <a:t>intermédiaires</a:t>
            </a:r>
            <a:r>
              <a:rPr sz="1700" spc="-5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:</a:t>
            </a:r>
            <a:r>
              <a:rPr sz="1700" spc="-20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le</a:t>
            </a:r>
            <a:r>
              <a:rPr sz="1700" spc="-35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«</a:t>
            </a:r>
            <a:r>
              <a:rPr sz="1700" spc="-5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lancement</a:t>
            </a:r>
            <a:r>
              <a:rPr sz="1700" spc="-55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»</a:t>
            </a:r>
            <a:r>
              <a:rPr sz="1700" spc="-15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et</a:t>
            </a:r>
            <a:r>
              <a:rPr sz="1700" spc="-20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la</a:t>
            </a:r>
            <a:r>
              <a:rPr sz="1700" spc="-25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«</a:t>
            </a:r>
            <a:r>
              <a:rPr sz="1700" spc="-15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réception</a:t>
            </a:r>
            <a:r>
              <a:rPr sz="1700" spc="-35" dirty="0">
                <a:latin typeface="Segoe UI"/>
                <a:cs typeface="Segoe UI"/>
              </a:rPr>
              <a:t> </a:t>
            </a:r>
            <a:r>
              <a:rPr sz="1700" spc="-25" dirty="0">
                <a:latin typeface="Segoe UI"/>
                <a:cs typeface="Segoe UI"/>
              </a:rPr>
              <a:t>».</a:t>
            </a:r>
            <a:endParaRPr sz="1700">
              <a:latin typeface="Segoe UI"/>
              <a:cs typeface="Segoe UI"/>
            </a:endParaRPr>
          </a:p>
          <a:p>
            <a:pPr marL="698500" lvl="1" indent="-228600">
              <a:lnSpc>
                <a:spcPts val="1970"/>
              </a:lnSpc>
              <a:spcBef>
                <a:spcPts val="865"/>
              </a:spcBef>
              <a:buFont typeface="Arial MT"/>
              <a:buChar char="•"/>
              <a:tabLst>
                <a:tab pos="698500" algn="l"/>
              </a:tabLst>
            </a:pPr>
            <a:r>
              <a:rPr sz="1700" dirty="0">
                <a:latin typeface="Segoe UI"/>
                <a:cs typeface="Segoe UI"/>
              </a:rPr>
              <a:t>De</a:t>
            </a:r>
            <a:r>
              <a:rPr sz="1700" spc="-60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type</a:t>
            </a:r>
            <a:r>
              <a:rPr sz="1700" spc="-60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Lancement</a:t>
            </a:r>
            <a:r>
              <a:rPr sz="1700" spc="-70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(</a:t>
            </a:r>
            <a:r>
              <a:rPr sz="1700" i="1" dirty="0">
                <a:latin typeface="Segoe UI"/>
                <a:cs typeface="Segoe UI"/>
              </a:rPr>
              <a:t>throw</a:t>
            </a:r>
            <a:r>
              <a:rPr sz="1700" dirty="0">
                <a:latin typeface="Segoe UI"/>
                <a:cs typeface="Segoe UI"/>
              </a:rPr>
              <a:t>)</a:t>
            </a:r>
            <a:r>
              <a:rPr sz="1700" spc="-15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:</a:t>
            </a:r>
            <a:r>
              <a:rPr sz="1700" spc="-50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Signifie</a:t>
            </a:r>
            <a:r>
              <a:rPr sz="1700" spc="-75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que</a:t>
            </a:r>
            <a:r>
              <a:rPr sz="1700" spc="-55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le</a:t>
            </a:r>
            <a:r>
              <a:rPr sz="1700" spc="-35" dirty="0">
                <a:latin typeface="Segoe UI"/>
                <a:cs typeface="Segoe UI"/>
              </a:rPr>
              <a:t> </a:t>
            </a:r>
            <a:r>
              <a:rPr sz="1700" spc="-10" dirty="0">
                <a:latin typeface="Segoe UI"/>
                <a:cs typeface="Segoe UI"/>
              </a:rPr>
              <a:t>processus</a:t>
            </a:r>
            <a:r>
              <a:rPr sz="1700" spc="15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est</a:t>
            </a:r>
            <a:r>
              <a:rPr sz="1700" spc="-45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le</a:t>
            </a:r>
            <a:r>
              <a:rPr sz="1700" spc="-45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déclencheur</a:t>
            </a:r>
            <a:r>
              <a:rPr sz="1700" spc="-65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ou</a:t>
            </a:r>
            <a:r>
              <a:rPr sz="1700" spc="-30" dirty="0">
                <a:latin typeface="Segoe UI"/>
                <a:cs typeface="Segoe UI"/>
              </a:rPr>
              <a:t> </a:t>
            </a:r>
            <a:r>
              <a:rPr sz="1700" spc="-10" dirty="0">
                <a:latin typeface="Segoe UI"/>
                <a:cs typeface="Segoe UI"/>
              </a:rPr>
              <a:t>l’émetteur</a:t>
            </a:r>
            <a:endParaRPr sz="1700">
              <a:latin typeface="Segoe UI"/>
              <a:cs typeface="Segoe UI"/>
            </a:endParaRPr>
          </a:p>
          <a:p>
            <a:pPr marL="3402329">
              <a:lnSpc>
                <a:spcPts val="1970"/>
              </a:lnSpc>
            </a:pPr>
            <a:r>
              <a:rPr sz="1700" b="1" dirty="0">
                <a:latin typeface="Segoe UI"/>
                <a:cs typeface="Segoe UI"/>
              </a:rPr>
              <a:t>Les</a:t>
            </a:r>
            <a:r>
              <a:rPr sz="1700" b="1" spc="-70" dirty="0">
                <a:latin typeface="Segoe UI"/>
                <a:cs typeface="Segoe UI"/>
              </a:rPr>
              <a:t> </a:t>
            </a:r>
            <a:r>
              <a:rPr sz="1700" b="1" dirty="0">
                <a:latin typeface="Segoe UI"/>
                <a:cs typeface="Segoe UI"/>
              </a:rPr>
              <a:t>pictogrammes</a:t>
            </a:r>
            <a:r>
              <a:rPr sz="1700" b="1" spc="-70" dirty="0">
                <a:latin typeface="Segoe UI"/>
                <a:cs typeface="Segoe UI"/>
              </a:rPr>
              <a:t> </a:t>
            </a:r>
            <a:r>
              <a:rPr sz="1700" b="1" dirty="0">
                <a:latin typeface="Segoe UI"/>
                <a:cs typeface="Segoe UI"/>
              </a:rPr>
              <a:t>sont</a:t>
            </a:r>
            <a:r>
              <a:rPr sz="1700" b="1" spc="-100" dirty="0">
                <a:latin typeface="Segoe UI"/>
                <a:cs typeface="Segoe UI"/>
              </a:rPr>
              <a:t> </a:t>
            </a:r>
            <a:r>
              <a:rPr sz="1700" b="1" spc="-10" dirty="0">
                <a:latin typeface="Segoe UI"/>
                <a:cs typeface="Segoe UI"/>
              </a:rPr>
              <a:t>remplis</a:t>
            </a:r>
            <a:r>
              <a:rPr sz="1700" spc="-10" dirty="0">
                <a:latin typeface="Segoe UI"/>
                <a:cs typeface="Segoe UI"/>
              </a:rPr>
              <a:t>.</a:t>
            </a:r>
            <a:endParaRPr sz="170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635" y="3117595"/>
            <a:ext cx="276606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dirty="0">
                <a:latin typeface="Segoe UI"/>
                <a:cs typeface="Segoe UI"/>
              </a:rPr>
              <a:t>De</a:t>
            </a:r>
            <a:r>
              <a:rPr sz="1700" spc="-70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type</a:t>
            </a:r>
            <a:r>
              <a:rPr sz="1700" spc="-60" dirty="0">
                <a:latin typeface="Segoe UI"/>
                <a:cs typeface="Segoe UI"/>
              </a:rPr>
              <a:t> </a:t>
            </a:r>
            <a:r>
              <a:rPr sz="1700" spc="-20" dirty="0">
                <a:latin typeface="Segoe UI"/>
                <a:cs typeface="Segoe UI"/>
              </a:rPr>
              <a:t>Réception</a:t>
            </a:r>
            <a:r>
              <a:rPr sz="1700" spc="-35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(</a:t>
            </a:r>
            <a:r>
              <a:rPr sz="1700" i="1" dirty="0">
                <a:latin typeface="Segoe UI"/>
                <a:cs typeface="Segoe UI"/>
              </a:rPr>
              <a:t>catch</a:t>
            </a:r>
            <a:r>
              <a:rPr sz="1700" dirty="0">
                <a:latin typeface="Segoe UI"/>
                <a:cs typeface="Segoe UI"/>
              </a:rPr>
              <a:t>)</a:t>
            </a:r>
            <a:r>
              <a:rPr sz="1700" spc="-60" dirty="0">
                <a:latin typeface="Segoe UI"/>
                <a:cs typeface="Segoe UI"/>
              </a:rPr>
              <a:t> </a:t>
            </a:r>
            <a:r>
              <a:rPr sz="1700" spc="-50" dirty="0">
                <a:latin typeface="Segoe UI"/>
                <a:cs typeface="Segoe UI"/>
              </a:rPr>
              <a:t>:</a:t>
            </a:r>
            <a:endParaRPr sz="170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67480" y="3122802"/>
            <a:ext cx="5224780" cy="742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860">
              <a:lnSpc>
                <a:spcPts val="1920"/>
              </a:lnSpc>
              <a:spcBef>
                <a:spcPts val="105"/>
              </a:spcBef>
            </a:pPr>
            <a:r>
              <a:rPr sz="1700" dirty="0">
                <a:latin typeface="Segoe UI"/>
                <a:cs typeface="Segoe UI"/>
              </a:rPr>
              <a:t>Signifie</a:t>
            </a:r>
            <a:r>
              <a:rPr sz="1700" spc="-60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que</a:t>
            </a:r>
            <a:r>
              <a:rPr sz="1700" spc="-70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le</a:t>
            </a:r>
            <a:r>
              <a:rPr sz="1700" spc="-35" dirty="0">
                <a:latin typeface="Segoe UI"/>
                <a:cs typeface="Segoe UI"/>
              </a:rPr>
              <a:t> </a:t>
            </a:r>
            <a:r>
              <a:rPr sz="1700" spc="-10" dirty="0">
                <a:latin typeface="Segoe UI"/>
                <a:cs typeface="Segoe UI"/>
              </a:rPr>
              <a:t>processus</a:t>
            </a:r>
            <a:r>
              <a:rPr sz="1700" spc="10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est</a:t>
            </a:r>
            <a:r>
              <a:rPr sz="1700" spc="-30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en</a:t>
            </a:r>
            <a:r>
              <a:rPr sz="1700" spc="-45" dirty="0">
                <a:latin typeface="Segoe UI"/>
                <a:cs typeface="Segoe UI"/>
              </a:rPr>
              <a:t> </a:t>
            </a:r>
            <a:r>
              <a:rPr sz="1700" spc="-10" dirty="0">
                <a:latin typeface="Segoe UI"/>
                <a:cs typeface="Segoe UI"/>
              </a:rPr>
              <a:t>attente</a:t>
            </a:r>
            <a:r>
              <a:rPr sz="1700" spc="-45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de</a:t>
            </a:r>
            <a:r>
              <a:rPr sz="1700" spc="-50" dirty="0">
                <a:latin typeface="Segoe UI"/>
                <a:cs typeface="Segoe UI"/>
              </a:rPr>
              <a:t> </a:t>
            </a:r>
            <a:r>
              <a:rPr sz="1700" spc="-10" dirty="0">
                <a:latin typeface="Segoe UI"/>
                <a:cs typeface="Segoe UI"/>
              </a:rPr>
              <a:t>l’évènement</a:t>
            </a:r>
            <a:endParaRPr sz="1700">
              <a:latin typeface="Segoe UI"/>
              <a:cs typeface="Segoe UI"/>
            </a:endParaRPr>
          </a:p>
          <a:p>
            <a:pPr marL="12700">
              <a:lnSpc>
                <a:spcPts val="1800"/>
              </a:lnSpc>
            </a:pPr>
            <a:r>
              <a:rPr sz="1700" dirty="0">
                <a:latin typeface="Segoe UI"/>
                <a:cs typeface="Segoe UI"/>
              </a:rPr>
              <a:t>(le</a:t>
            </a:r>
            <a:r>
              <a:rPr sz="1700" spc="-75" dirty="0">
                <a:latin typeface="Segoe UI"/>
                <a:cs typeface="Segoe UI"/>
              </a:rPr>
              <a:t> </a:t>
            </a:r>
            <a:r>
              <a:rPr sz="1700" spc="-10" dirty="0">
                <a:latin typeface="Segoe UI"/>
                <a:cs typeface="Segoe UI"/>
              </a:rPr>
              <a:t>processus</a:t>
            </a:r>
            <a:r>
              <a:rPr sz="1700" spc="10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est</a:t>
            </a:r>
            <a:r>
              <a:rPr sz="1700" spc="-60" dirty="0">
                <a:latin typeface="Segoe UI"/>
                <a:cs typeface="Segoe UI"/>
              </a:rPr>
              <a:t> </a:t>
            </a:r>
            <a:r>
              <a:rPr sz="1700" dirty="0">
                <a:latin typeface="Segoe UI"/>
                <a:cs typeface="Segoe UI"/>
              </a:rPr>
              <a:t>le</a:t>
            </a:r>
            <a:r>
              <a:rPr sz="1700" spc="-50" dirty="0">
                <a:latin typeface="Segoe UI"/>
                <a:cs typeface="Segoe UI"/>
              </a:rPr>
              <a:t> </a:t>
            </a:r>
            <a:r>
              <a:rPr sz="1700" spc="-10" dirty="0">
                <a:latin typeface="Segoe UI"/>
                <a:cs typeface="Segoe UI"/>
              </a:rPr>
              <a:t>destinataire)</a:t>
            </a:r>
            <a:endParaRPr sz="1700">
              <a:latin typeface="Segoe UI"/>
              <a:cs typeface="Segoe UI"/>
            </a:endParaRPr>
          </a:p>
          <a:p>
            <a:pPr marL="12700">
              <a:lnSpc>
                <a:spcPts val="1920"/>
              </a:lnSpc>
            </a:pPr>
            <a:r>
              <a:rPr sz="1700" b="1" dirty="0">
                <a:latin typeface="Segoe UI"/>
                <a:cs typeface="Segoe UI"/>
              </a:rPr>
              <a:t>Les</a:t>
            </a:r>
            <a:r>
              <a:rPr sz="1700" b="1" spc="-30" dirty="0">
                <a:latin typeface="Segoe UI"/>
                <a:cs typeface="Segoe UI"/>
              </a:rPr>
              <a:t> </a:t>
            </a:r>
            <a:r>
              <a:rPr sz="1700" b="1" spc="-10" dirty="0">
                <a:latin typeface="Segoe UI"/>
                <a:cs typeface="Segoe UI"/>
              </a:rPr>
              <a:t>pictogrammes</a:t>
            </a:r>
            <a:r>
              <a:rPr sz="1700" b="1" spc="-35" dirty="0">
                <a:latin typeface="Segoe UI"/>
                <a:cs typeface="Segoe UI"/>
              </a:rPr>
              <a:t> </a:t>
            </a:r>
            <a:r>
              <a:rPr sz="1700" b="1" dirty="0">
                <a:latin typeface="Segoe UI"/>
                <a:cs typeface="Segoe UI"/>
              </a:rPr>
              <a:t>sont</a:t>
            </a:r>
            <a:r>
              <a:rPr sz="1700" b="1" spc="-50" dirty="0">
                <a:latin typeface="Segoe UI"/>
                <a:cs typeface="Segoe UI"/>
              </a:rPr>
              <a:t> </a:t>
            </a:r>
            <a:r>
              <a:rPr sz="1700" b="1" spc="-10" dirty="0">
                <a:latin typeface="Segoe UI"/>
                <a:cs typeface="Segoe UI"/>
              </a:rPr>
              <a:t>vides</a:t>
            </a:r>
            <a:r>
              <a:rPr sz="1700" spc="-10" dirty="0">
                <a:latin typeface="Segoe UI"/>
                <a:cs typeface="Segoe UI"/>
              </a:rPr>
              <a:t>.</a:t>
            </a:r>
            <a:endParaRPr sz="170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635" y="4371213"/>
            <a:ext cx="137223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b="1" spc="-20" dirty="0">
                <a:latin typeface="Segoe UI"/>
                <a:cs typeface="Segoe UI"/>
              </a:rPr>
              <a:t>Réception</a:t>
            </a:r>
            <a:endParaRPr sz="1900">
              <a:latin typeface="Segoe UI"/>
              <a:cs typeface="Segoe U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344926" y="2308098"/>
            <a:ext cx="6705854" cy="4063301"/>
            <a:chOff x="3344926" y="2308098"/>
            <a:chExt cx="6705854" cy="4063301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30284" y="2308098"/>
              <a:ext cx="920496" cy="99821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26473" y="3208032"/>
              <a:ext cx="869429" cy="85495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49752" y="4008882"/>
              <a:ext cx="4749546" cy="235762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344926" y="4004119"/>
              <a:ext cx="4759325" cy="2367280"/>
            </a:xfrm>
            <a:custGeom>
              <a:avLst/>
              <a:gdLst/>
              <a:ahLst/>
              <a:cxnLst/>
              <a:rect l="l" t="t" r="r" b="b"/>
              <a:pathLst>
                <a:path w="4759325" h="2367279">
                  <a:moveTo>
                    <a:pt x="0" y="2367280"/>
                  </a:moveTo>
                  <a:lnTo>
                    <a:pt x="4759325" y="2367280"/>
                  </a:lnTo>
                  <a:lnTo>
                    <a:pt x="4759325" y="0"/>
                  </a:lnTo>
                  <a:lnTo>
                    <a:pt x="0" y="0"/>
                  </a:lnTo>
                  <a:lnTo>
                    <a:pt x="0" y="2367280"/>
                  </a:lnTo>
                  <a:close/>
                </a:path>
              </a:pathLst>
            </a:custGeom>
            <a:ln w="9525">
              <a:solidFill>
                <a:srgbClr val="2D53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35635" y="3955160"/>
            <a:ext cx="171259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1900" b="1" dirty="0">
                <a:latin typeface="Segoe UI"/>
                <a:cs typeface="Segoe UI"/>
              </a:rPr>
              <a:t>Lancement</a:t>
            </a:r>
            <a:r>
              <a:rPr sz="1900" b="1" spc="155" dirty="0">
                <a:latin typeface="Segoe UI"/>
                <a:cs typeface="Segoe U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9258198-2E18-66DA-4018-74D0554FD7AE}"/>
              </a:ext>
            </a:extLst>
          </p:cNvPr>
          <p:cNvSpPr/>
          <p:nvPr/>
        </p:nvSpPr>
        <p:spPr>
          <a:xfrm>
            <a:off x="2142908" y="3934459"/>
            <a:ext cx="322327" cy="335661"/>
          </a:xfrm>
          <a:prstGeom prst="ellipse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8D906EB-0867-61EC-FCB3-542FE8BDC253}"/>
              </a:ext>
            </a:extLst>
          </p:cNvPr>
          <p:cNvSpPr/>
          <p:nvPr/>
        </p:nvSpPr>
        <p:spPr>
          <a:xfrm>
            <a:off x="2142908" y="4375912"/>
            <a:ext cx="322327" cy="335661"/>
          </a:xfrm>
          <a:prstGeom prst="ellipse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83040E4-3FAA-F2BE-3FA6-C2BBFD9C10BD}"/>
              </a:ext>
            </a:extLst>
          </p:cNvPr>
          <p:cNvSpPr/>
          <p:nvPr/>
        </p:nvSpPr>
        <p:spPr>
          <a:xfrm>
            <a:off x="6019800" y="4187358"/>
            <a:ext cx="322327" cy="335661"/>
          </a:xfrm>
          <a:prstGeom prst="ellipse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24CDE74-F704-A9F9-28B5-25122808816E}"/>
              </a:ext>
            </a:extLst>
          </p:cNvPr>
          <p:cNvSpPr/>
          <p:nvPr/>
        </p:nvSpPr>
        <p:spPr>
          <a:xfrm>
            <a:off x="6062727" y="5345572"/>
            <a:ext cx="322327" cy="335661"/>
          </a:xfrm>
          <a:prstGeom prst="ellipse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5968" y="698880"/>
            <a:ext cx="12204700" cy="6159500"/>
            <a:chOff x="-5968" y="698880"/>
            <a:chExt cx="12204700" cy="6159500"/>
          </a:xfrm>
        </p:grpSpPr>
        <p:sp>
          <p:nvSpPr>
            <p:cNvPr id="3" name="object 3"/>
            <p:cNvSpPr/>
            <p:nvPr/>
          </p:nvSpPr>
          <p:spPr>
            <a:xfrm>
              <a:off x="381" y="705230"/>
              <a:ext cx="12192000" cy="5652135"/>
            </a:xfrm>
            <a:custGeom>
              <a:avLst/>
              <a:gdLst/>
              <a:ahLst/>
              <a:cxnLst/>
              <a:rect l="l" t="t" r="r" b="b"/>
              <a:pathLst>
                <a:path w="12192000" h="5652135">
                  <a:moveTo>
                    <a:pt x="12191619" y="0"/>
                  </a:moveTo>
                  <a:lnTo>
                    <a:pt x="0" y="0"/>
                  </a:lnTo>
                  <a:lnTo>
                    <a:pt x="0" y="5651754"/>
                  </a:lnTo>
                  <a:lnTo>
                    <a:pt x="12191619" y="5651754"/>
                  </a:lnTo>
                  <a:lnTo>
                    <a:pt x="121916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1" y="705230"/>
              <a:ext cx="12192000" cy="5652135"/>
            </a:xfrm>
            <a:custGeom>
              <a:avLst/>
              <a:gdLst/>
              <a:ahLst/>
              <a:cxnLst/>
              <a:rect l="l" t="t" r="r" b="b"/>
              <a:pathLst>
                <a:path w="12192000" h="5652135">
                  <a:moveTo>
                    <a:pt x="0" y="5651754"/>
                  </a:moveTo>
                  <a:lnTo>
                    <a:pt x="12192000" y="5651754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65175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000493" y="4643373"/>
            <a:ext cx="41992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Segoe UI"/>
                <a:cs typeface="Segoe UI"/>
              </a:rPr>
              <a:t>Le</a:t>
            </a:r>
            <a:r>
              <a:rPr sz="1600" spc="-7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CP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MOA</a:t>
            </a:r>
            <a:r>
              <a:rPr sz="1600" spc="2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valide</a:t>
            </a:r>
            <a:r>
              <a:rPr sz="1600" spc="-8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le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Cahier</a:t>
            </a:r>
            <a:r>
              <a:rPr sz="1600" spc="-60" dirty="0">
                <a:latin typeface="Segoe UI"/>
                <a:cs typeface="Segoe UI"/>
              </a:rPr>
              <a:t> </a:t>
            </a:r>
            <a:r>
              <a:rPr sz="1600" spc="-35" dirty="0">
                <a:latin typeface="Segoe UI"/>
                <a:cs typeface="Segoe UI"/>
              </a:rPr>
              <a:t>d’exigences</a:t>
            </a:r>
            <a:r>
              <a:rPr sz="1600" spc="-7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(ici,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pas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430" y="72898"/>
            <a:ext cx="11945620" cy="4321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2125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242424"/>
                </a:solidFill>
                <a:latin typeface="Segoe UI Semibold"/>
                <a:cs typeface="Segoe UI Semibold"/>
              </a:rPr>
              <a:t>Évènements</a:t>
            </a:r>
            <a:endParaRPr sz="1400">
              <a:latin typeface="Segoe UI Semibold"/>
              <a:cs typeface="Segoe UI Semibold"/>
            </a:endParaRPr>
          </a:p>
          <a:p>
            <a:pPr marL="492125">
              <a:lnSpc>
                <a:spcPct val="100000"/>
              </a:lnSpc>
              <a:spcBef>
                <a:spcPts val="90"/>
              </a:spcBef>
            </a:pPr>
            <a:r>
              <a:rPr sz="1800" dirty="0">
                <a:solidFill>
                  <a:srgbClr val="FFFFFF"/>
                </a:solidFill>
                <a:latin typeface="Segoe UI Semibold"/>
                <a:cs typeface="Segoe UI Semibold"/>
              </a:rPr>
              <a:t>Évènements</a:t>
            </a:r>
            <a:r>
              <a:rPr sz="1800" spc="-120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Semibold"/>
                <a:cs typeface="Segoe UI Semibold"/>
              </a:rPr>
              <a:t>intermédiaires</a:t>
            </a:r>
            <a:endParaRPr sz="1800">
              <a:latin typeface="Segoe UI Semibold"/>
              <a:cs typeface="Segoe UI Semibold"/>
            </a:endParaRPr>
          </a:p>
          <a:p>
            <a:pPr marL="253365" indent="-227965">
              <a:lnSpc>
                <a:spcPct val="100000"/>
              </a:lnSpc>
              <a:spcBef>
                <a:spcPts val="2225"/>
              </a:spcBef>
              <a:buFont typeface="Arial MT"/>
              <a:buChar char="•"/>
              <a:tabLst>
                <a:tab pos="253365" algn="l"/>
              </a:tabLst>
            </a:pPr>
            <a:r>
              <a:rPr sz="2000" b="1" dirty="0">
                <a:latin typeface="Segoe UI"/>
                <a:cs typeface="Segoe UI"/>
              </a:rPr>
              <a:t>Placé</a:t>
            </a:r>
            <a:r>
              <a:rPr sz="2000" b="1" spc="-7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à</a:t>
            </a:r>
            <a:r>
              <a:rPr sz="2000" b="1" spc="-5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la</a:t>
            </a:r>
            <a:r>
              <a:rPr sz="2000" b="1" spc="-6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frontière</a:t>
            </a:r>
            <a:r>
              <a:rPr sz="2000" b="1" spc="-6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d’une</a:t>
            </a:r>
            <a:r>
              <a:rPr sz="2000" b="1" spc="-4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activité</a:t>
            </a:r>
            <a:r>
              <a:rPr sz="2000" b="1" spc="-7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ou</a:t>
            </a:r>
            <a:r>
              <a:rPr sz="2000" b="1" spc="-5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d’une</a:t>
            </a:r>
            <a:r>
              <a:rPr sz="2000" b="1" spc="-4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tâche</a:t>
            </a:r>
            <a:r>
              <a:rPr sz="2000" b="1" spc="-6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(soit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sur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la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bordure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du</a:t>
            </a:r>
            <a:r>
              <a:rPr sz="2000" spc="-4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rectangle),</a:t>
            </a:r>
            <a:r>
              <a:rPr sz="2000" spc="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il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spc="-20" dirty="0">
                <a:latin typeface="Segoe UI"/>
                <a:cs typeface="Segoe UI"/>
              </a:rPr>
              <a:t>peut</a:t>
            </a:r>
            <a:endParaRPr sz="2000">
              <a:latin typeface="Segoe UI"/>
              <a:cs typeface="Segoe UI"/>
            </a:endParaRPr>
          </a:p>
          <a:p>
            <a:pPr marL="254000">
              <a:lnSpc>
                <a:spcPct val="100000"/>
              </a:lnSpc>
              <a:spcBef>
                <a:spcPts val="1200"/>
              </a:spcBef>
            </a:pPr>
            <a:r>
              <a:rPr sz="2000" b="1" spc="-10" dirty="0">
                <a:latin typeface="Segoe UI"/>
                <a:cs typeface="Segoe UI"/>
              </a:rPr>
              <a:t>interrompre</a:t>
            </a:r>
            <a:r>
              <a:rPr sz="2000" b="1" spc="-5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ou</a:t>
            </a:r>
            <a:r>
              <a:rPr sz="2000" b="1" spc="-4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non</a:t>
            </a:r>
            <a:r>
              <a:rPr sz="2000" b="1" spc="-2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le</a:t>
            </a:r>
            <a:r>
              <a:rPr sz="2000" b="1" spc="-4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flux</a:t>
            </a:r>
            <a:r>
              <a:rPr sz="2000" b="1" spc="-5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séquentiel</a:t>
            </a:r>
            <a:r>
              <a:rPr sz="2000" b="1" spc="-5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du</a:t>
            </a:r>
            <a:r>
              <a:rPr sz="2000" b="1" spc="-35" dirty="0">
                <a:latin typeface="Segoe UI"/>
                <a:cs typeface="Segoe UI"/>
              </a:rPr>
              <a:t> </a:t>
            </a:r>
            <a:r>
              <a:rPr sz="2000" b="1" spc="-10" dirty="0">
                <a:latin typeface="Segoe UI"/>
                <a:cs typeface="Segoe UI"/>
              </a:rPr>
              <a:t>processus</a:t>
            </a:r>
            <a:r>
              <a:rPr sz="2000" spc="-10" dirty="0">
                <a:latin typeface="Segoe UI"/>
                <a:cs typeface="Segoe UI"/>
              </a:rPr>
              <a:t>.</a:t>
            </a:r>
            <a:endParaRPr sz="2000">
              <a:latin typeface="Segoe UI"/>
              <a:cs typeface="Segoe UI"/>
            </a:endParaRPr>
          </a:p>
          <a:p>
            <a:pPr marL="711200" lvl="1" indent="-228600">
              <a:lnSpc>
                <a:spcPct val="100000"/>
              </a:lnSpc>
              <a:spcBef>
                <a:spcPts val="1605"/>
              </a:spcBef>
              <a:buFont typeface="Arial MT"/>
              <a:buChar char="•"/>
              <a:tabLst>
                <a:tab pos="711200" algn="l"/>
              </a:tabLst>
            </a:pPr>
            <a:r>
              <a:rPr sz="1800" b="1" dirty="0">
                <a:latin typeface="Segoe UI"/>
                <a:cs typeface="Segoe UI"/>
              </a:rPr>
              <a:t>Interruptif</a:t>
            </a:r>
            <a:r>
              <a:rPr sz="1800" b="1" spc="-55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(trait)</a:t>
            </a:r>
            <a:r>
              <a:rPr sz="1800" b="1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: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Signifie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que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la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réception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de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l’élément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est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nécessaire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afin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de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poursuivre</a:t>
            </a:r>
            <a:r>
              <a:rPr sz="1800" spc="-9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le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flux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séquentiel.</a:t>
            </a:r>
            <a:endParaRPr sz="1800">
              <a:latin typeface="Segoe UI"/>
              <a:cs typeface="Segoe UI"/>
            </a:endParaRPr>
          </a:p>
          <a:p>
            <a:pPr marL="711200" lvl="1" indent="-228600">
              <a:lnSpc>
                <a:spcPct val="100000"/>
              </a:lnSpc>
              <a:spcBef>
                <a:spcPts val="1190"/>
              </a:spcBef>
              <a:buFont typeface="Arial MT"/>
              <a:buChar char="•"/>
              <a:tabLst>
                <a:tab pos="711200" algn="l"/>
              </a:tabLst>
            </a:pPr>
            <a:r>
              <a:rPr sz="1800" b="1" dirty="0">
                <a:latin typeface="Segoe UI"/>
                <a:cs typeface="Segoe UI"/>
              </a:rPr>
              <a:t>Non</a:t>
            </a:r>
            <a:r>
              <a:rPr sz="1800" b="1" spc="-50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interruptif</a:t>
            </a:r>
            <a:r>
              <a:rPr sz="1800" b="1" spc="-60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(pointillés)</a:t>
            </a:r>
            <a:r>
              <a:rPr sz="1800" b="1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: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Le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flux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séquentiel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poursuit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son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chemin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pendant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l'attente</a:t>
            </a:r>
            <a:r>
              <a:rPr sz="1800" spc="-8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de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l’élément.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Ce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sont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spc="-25" dirty="0">
                <a:latin typeface="Segoe UI"/>
                <a:cs typeface="Segoe UI"/>
              </a:rPr>
              <a:t>des</a:t>
            </a:r>
            <a:endParaRPr sz="1800">
              <a:latin typeface="Segoe UI"/>
              <a:cs typeface="Segoe UI"/>
            </a:endParaRPr>
          </a:p>
          <a:p>
            <a:pPr marL="7112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Segoe UI"/>
                <a:cs typeface="Segoe UI"/>
              </a:rPr>
              <a:t>évènements</a:t>
            </a:r>
            <a:r>
              <a:rPr sz="1800" spc="-10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non-interruptifs,</a:t>
            </a:r>
            <a:r>
              <a:rPr sz="1800" spc="-9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donc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les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tâches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suivantes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peuvent</a:t>
            </a:r>
            <a:r>
              <a:rPr sz="1800" spc="-95" dirty="0">
                <a:latin typeface="Segoe UI"/>
                <a:cs typeface="Segoe UI"/>
              </a:rPr>
              <a:t> </a:t>
            </a:r>
            <a:r>
              <a:rPr sz="1800">
                <a:latin typeface="Segoe UI"/>
                <a:cs typeface="Segoe UI"/>
              </a:rPr>
              <a:t>être</a:t>
            </a:r>
            <a:r>
              <a:rPr sz="1800" spc="-45">
                <a:latin typeface="Segoe UI"/>
                <a:cs typeface="Segoe UI"/>
              </a:rPr>
              <a:t> </a:t>
            </a:r>
            <a:r>
              <a:rPr sz="1800" spc="-10">
                <a:latin typeface="Segoe UI"/>
                <a:cs typeface="Segoe UI"/>
              </a:rPr>
              <a:t>exécutées</a:t>
            </a:r>
            <a:r>
              <a:rPr lang="fr-FR" sz="1800" spc="-10">
                <a:latin typeface="Segoe UI"/>
                <a:cs typeface="Segoe UI"/>
              </a:rPr>
              <a:t>.</a:t>
            </a:r>
            <a:endParaRPr sz="1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1800">
              <a:latin typeface="Segoe UI"/>
              <a:cs typeface="Segoe UI"/>
            </a:endParaRPr>
          </a:p>
          <a:p>
            <a:pPr marL="2596515" algn="ctr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Segoe UI"/>
                <a:cs typeface="Segoe UI"/>
              </a:rPr>
              <a:t>Ci-contre</a:t>
            </a:r>
            <a:r>
              <a:rPr sz="1800" b="1" spc="-75" dirty="0">
                <a:latin typeface="Segoe UI"/>
                <a:cs typeface="Segoe UI"/>
              </a:rPr>
              <a:t> </a:t>
            </a:r>
            <a:r>
              <a:rPr sz="1800" spc="-50" dirty="0">
                <a:latin typeface="Segoe UI"/>
                <a:cs typeface="Segoe UI"/>
              </a:rPr>
              <a:t>:</a:t>
            </a:r>
            <a:endParaRPr sz="1800">
              <a:latin typeface="Segoe UI"/>
              <a:cs typeface="Segoe UI"/>
            </a:endParaRPr>
          </a:p>
          <a:p>
            <a:pPr marL="6725284" marR="405765" indent="-47625">
              <a:lnSpc>
                <a:spcPts val="1939"/>
              </a:lnSpc>
              <a:spcBef>
                <a:spcPts val="1960"/>
              </a:spcBef>
              <a:tabLst>
                <a:tab pos="6948170" algn="l"/>
              </a:tabLst>
            </a:pPr>
            <a:r>
              <a:rPr sz="2700" spc="-75" baseline="6172" dirty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  <a:r>
              <a:rPr sz="2700" baseline="6172" dirty="0">
                <a:solidFill>
                  <a:srgbClr val="FFFFFF"/>
                </a:solidFill>
                <a:latin typeface="Segoe UI"/>
                <a:cs typeface="Segoe UI"/>
              </a:rPr>
              <a:t>	</a:t>
            </a:r>
            <a:r>
              <a:rPr sz="1600" dirty="0">
                <a:latin typeface="Segoe UI"/>
                <a:cs typeface="Segoe UI"/>
              </a:rPr>
              <a:t>Le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CP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spc="-20" dirty="0">
                <a:latin typeface="Segoe UI"/>
                <a:cs typeface="Segoe UI"/>
              </a:rPr>
              <a:t>Recette</a:t>
            </a:r>
            <a:r>
              <a:rPr sz="1600" spc="-3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demande</a:t>
            </a:r>
            <a:r>
              <a:rPr sz="1600" spc="-9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au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CP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MOA</a:t>
            </a:r>
            <a:r>
              <a:rPr sz="1600" spc="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la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validation</a:t>
            </a:r>
            <a:r>
              <a:rPr sz="1600" spc="-90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du </a:t>
            </a:r>
            <a:r>
              <a:rPr sz="1600" dirty="0">
                <a:latin typeface="Segoe UI"/>
                <a:cs typeface="Segoe UI"/>
              </a:rPr>
              <a:t>Cahier</a:t>
            </a:r>
            <a:r>
              <a:rPr sz="1600" spc="-75" dirty="0">
                <a:latin typeface="Segoe UI"/>
                <a:cs typeface="Segoe UI"/>
              </a:rPr>
              <a:t> </a:t>
            </a:r>
            <a:r>
              <a:rPr sz="1600" spc="-30" dirty="0">
                <a:latin typeface="Segoe UI"/>
                <a:cs typeface="Segoe UI"/>
              </a:rPr>
              <a:t>d’exigences.</a:t>
            </a:r>
            <a:r>
              <a:rPr sz="1600" spc="-8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Son</a:t>
            </a:r>
            <a:r>
              <a:rPr sz="1600" spc="-5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message</a:t>
            </a:r>
            <a:r>
              <a:rPr sz="1600" spc="-6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est</a:t>
            </a:r>
            <a:r>
              <a:rPr sz="1600" spc="-8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interruptif.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02297" y="4887214"/>
            <a:ext cx="5151120" cy="9855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Segoe UI"/>
                <a:cs typeface="Segoe UI"/>
              </a:rPr>
              <a:t>d’alternative).</a:t>
            </a:r>
            <a:r>
              <a:rPr sz="1600" spc="-2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Le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message</a:t>
            </a:r>
            <a:r>
              <a:rPr sz="1600" spc="-6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qu’il</a:t>
            </a:r>
            <a:r>
              <a:rPr sz="1600" spc="-8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envoie</a:t>
            </a:r>
            <a:r>
              <a:rPr sz="1600" spc="-6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est</a:t>
            </a:r>
            <a:r>
              <a:rPr sz="1600" spc="-60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non-</a:t>
            </a:r>
            <a:r>
              <a:rPr sz="1600" spc="-10" dirty="0">
                <a:latin typeface="Segoe UI"/>
                <a:cs typeface="Segoe UI"/>
              </a:rPr>
              <a:t>interruptif.</a:t>
            </a:r>
            <a:endParaRPr sz="1600">
              <a:latin typeface="Segoe UI"/>
              <a:cs typeface="Segoe UI"/>
            </a:endParaRPr>
          </a:p>
          <a:p>
            <a:pPr marL="88265" marR="67945" indent="-50800">
              <a:lnSpc>
                <a:spcPts val="1939"/>
              </a:lnSpc>
              <a:spcBef>
                <a:spcPts val="1825"/>
              </a:spcBef>
              <a:tabLst>
                <a:tab pos="310515" algn="l"/>
              </a:tabLst>
            </a:pPr>
            <a:r>
              <a:rPr sz="2700" spc="-75" baseline="9259" dirty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  <a:r>
              <a:rPr sz="2700" baseline="9259" dirty="0">
                <a:solidFill>
                  <a:srgbClr val="FFFFFF"/>
                </a:solidFill>
                <a:latin typeface="Segoe UI"/>
                <a:cs typeface="Segoe UI"/>
              </a:rPr>
              <a:t>	</a:t>
            </a:r>
            <a:r>
              <a:rPr sz="1600" dirty="0">
                <a:latin typeface="Segoe UI"/>
                <a:cs typeface="Segoe UI"/>
              </a:rPr>
              <a:t>Le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CP</a:t>
            </a:r>
            <a:r>
              <a:rPr sz="1600" spc="-55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recette</a:t>
            </a:r>
            <a:r>
              <a:rPr sz="1600" spc="-2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reçoit</a:t>
            </a:r>
            <a:r>
              <a:rPr sz="1600" spc="-55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le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message</a:t>
            </a:r>
            <a:r>
              <a:rPr sz="1600" spc="-7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et</a:t>
            </a:r>
            <a:r>
              <a:rPr sz="1600" spc="-4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lance</a:t>
            </a:r>
            <a:r>
              <a:rPr sz="1600" spc="-60" dirty="0">
                <a:latin typeface="Segoe UI"/>
                <a:cs typeface="Segoe UI"/>
              </a:rPr>
              <a:t> </a:t>
            </a:r>
            <a:r>
              <a:rPr sz="1600" dirty="0">
                <a:latin typeface="Segoe UI"/>
                <a:cs typeface="Segoe UI"/>
              </a:rPr>
              <a:t>la</a:t>
            </a:r>
            <a:r>
              <a:rPr sz="1600" spc="-30" dirty="0">
                <a:latin typeface="Segoe UI"/>
                <a:cs typeface="Segoe UI"/>
              </a:rPr>
              <a:t> </a:t>
            </a:r>
            <a:r>
              <a:rPr sz="1600" spc="-10" dirty="0">
                <a:latin typeface="Segoe UI"/>
                <a:cs typeface="Segoe UI"/>
              </a:rPr>
              <a:t>conception </a:t>
            </a:r>
            <a:r>
              <a:rPr sz="1600" dirty="0">
                <a:latin typeface="Segoe UI"/>
                <a:cs typeface="Segoe UI"/>
              </a:rPr>
              <a:t>des</a:t>
            </a:r>
            <a:r>
              <a:rPr sz="1600" spc="-45" dirty="0">
                <a:latin typeface="Segoe UI"/>
                <a:cs typeface="Segoe UI"/>
              </a:rPr>
              <a:t> </a:t>
            </a:r>
            <a:r>
              <a:rPr sz="1600" spc="-25" dirty="0">
                <a:latin typeface="Segoe UI"/>
                <a:cs typeface="Segoe UI"/>
              </a:rPr>
              <a:t>CT.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8644265-D453-433C-7164-FBA4DB324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27" y="3117444"/>
            <a:ext cx="4831354" cy="3121708"/>
          </a:xfrm>
          <a:prstGeom prst="rect">
            <a:avLst/>
          </a:prstGeom>
        </p:spPr>
      </p:pic>
      <p:sp>
        <p:nvSpPr>
          <p:cNvPr id="28" name="object 13">
            <a:extLst>
              <a:ext uri="{FF2B5EF4-FFF2-40B4-BE49-F238E27FC236}">
                <a16:creationId xmlns:a16="http://schemas.microsoft.com/office/drawing/2014/main" id="{CA4AF0ED-F46B-9B3C-366E-FA1433DEA661}"/>
              </a:ext>
            </a:extLst>
          </p:cNvPr>
          <p:cNvSpPr txBox="1"/>
          <p:nvPr/>
        </p:nvSpPr>
        <p:spPr>
          <a:xfrm>
            <a:off x="2884298" y="3334323"/>
            <a:ext cx="149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Segoe UI"/>
                <a:cs typeface="Segoe UI"/>
              </a:rPr>
              <a:t>2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1E95D7C-B5A3-176A-26CD-35BA72CC6D5E}"/>
              </a:ext>
            </a:extLst>
          </p:cNvPr>
          <p:cNvSpPr/>
          <p:nvPr/>
        </p:nvSpPr>
        <p:spPr>
          <a:xfrm>
            <a:off x="6568458" y="5257057"/>
            <a:ext cx="322327" cy="335661"/>
          </a:xfrm>
          <a:prstGeom prst="ellipse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D975BE5-D240-11FE-9AEA-9FA5D56FE359}"/>
              </a:ext>
            </a:extLst>
          </p:cNvPr>
          <p:cNvSpPr/>
          <p:nvPr/>
        </p:nvSpPr>
        <p:spPr>
          <a:xfrm>
            <a:off x="6541133" y="3810000"/>
            <a:ext cx="322327" cy="335661"/>
          </a:xfrm>
          <a:prstGeom prst="ellipse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1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DC3B8CB-04A3-FCB0-1D1F-D0D50CF5B341}"/>
              </a:ext>
            </a:extLst>
          </p:cNvPr>
          <p:cNvSpPr/>
          <p:nvPr/>
        </p:nvSpPr>
        <p:spPr>
          <a:xfrm>
            <a:off x="6541133" y="4551553"/>
            <a:ext cx="322327" cy="335661"/>
          </a:xfrm>
          <a:prstGeom prst="ellipse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2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BAAD24A-4535-2C9B-7C4D-35237DA6988D}"/>
              </a:ext>
            </a:extLst>
          </p:cNvPr>
          <p:cNvSpPr/>
          <p:nvPr/>
        </p:nvSpPr>
        <p:spPr>
          <a:xfrm>
            <a:off x="3581400" y="5556584"/>
            <a:ext cx="322327" cy="335661"/>
          </a:xfrm>
          <a:prstGeom prst="ellipse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3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03772D0-BAC6-E2C2-B5CA-D3F33063247B}"/>
              </a:ext>
            </a:extLst>
          </p:cNvPr>
          <p:cNvSpPr/>
          <p:nvPr/>
        </p:nvSpPr>
        <p:spPr>
          <a:xfrm>
            <a:off x="2497835" y="5149099"/>
            <a:ext cx="322327" cy="335661"/>
          </a:xfrm>
          <a:prstGeom prst="ellipse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1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830381B-B08F-311E-FB6E-2350CEC53DDC}"/>
              </a:ext>
            </a:extLst>
          </p:cNvPr>
          <p:cNvSpPr/>
          <p:nvPr/>
        </p:nvSpPr>
        <p:spPr>
          <a:xfrm>
            <a:off x="2840430" y="3261169"/>
            <a:ext cx="322327" cy="335661"/>
          </a:xfrm>
          <a:prstGeom prst="ellipse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1206</TotalTime>
  <Words>1466</Words>
  <Application>Microsoft Office PowerPoint</Application>
  <PresentationFormat>Widescreen</PresentationFormat>
  <Paragraphs>220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Arial MT</vt:lpstr>
      <vt:lpstr>Calibri</vt:lpstr>
      <vt:lpstr>Segoe UI</vt:lpstr>
      <vt:lpstr>Segoe UI </vt:lpstr>
      <vt:lpstr>Segoe UI Semibold</vt:lpstr>
      <vt:lpstr>Times New Roman</vt:lpstr>
      <vt:lpstr>Office Theme</vt:lpstr>
      <vt:lpstr>Modélisation BPMN, Notions de base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Modifications avec Draw.io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Passerelle parallèle</vt:lpstr>
      <vt:lpstr>Passerelles plus complexes</vt:lpstr>
      <vt:lpstr>PowerPoint Presentation</vt:lpstr>
      <vt:lpstr>Début &amp; Fin du processus</vt:lpstr>
      <vt:lpstr>Évènements intermédiaires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BPMN &amp; Draw.io</dc:title>
  <dc:subject>Modélisation BPMN avec Draw.io</dc:subject>
  <dc:creator>Pascal DELAMAIRE</dc:creator>
  <cp:lastModifiedBy>Alice Boulet</cp:lastModifiedBy>
  <cp:revision>3</cp:revision>
  <dcterms:created xsi:type="dcterms:W3CDTF">2025-12-03T18:29:29Z</dcterms:created>
  <dcterms:modified xsi:type="dcterms:W3CDTF">2025-12-04T14:36:19Z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2024-10-07T00:00:00Z</vt:filetime>
  </property>
  <property fmtid="{D5CDD505-2E9C-101B-9397-08002B2CF9AE}" pid="3" name="Creator">
    <vt:lpwstr>Microsoft® PowerPoint® pour Microsoft 365</vt:lpwstr>
  </property>
  <property fmtid="{D5CDD505-2E9C-101B-9397-08002B2CF9AE}" pid="4" name="LastSaved">
    <vt:filetime>2025-12-03T00:00:00Z</vt:filetime>
  </property>
  <property fmtid="{D5CDD505-2E9C-101B-9397-08002B2CF9AE}" pid="5" name="Producer">
    <vt:lpwstr>Microsoft® PowerPoint® pour Microsoft 365</vt:lpwstr>
  </property>
</Properties>
</file>