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13"/>
  </p:notesMasterIdLst>
  <p:sldIdLst>
    <p:sldId id="256" r:id="rId2"/>
    <p:sldId id="257" r:id="rId3"/>
    <p:sldId id="261" r:id="rId4"/>
    <p:sldId id="260" r:id="rId5"/>
    <p:sldId id="262" r:id="rId6"/>
    <p:sldId id="366" r:id="rId7"/>
    <p:sldId id="264" r:id="rId8"/>
    <p:sldId id="266" r:id="rId9"/>
    <p:sldId id="267" r:id="rId10"/>
    <p:sldId id="268" r:id="rId11"/>
    <p:sldId id="269" r:id="rId12"/>
  </p:sldIdLst>
  <p:sldSz cx="12192000" cy="6858000"/>
  <p:notesSz cx="12192000" cy="6858000"/>
  <p:defaultText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2C01403-9F77-D029-17E7-B18EC2B333AC}">
  <a:tblStyle styleId="{45CD9F78-49BF-8731-F0AE-DC1994C3549B}" styleName="Aucun style, grille du tableau">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82C01403-9F77-D029-17E7-B18EC2B333AC}" styleName="Style moyen 4 - Accentuation 5">
    <a:wholeTbl>
      <a:tcTxStyle>
        <a:fontRef idx="minor">
          <a:srgbClr val="000000"/>
        </a:fontRef>
        <a:schemeClr val="dk1"/>
      </a:tcTxStyle>
      <a:tcStyle>
        <a:tcBdr>
          <a:left>
            <a:ln w="12700">
              <a:solidFill>
                <a:schemeClr val="accent5"/>
              </a:solidFill>
            </a:ln>
          </a:left>
          <a:right>
            <a:ln w="12700">
              <a:solidFill>
                <a:schemeClr val="accent5"/>
              </a:solidFill>
            </a:ln>
          </a:right>
          <a:top>
            <a:ln w="12700">
              <a:solidFill>
                <a:schemeClr val="accent5"/>
              </a:solidFill>
            </a:ln>
          </a:top>
          <a:bottom>
            <a:ln w="12700">
              <a:solidFill>
                <a:schemeClr val="accent5"/>
              </a:solidFill>
            </a:ln>
          </a:bottom>
          <a:insideH>
            <a:ln w="12700">
              <a:solidFill>
                <a:schemeClr val="accent5"/>
              </a:solidFill>
            </a:ln>
          </a:insideH>
          <a:insideV>
            <a:ln w="12700">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fill>
          <a:solidFill>
            <a:schemeClr val="accent5">
              <a:tint val="40000"/>
            </a:schemeClr>
          </a:solidFill>
        </a:fill>
      </a:tcStyle>
    </a:band2V>
    <a:lastCol>
      <a:tcStyle>
        <a:tcBdr/>
      </a:tcStyle>
    </a:lastCol>
    <a:firstCol>
      <a:tcStyle>
        <a:tcBdr/>
      </a:tcStyle>
    </a:firstCol>
    <a:lastRow>
      <a:tcStyle>
        <a:tcBdr>
          <a:top>
            <a:ln w="25400">
              <a:solidFill>
                <a:schemeClr val="accent5"/>
              </a:solidFill>
            </a:ln>
          </a:top>
        </a:tcBdr>
        <a:fill>
          <a:solidFill>
            <a:schemeClr val="accent5">
              <a:tint val="20000"/>
            </a:schemeClr>
          </a:solidFill>
        </a:fill>
      </a:tcStyle>
    </a:lastRow>
    <a:seCell>
      <a:tcStyle>
        <a:tcBdr/>
      </a:tcStyle>
    </a:seCell>
    <a:swCell>
      <a:tcStyle>
        <a:tcBdr/>
      </a:tcStyle>
    </a:swCell>
    <a:firstRow>
      <a:tcStyle>
        <a:tcBdr/>
        <a:fill>
          <a:solidFill>
            <a:schemeClr val="accent5">
              <a:tint val="20000"/>
            </a:schemeClr>
          </a:solidFill>
        </a:fill>
      </a:tcStyle>
    </a:firstRow>
    <a:neCell>
      <a:tcStyle>
        <a:tcBdr/>
      </a:tcStyle>
    </a:neCell>
    <a:nwCell>
      <a:tcStyle>
        <a:tcBdr/>
      </a:tcStyle>
    </a:nwCell>
  </a:tblStyle>
  <a:tblStyle styleId="{AAFA0E54-455A-C7FC-769D-C85989B6E85E}" styleName="Style moyen 4 - Accentuation 1">
    <a:wholeTbl>
      <a:tcTxStyle>
        <a:fontRef idx="minor">
          <a:srgbClr val="000000"/>
        </a:fontRef>
        <a:schemeClr val="dk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Style>
        <a:tcBdr/>
      </a:tcStyle>
    </a:lastCol>
    <a:firstCol>
      <a:tcStyle>
        <a:tcBdr/>
      </a:tcStyle>
    </a:firstCol>
    <a:lastRow>
      <a:tcStyle>
        <a:tcBdr>
          <a:top>
            <a:ln w="25400">
              <a:solidFill>
                <a:schemeClr val="accent1"/>
              </a:solidFill>
            </a:ln>
          </a:top>
        </a:tcBdr>
        <a:fill>
          <a:solidFill>
            <a:schemeClr val="accent1">
              <a:tint val="20000"/>
            </a:schemeClr>
          </a:solidFill>
        </a:fill>
      </a:tcStyle>
    </a:lastRow>
    <a:seCell>
      <a:tcStyle>
        <a:tcBdr/>
      </a:tcStyle>
    </a:seCell>
    <a:swCell>
      <a:tcStyle>
        <a:tcBdr/>
      </a:tcStyle>
    </a:swCell>
    <a:firstRow>
      <a:tcStyle>
        <a:tcBdr/>
        <a:fill>
          <a:solidFill>
            <a:schemeClr val="accent1">
              <a:tint val="20000"/>
            </a:scheme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2563" autoAdjust="0"/>
  </p:normalViewPr>
  <p:slideViewPr>
    <p:cSldViewPr>
      <p:cViewPr varScale="1">
        <p:scale>
          <a:sx n="52" d="100"/>
          <a:sy n="52" d="100"/>
        </p:scale>
        <p:origin x="1843"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Espace réservé de l'en-tête 1"/>
          <p:cNvSpPr>
            <a:spLocks noGrp="1"/>
          </p:cNvSpPr>
          <p:nvPr>
            <p:ph type="hdr" sz="quarter"/>
          </p:nvPr>
        </p:nvSpPr>
        <p:spPr bwMode="auto">
          <a:xfrm>
            <a:off x="1" y="1"/>
            <a:ext cx="2945659" cy="498136"/>
          </a:xfrm>
          <a:prstGeom prst="rect">
            <a:avLst/>
          </a:prstGeom>
        </p:spPr>
        <p:txBody>
          <a:bodyPr vert="horz" lIns="91440" tIns="45720" rIns="91440" bIns="45720" rtlCol="0"/>
          <a:lstStyle>
            <a:lvl1pPr algn="l">
              <a:defRPr sz="1200"/>
            </a:lvl1pPr>
          </a:lstStyle>
          <a:p>
            <a:pPr>
              <a:defRPr/>
            </a:pPr>
            <a:endParaRPr lang="fr-FR"/>
          </a:p>
        </p:txBody>
      </p:sp>
      <p:sp>
        <p:nvSpPr>
          <p:cNvPr id="3" name="Espace réservé de la date 2"/>
          <p:cNvSpPr>
            <a:spLocks noGrp="1"/>
          </p:cNvSpPr>
          <p:nvPr>
            <p:ph type="dt" idx="1"/>
          </p:nvPr>
        </p:nvSpPr>
        <p:spPr bwMode="auto">
          <a:xfrm>
            <a:off x="3850444" y="1"/>
            <a:ext cx="2945659" cy="498136"/>
          </a:xfrm>
          <a:prstGeom prst="rect">
            <a:avLst/>
          </a:prstGeom>
        </p:spPr>
        <p:txBody>
          <a:bodyPr vert="horz" lIns="91440" tIns="45720" rIns="91440" bIns="45720" rtlCol="0"/>
          <a:lstStyle>
            <a:lvl1pPr algn="r">
              <a:defRPr sz="1200"/>
            </a:lvl1pPr>
          </a:lstStyle>
          <a:p>
            <a:pPr>
              <a:defRPr/>
            </a:pPr>
            <a:fld id="{82D95A69-F1E2-401B-9235-7A2C93A83F42}" type="datetimeFigureOut">
              <a:rPr lang="fr-FR"/>
              <a:t>30/07/2024</a:t>
            </a:fld>
            <a:endParaRPr lang="fr-FR"/>
          </a:p>
        </p:txBody>
      </p:sp>
      <p:sp>
        <p:nvSpPr>
          <p:cNvPr id="4" name="Espace réservé de l'image des diapositives 3"/>
          <p:cNvSpPr>
            <a:spLocks noGrp="1" noRot="1" noChangeAspect="1"/>
          </p:cNvSpPr>
          <p:nvPr>
            <p:ph type="sldImg" idx="2"/>
          </p:nvPr>
        </p:nvSpPr>
        <p:spPr bwMode="auto">
          <a:xfrm>
            <a:off x="422275" y="1241425"/>
            <a:ext cx="5953125" cy="3349625"/>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5" name="Espace réservé des notes 4"/>
          <p:cNvSpPr>
            <a:spLocks noGrp="1"/>
          </p:cNvSpPr>
          <p:nvPr>
            <p:ph type="body" sz="quarter" idx="3"/>
          </p:nvPr>
        </p:nvSpPr>
        <p:spPr bwMode="auto">
          <a:xfrm>
            <a:off x="679768" y="4777958"/>
            <a:ext cx="5438140" cy="3909240"/>
          </a:xfrm>
          <a:prstGeom prst="rect">
            <a:avLst/>
          </a:prstGeom>
        </p:spPr>
        <p:txBody>
          <a:bodyPr vert="horz" lIns="91440" tIns="45720" rIns="91440" bIns="45720" rtlCol="0"/>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6" name="Espace réservé du pied de page 5"/>
          <p:cNvSpPr>
            <a:spLocks noGrp="1"/>
          </p:cNvSpPr>
          <p:nvPr>
            <p:ph type="ftr" sz="quarter" idx="4"/>
          </p:nvPr>
        </p:nvSpPr>
        <p:spPr bwMode="auto">
          <a:xfrm>
            <a:off x="1" y="9430092"/>
            <a:ext cx="2945659" cy="498135"/>
          </a:xfrm>
          <a:prstGeom prst="rect">
            <a:avLst/>
          </a:prstGeom>
        </p:spPr>
        <p:txBody>
          <a:bodyPr vert="horz" lIns="91440" tIns="45720" rIns="91440" bIns="45720" rtlCol="0" anchor="b"/>
          <a:lstStyle>
            <a:lvl1pPr algn="l">
              <a:defRPr sz="1200"/>
            </a:lvl1pPr>
          </a:lstStyle>
          <a:p>
            <a:pPr>
              <a:defRPr/>
            </a:pPr>
            <a:endParaRPr lang="fr-FR"/>
          </a:p>
        </p:txBody>
      </p:sp>
      <p:sp>
        <p:nvSpPr>
          <p:cNvPr id="7" name="Espace réservé du numéro de diapositive 6"/>
          <p:cNvSpPr>
            <a:spLocks noGrp="1"/>
          </p:cNvSpPr>
          <p:nvPr>
            <p:ph type="sldNum" sz="quarter" idx="5"/>
          </p:nvPr>
        </p:nvSpPr>
        <p:spPr bwMode="auto">
          <a:xfrm>
            <a:off x="3850444" y="9430092"/>
            <a:ext cx="2945659" cy="498135"/>
          </a:xfrm>
          <a:prstGeom prst="rect">
            <a:avLst/>
          </a:prstGeom>
        </p:spPr>
        <p:txBody>
          <a:bodyPr vert="horz" lIns="91440" tIns="45720" rIns="91440" bIns="45720" rtlCol="0" anchor="b"/>
          <a:lstStyle>
            <a:lvl1pPr algn="r">
              <a:defRPr sz="1200"/>
            </a:lvl1pPr>
          </a:lstStyle>
          <a:p>
            <a:pPr>
              <a:defRPr/>
            </a:pPr>
            <a:fld id="{8AFFC92C-2943-466E-88D0-3D2DF8026AE8}"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leblogdudirigeant.com/le-brainstorming/"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www.leblogdudirigeant.com/le-design-thinking/"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Jour 2 – Temps 1 de la matinée</a:t>
            </a:r>
          </a:p>
        </p:txBody>
      </p:sp>
      <p:sp>
        <p:nvSpPr>
          <p:cNvPr id="4" name="Espace réservé du numéro de diapositive 3"/>
          <p:cNvSpPr>
            <a:spLocks noGrp="1"/>
          </p:cNvSpPr>
          <p:nvPr>
            <p:ph type="sldNum" sz="quarter" idx="5"/>
          </p:nvPr>
        </p:nvSpPr>
        <p:spPr/>
        <p:txBody>
          <a:bodyPr/>
          <a:lstStyle/>
          <a:p>
            <a:pPr>
              <a:defRPr/>
            </a:pPr>
            <a:fld id="{8AFFC92C-2943-466E-88D0-3D2DF8026AE8}" type="slidenum">
              <a:rPr lang="fr-FR" smtClean="0"/>
              <a:t>1</a:t>
            </a:fld>
            <a:endParaRPr lang="fr-FR"/>
          </a:p>
        </p:txBody>
      </p:sp>
    </p:spTree>
    <p:extLst>
      <p:ext uri="{BB962C8B-B14F-4D97-AF65-F5344CB8AC3E}">
        <p14:creationId xmlns:p14="http://schemas.microsoft.com/office/powerpoint/2010/main" val="156424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Espace réservé de l'image des diapositives 1"/>
          <p:cNvSpPr>
            <a:spLocks noGrp="1" noRot="1" noChangeAspect="1"/>
          </p:cNvSpPr>
          <p:nvPr>
            <p:ph type="sldImg"/>
          </p:nvPr>
        </p:nvSpPr>
        <p:spPr bwMode="auto"/>
      </p:sp>
      <p:sp>
        <p:nvSpPr>
          <p:cNvPr id="3" name="Espace réservé des notes 2"/>
          <p:cNvSpPr>
            <a:spLocks noGrp="1"/>
          </p:cNvSpPr>
          <p:nvPr>
            <p:ph type="body" idx="1"/>
          </p:nvPr>
        </p:nvSpPr>
        <p:spPr bwMode="auto"/>
        <p:txBody>
          <a:bodyPr/>
          <a:lstStyle/>
          <a:p>
            <a:pPr algn="l">
              <a:defRPr/>
            </a:pPr>
            <a:r>
              <a:rPr lang="fr-FR" b="1" i="0">
                <a:solidFill>
                  <a:srgbClr val="212121"/>
                </a:solidFill>
                <a:latin typeface="Josefin Sans"/>
              </a:rPr>
              <a:t>Les origines du design thinking</a:t>
            </a:r>
            <a:endParaRPr/>
          </a:p>
          <a:p>
            <a:pPr algn="l">
              <a:defRPr/>
            </a:pPr>
            <a:r>
              <a:rPr lang="fr-FR" b="0" i="0">
                <a:latin typeface="Lato"/>
              </a:rPr>
              <a:t>Les années 50 ont vu naitre un ensemble de démarches de groupe destinées à stimuler la créativité afin de trouver des solutions à des problématiques concrètes. La plus connue d’entre elle est sans aucun </a:t>
            </a:r>
            <a:r>
              <a:rPr lang="fr-FR" b="1" i="0" u="sng" strike="noStrike">
                <a:latin typeface="Lato"/>
                <a:hlinkClick r:id="rId3" tooltip="https://www.leblogdudirigeant.com/le-brainstorming/"/>
              </a:rPr>
              <a:t>doute le Brainstorming</a:t>
            </a:r>
            <a:r>
              <a:rPr lang="fr-FR" b="0" i="0">
                <a:latin typeface="Lato"/>
              </a:rPr>
              <a:t> inventée par le publicitaire Alex Osborn.</a:t>
            </a:r>
            <a:endParaRPr/>
          </a:p>
          <a:p>
            <a:pPr algn="l">
              <a:defRPr/>
            </a:pPr>
            <a:r>
              <a:rPr lang="fr-FR" b="0" i="0">
                <a:latin typeface="Lato"/>
              </a:rPr>
              <a:t>Dans les années 60, l’université de Standford met en place un programme destiné à faire réfléchir des groupes de personnes pour trouver des solutions avec une démarche axée sur l’humain.</a:t>
            </a:r>
            <a:endParaRPr/>
          </a:p>
          <a:p>
            <a:pPr algn="l">
              <a:defRPr/>
            </a:pPr>
            <a:r>
              <a:rPr lang="fr-FR" b="0" i="0">
                <a:latin typeface="Lato"/>
              </a:rPr>
              <a:t>Le concept de Design Thinking apparait dans les années 70 dans le livre de Robert H. McKim : « Experiences in Visual Thinking ». Mais c’est Peter Rowe qui développera le concept et publiera un livre fondateur en 1987 « Design Thinking ».</a:t>
            </a:r>
            <a:endParaRPr/>
          </a:p>
          <a:p>
            <a:pPr algn="l">
              <a:defRPr/>
            </a:pPr>
            <a:r>
              <a:rPr lang="fr-FR" b="0" i="0">
                <a:latin typeface="Lato"/>
              </a:rPr>
              <a:t>En 1992, 2 membres de l’agence de design IDEO (David Kelley et Tim Brown) </a:t>
            </a:r>
            <a:r>
              <a:rPr lang="fr-FR" b="1" i="0">
                <a:latin typeface="Lato"/>
              </a:rPr>
              <a:t>choisissent</a:t>
            </a:r>
            <a:r>
              <a:rPr lang="fr-FR" b="1" i="0" u="sng" strike="noStrike">
                <a:latin typeface="Lato"/>
                <a:hlinkClick r:id="rId4" tooltip="https://www.leblogdudirigeant.com/le-design-thinking/"/>
              </a:rPr>
              <a:t> le Design Thinking</a:t>
            </a:r>
            <a:r>
              <a:rPr lang="fr-FR" b="1" i="0">
                <a:latin typeface="Lato"/>
              </a:rPr>
              <a:t> pour identifier des idées innovantes afin de résoudre les problèmes qu’on leur soumet.</a:t>
            </a:r>
            <a:endParaRPr lang="fr-FR" b="0" i="0">
              <a:latin typeface="Lato"/>
            </a:endParaRPr>
          </a:p>
          <a:p>
            <a:pPr algn="l">
              <a:defRPr/>
            </a:pPr>
            <a:r>
              <a:rPr lang="fr-FR" b="0" i="0">
                <a:latin typeface="Lato"/>
              </a:rPr>
              <a:t>Depuis, le Design Thinking se développe au travers de publications, de colloques et de formations mais aussi d’écoles (Paris, Pekin, Tokyo, …).</a:t>
            </a:r>
            <a:endParaRPr/>
          </a:p>
          <a:p>
            <a:pPr>
              <a:lnSpc>
                <a:spcPct val="100000"/>
              </a:lnSpc>
              <a:defRPr/>
            </a:pPr>
            <a:endParaRPr lang="fr-FR" sz="1200"/>
          </a:p>
        </p:txBody>
      </p:sp>
      <p:sp>
        <p:nvSpPr>
          <p:cNvPr id="4" name="Espace réservé du numéro de diapositive 3"/>
          <p:cNvSpPr>
            <a:spLocks noGrp="1"/>
          </p:cNvSpPr>
          <p:nvPr>
            <p:ph type="sldNum" sz="quarter" idx="5"/>
          </p:nvPr>
        </p:nvSpPr>
        <p:spPr bwMode="auto"/>
        <p:txBody>
          <a:bodyPr/>
          <a:lstStyle/>
          <a:p>
            <a:pPr>
              <a:defRPr/>
            </a:pPr>
            <a:fld id="{FBDF923B-8ACB-4155-8390-520790AA9629}" type="slidenum">
              <a:rPr lang="fr-FR"/>
              <a:t>4</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Espace réservé de l'image des diapositives 1"/>
          <p:cNvSpPr>
            <a:spLocks noGrp="1" noRot="1" noChangeAspect="1"/>
          </p:cNvSpPr>
          <p:nvPr>
            <p:ph type="sldImg"/>
          </p:nvPr>
        </p:nvSpPr>
        <p:spPr bwMode="auto"/>
      </p:sp>
      <p:sp>
        <p:nvSpPr>
          <p:cNvPr id="3" name="Espace réservé des notes 2"/>
          <p:cNvSpPr>
            <a:spLocks noGrp="1"/>
          </p:cNvSpPr>
          <p:nvPr>
            <p:ph type="body" idx="1"/>
          </p:nvPr>
        </p:nvSpPr>
        <p:spPr bwMode="auto"/>
        <p:txBody>
          <a:bodyPr/>
          <a:lstStyle/>
          <a:p>
            <a:pPr>
              <a:lnSpc>
                <a:spcPct val="100000"/>
              </a:lnSpc>
              <a:defRPr/>
            </a:pPr>
            <a:r>
              <a:rPr lang="fr-FR" sz="1200" dirty="0"/>
              <a:t>https://docplayer.fr/2011038-Le-rad-rapid-application-development.html</a:t>
            </a:r>
            <a:endParaRPr dirty="0"/>
          </a:p>
          <a:p>
            <a:pPr algn="l">
              <a:defRPr/>
            </a:pPr>
            <a:r>
              <a:rPr lang="fr-FR" b="0" i="0" dirty="0">
                <a:latin typeface="Arial"/>
              </a:rPr>
              <a:t>Les principes du RAD sont simples et ils découlent du bon sens. S’il y a quelque chose de révolutionnaire dans la méthode, c’est leur formalisation.</a:t>
            </a:r>
            <a:endParaRPr dirty="0"/>
          </a:p>
          <a:p>
            <a:pPr algn="l">
              <a:defRPr/>
            </a:pPr>
            <a:r>
              <a:rPr lang="fr-FR" b="0" i="0" dirty="0">
                <a:latin typeface="Arial"/>
              </a:rPr>
              <a:t>Voici les principes de base :</a:t>
            </a:r>
            <a:endParaRPr dirty="0"/>
          </a:p>
          <a:p>
            <a:pPr algn="l">
              <a:defRPr/>
            </a:pPr>
            <a:r>
              <a:rPr lang="fr-FR" b="0" i="0" dirty="0">
                <a:latin typeface="Times New Roman"/>
              </a:rPr>
              <a:t>• </a:t>
            </a:r>
            <a:r>
              <a:rPr lang="fr-FR" b="0" i="0" dirty="0">
                <a:latin typeface="Arial"/>
              </a:rPr>
              <a:t>Tout d’abord, le développement devrait être effectué par de petites équipes, expérimentées et ayant reçu toute la formation nécessaire  SWAT (</a:t>
            </a:r>
            <a:r>
              <a:rPr lang="fr-FR" b="0" i="0" dirty="0" err="1">
                <a:latin typeface="Arial"/>
              </a:rPr>
              <a:t>skilled</a:t>
            </a:r>
            <a:r>
              <a:rPr lang="fr-FR" b="0" i="0" dirty="0">
                <a:latin typeface="Arial"/>
              </a:rPr>
              <a:t> </a:t>
            </a:r>
            <a:r>
              <a:rPr lang="fr-FR" b="0" i="0" dirty="0" err="1">
                <a:latin typeface="Arial"/>
              </a:rPr>
              <a:t>with</a:t>
            </a:r>
            <a:r>
              <a:rPr lang="fr-FR" b="0" i="0" dirty="0">
                <a:latin typeface="Arial"/>
              </a:rPr>
              <a:t> </a:t>
            </a:r>
            <a:r>
              <a:rPr lang="fr-FR" b="0" i="0" dirty="0" err="1">
                <a:latin typeface="Arial"/>
              </a:rPr>
              <a:t>advanced</a:t>
            </a:r>
            <a:r>
              <a:rPr lang="fr-FR" b="0" i="0" dirty="0">
                <a:latin typeface="Arial"/>
              </a:rPr>
              <a:t> </a:t>
            </a:r>
            <a:r>
              <a:rPr lang="fr-FR" b="0" i="0" dirty="0" err="1">
                <a:latin typeface="Arial"/>
              </a:rPr>
              <a:t>tools</a:t>
            </a:r>
            <a:r>
              <a:rPr lang="fr-FR" b="0" i="0" dirty="0">
                <a:latin typeface="Arial"/>
              </a:rPr>
              <a:t>)</a:t>
            </a:r>
          </a:p>
          <a:p>
            <a:pPr algn="l">
              <a:defRPr/>
            </a:pPr>
            <a:r>
              <a:rPr lang="fr-FR" b="0" i="0" dirty="0">
                <a:latin typeface="Times New Roman"/>
              </a:rPr>
              <a:t>• </a:t>
            </a:r>
            <a:r>
              <a:rPr lang="fr-FR" b="0" i="0" dirty="0">
                <a:latin typeface="Arial"/>
              </a:rPr>
              <a:t>Le développement doit s’effectuer en faisant appel à une méthodologie formalisée.</a:t>
            </a:r>
            <a:endParaRPr dirty="0"/>
          </a:p>
          <a:p>
            <a:pPr algn="l">
              <a:defRPr/>
            </a:pPr>
            <a:r>
              <a:rPr lang="fr-FR" b="0" i="0" dirty="0">
                <a:latin typeface="Times New Roman"/>
              </a:rPr>
              <a:t>• </a:t>
            </a:r>
            <a:r>
              <a:rPr lang="fr-FR" b="0" i="0" dirty="0">
                <a:latin typeface="Arial"/>
              </a:rPr>
              <a:t>Une équipe de développement RAD doit disposer d’outils puissants qui automatisent le développement dans sa globalité, tant en ce qui concerne les étapes du développement que l’enchaînement de ces étapes  SWAT (</a:t>
            </a:r>
            <a:r>
              <a:rPr lang="fr-FR" b="0" i="0" dirty="0" err="1">
                <a:latin typeface="Arial"/>
              </a:rPr>
              <a:t>skilled</a:t>
            </a:r>
            <a:r>
              <a:rPr lang="fr-FR" b="0" i="0" dirty="0">
                <a:latin typeface="Arial"/>
              </a:rPr>
              <a:t> </a:t>
            </a:r>
            <a:r>
              <a:rPr lang="fr-FR" b="0" i="0" dirty="0" err="1">
                <a:latin typeface="Arial"/>
              </a:rPr>
              <a:t>with</a:t>
            </a:r>
            <a:r>
              <a:rPr lang="fr-FR" b="0" i="0" dirty="0">
                <a:latin typeface="Arial"/>
              </a:rPr>
              <a:t> </a:t>
            </a:r>
            <a:r>
              <a:rPr lang="fr-FR" b="0" i="0" dirty="0" err="1">
                <a:latin typeface="Arial"/>
              </a:rPr>
              <a:t>advanced</a:t>
            </a:r>
            <a:r>
              <a:rPr lang="fr-FR" b="0" i="0" dirty="0">
                <a:latin typeface="Arial"/>
              </a:rPr>
              <a:t> </a:t>
            </a:r>
            <a:r>
              <a:rPr lang="fr-FR" b="0" i="0" dirty="0" err="1">
                <a:latin typeface="Arial"/>
              </a:rPr>
              <a:t>tools</a:t>
            </a:r>
            <a:r>
              <a:rPr lang="fr-FR" b="0" i="0" dirty="0">
                <a:latin typeface="Arial"/>
              </a:rPr>
              <a:t>)</a:t>
            </a:r>
          </a:p>
          <a:p>
            <a:pPr algn="l">
              <a:defRPr/>
            </a:pPr>
            <a:r>
              <a:rPr lang="fr-FR" b="0" i="0" dirty="0">
                <a:latin typeface="Times New Roman"/>
              </a:rPr>
              <a:t>• </a:t>
            </a:r>
            <a:r>
              <a:rPr lang="fr-FR" b="0" i="0" dirty="0">
                <a:latin typeface="Arial"/>
              </a:rPr>
              <a:t>L’équipe de développement doit être correctement gérée, par un encadrement encourageant la réutilisation des composants, et attentif aux aspects humains du management de projet.</a:t>
            </a:r>
            <a:endParaRPr dirty="0"/>
          </a:p>
          <a:p>
            <a:pPr algn="l">
              <a:defRPr/>
            </a:pPr>
            <a:r>
              <a:rPr lang="fr-FR" b="0" i="0" dirty="0">
                <a:latin typeface="Times New Roman"/>
              </a:rPr>
              <a:t>• </a:t>
            </a:r>
            <a:r>
              <a:rPr lang="fr-FR" b="0" i="0" dirty="0">
                <a:latin typeface="Arial"/>
              </a:rPr>
              <a:t>Enfin, les utilisateurs finaux devraient s’impliquer dans le processus de développement.</a:t>
            </a:r>
            <a:endParaRPr dirty="0"/>
          </a:p>
          <a:p>
            <a:pPr algn="l">
              <a:defRPr/>
            </a:pPr>
            <a:r>
              <a:rPr lang="fr-FR" b="0" i="0" dirty="0">
                <a:latin typeface="Arial"/>
              </a:rPr>
              <a:t>La méthode RAD est donc fondée sur quatre ingrédients de base :</a:t>
            </a:r>
            <a:endParaRPr dirty="0"/>
          </a:p>
          <a:p>
            <a:pPr algn="l">
              <a:defRPr/>
            </a:pPr>
            <a:r>
              <a:rPr lang="fr-FR" b="0" i="0" dirty="0">
                <a:latin typeface="Times New Roman"/>
              </a:rPr>
              <a:t>• </a:t>
            </a:r>
            <a:r>
              <a:rPr lang="fr-FR" b="0" i="0" dirty="0">
                <a:latin typeface="Arial"/>
              </a:rPr>
              <a:t>Les outils : de conception, de prototypage, de génération de code, disposant d’un langage de haut niveau (L4G), ces outils étant fédérés par un référentiel et constituant un atelier puissant.</a:t>
            </a:r>
            <a:endParaRPr dirty="0"/>
          </a:p>
          <a:p>
            <a:pPr algn="l">
              <a:defRPr/>
            </a:pPr>
            <a:r>
              <a:rPr lang="fr-FR" b="0" i="0" dirty="0">
                <a:latin typeface="Times New Roman"/>
              </a:rPr>
              <a:t>• </a:t>
            </a:r>
            <a:r>
              <a:rPr lang="fr-FR" b="0" i="0" dirty="0">
                <a:latin typeface="Arial"/>
              </a:rPr>
              <a:t>Les personnes : elles doivent être compétentes, expérimentées, correctement formées aux techniques et aux outils utilisés, et, cela ira mieux en le disant, ...motivées ! L’auteur revient souvent sur cet aspect fondamental, et un chapitre entier y est consacré. Ce qui est tout aussi essentiel, c’est que l’utilisateur final soit directement impliqué dans chaque phase du projet.</a:t>
            </a:r>
            <a:endParaRPr dirty="0"/>
          </a:p>
          <a:p>
            <a:pPr algn="l">
              <a:defRPr/>
            </a:pPr>
            <a:r>
              <a:rPr lang="fr-FR" b="0" i="0" dirty="0">
                <a:latin typeface="Times New Roman"/>
              </a:rPr>
              <a:t>• </a:t>
            </a:r>
            <a:r>
              <a:rPr lang="fr-FR" b="0" i="0" dirty="0">
                <a:latin typeface="Arial"/>
              </a:rPr>
              <a:t>Le management : une gestion du projet, en particulier en ce qui concerne les aspects humains, est essentielle. Le pire ennemi du RAD, c’est la bureaucratie, dit James Martin. Combien de projets n’a-t-on pas vu dériver ou stagner, ensablés par une bureaucratie toujours plus lourde ?</a:t>
            </a:r>
            <a:endParaRPr dirty="0"/>
          </a:p>
          <a:p>
            <a:pPr algn="l">
              <a:defRPr/>
            </a:pPr>
            <a:r>
              <a:rPr lang="fr-FR" b="0" i="0" dirty="0">
                <a:latin typeface="Times New Roman"/>
              </a:rPr>
              <a:t>• </a:t>
            </a:r>
            <a:r>
              <a:rPr lang="fr-FR" b="0" i="0" dirty="0">
                <a:latin typeface="Arial"/>
              </a:rPr>
              <a:t>La méthodologie : rien ne se fera sans une méthodologie, à la fois bien formalisée et souple. L’auteur recommande que la méthode soit consignée, non sur un document qui remplirait la moitié d’une armoire, mais dans un « hyperdocument » que chacun pourrait parcourir rapidement et de façon non linéaire en fonction de ses besoins et de son rôle sur le projet. Ce document doit être adapté d’un projet à l’autre, toujours affiné, et consultable par tous. Seul un document électronique disponible sur un réseau peut convenir.</a:t>
            </a:r>
            <a:endParaRPr dirty="0"/>
          </a:p>
          <a:p>
            <a:pPr algn="l">
              <a:defRPr/>
            </a:pPr>
            <a:r>
              <a:rPr lang="fr-FR" b="0" i="0" dirty="0">
                <a:latin typeface="Arial"/>
              </a:rPr>
              <a:t>Un projet RAD se découpe en quatre phases :</a:t>
            </a:r>
            <a:endParaRPr dirty="0"/>
          </a:p>
          <a:p>
            <a:pPr algn="l">
              <a:defRPr/>
            </a:pPr>
            <a:r>
              <a:rPr lang="fr-FR" b="0" i="0" dirty="0">
                <a:latin typeface="Arial"/>
              </a:rPr>
              <a:t>1. Phase de définition des besoins. Elle se matérialise par des sessions de travail appelées JRP (Joint </a:t>
            </a:r>
            <a:r>
              <a:rPr lang="fr-FR" b="0" i="0" dirty="0" err="1">
                <a:latin typeface="Arial"/>
              </a:rPr>
              <a:t>Requirements</a:t>
            </a:r>
            <a:r>
              <a:rPr lang="fr-FR" b="0" i="0" dirty="0">
                <a:latin typeface="Arial"/>
              </a:rPr>
              <a:t> Planning ou définition conjointe des besoins).</a:t>
            </a:r>
            <a:endParaRPr dirty="0"/>
          </a:p>
          <a:p>
            <a:pPr algn="l">
              <a:defRPr/>
            </a:pPr>
            <a:r>
              <a:rPr lang="fr-FR" b="0" i="0" dirty="0">
                <a:latin typeface="Arial"/>
              </a:rPr>
              <a:t>2. Phase de « conception utilisateur » (user design). Elle se caractérise par les sessions JAD (Joint Application </a:t>
            </a:r>
            <a:r>
              <a:rPr lang="fr-FR" b="0" i="0" dirty="0" err="1">
                <a:latin typeface="Arial"/>
              </a:rPr>
              <a:t>Development</a:t>
            </a:r>
            <a:r>
              <a:rPr lang="fr-FR" b="0" i="0" dirty="0">
                <a:latin typeface="Arial"/>
              </a:rPr>
              <a:t> ou développement conjoint d’application), qui est un des signes distinctifs du RAD.</a:t>
            </a:r>
            <a:endParaRPr dirty="0"/>
          </a:p>
          <a:p>
            <a:pPr algn="l">
              <a:defRPr/>
            </a:pPr>
            <a:r>
              <a:rPr lang="fr-FR" b="0" i="0" dirty="0">
                <a:latin typeface="Arial"/>
              </a:rPr>
              <a:t>3. Phase de construction, mêlant les spécifications détaillées et le codage.</a:t>
            </a:r>
            <a:endParaRPr dirty="0"/>
          </a:p>
          <a:p>
            <a:pPr algn="l">
              <a:defRPr/>
            </a:pPr>
            <a:r>
              <a:rPr lang="fr-FR" b="0" i="0" dirty="0">
                <a:latin typeface="Arial"/>
              </a:rPr>
              <a:t>4. Phase de finalisation et mise en place (en anglais : </a:t>
            </a:r>
            <a:r>
              <a:rPr lang="fr-FR" b="0" i="0" dirty="0" err="1">
                <a:latin typeface="Arial"/>
              </a:rPr>
              <a:t>cutover</a:t>
            </a:r>
            <a:r>
              <a:rPr lang="fr-FR" b="0" i="0" dirty="0">
                <a:latin typeface="Arial"/>
              </a:rPr>
              <a:t>).</a:t>
            </a:r>
            <a:endParaRPr dirty="0"/>
          </a:p>
          <a:p>
            <a:pPr algn="l">
              <a:defRPr/>
            </a:pPr>
            <a:r>
              <a:rPr lang="fr-FR" b="0" i="0" dirty="0">
                <a:latin typeface="Arial"/>
              </a:rPr>
              <a:t>Signalons brièvement deux points essentiels :</a:t>
            </a:r>
            <a:endParaRPr dirty="0"/>
          </a:p>
          <a:p>
            <a:pPr algn="l">
              <a:defRPr/>
            </a:pPr>
            <a:r>
              <a:rPr lang="fr-FR" b="0" i="0" dirty="0">
                <a:latin typeface="Times New Roman"/>
              </a:rPr>
              <a:t>∗ </a:t>
            </a:r>
            <a:r>
              <a:rPr lang="fr-FR" b="0" i="0" dirty="0">
                <a:latin typeface="Arial"/>
              </a:rPr>
              <a:t>tout d’abord, ces quatre phases constituent un processus itératif. Le « </a:t>
            </a:r>
            <a:r>
              <a:rPr lang="fr-FR" b="0" i="0" dirty="0" err="1">
                <a:latin typeface="Arial"/>
              </a:rPr>
              <a:t>cutover</a:t>
            </a:r>
            <a:r>
              <a:rPr lang="fr-FR" b="0" i="0" dirty="0">
                <a:latin typeface="Arial"/>
              </a:rPr>
              <a:t> » débouche à nouveau sur une nouvelle définition des besoins, tant que cela s’avère nécessaire ;</a:t>
            </a:r>
            <a:endParaRPr dirty="0"/>
          </a:p>
          <a:p>
            <a:pPr algn="l">
              <a:defRPr/>
            </a:pPr>
            <a:r>
              <a:rPr lang="fr-FR" b="0" i="0" dirty="0">
                <a:latin typeface="Times New Roman"/>
              </a:rPr>
              <a:t>∗ </a:t>
            </a:r>
            <a:r>
              <a:rPr lang="fr-FR" b="0" i="0" dirty="0">
                <a:latin typeface="Arial"/>
              </a:rPr>
              <a:t>d’autre part, ces phases peuvent, dans une large mesure, être parallélisées.</a:t>
            </a:r>
            <a:endParaRPr dirty="0"/>
          </a:p>
          <a:p>
            <a:pPr marL="0" marR="0" lvl="0" indent="0" algn="l" defTabSz="914400">
              <a:lnSpc>
                <a:spcPct val="100000"/>
              </a:lnSpc>
              <a:spcBef>
                <a:spcPts val="0"/>
              </a:spcBef>
              <a:spcAft>
                <a:spcPts val="0"/>
              </a:spcAft>
              <a:buClrTx/>
              <a:buSzTx/>
              <a:buFontTx/>
              <a:buNone/>
              <a:defRPr/>
            </a:pPr>
            <a:r>
              <a:rPr lang="fr-FR" b="0" i="0" dirty="0">
                <a:latin typeface="Arial"/>
              </a:rPr>
              <a:t>Extrait de La Lettre de l’ADELI N°27 - Avril 1997</a:t>
            </a:r>
            <a:endParaRPr dirty="0"/>
          </a:p>
        </p:txBody>
      </p:sp>
      <p:sp>
        <p:nvSpPr>
          <p:cNvPr id="4" name="Espace réservé du numéro de diapositive 3"/>
          <p:cNvSpPr>
            <a:spLocks noGrp="1"/>
          </p:cNvSpPr>
          <p:nvPr>
            <p:ph type="sldNum" sz="quarter" idx="5"/>
          </p:nvPr>
        </p:nvSpPr>
        <p:spPr bwMode="auto"/>
        <p:txBody>
          <a:bodyPr/>
          <a:lstStyle/>
          <a:p>
            <a:pPr>
              <a:defRPr/>
            </a:pPr>
            <a:fld id="{FBDF923B-8ACB-4155-8390-520790AA9629}" type="slidenum">
              <a:rPr lang="fr-FR"/>
              <a:t>7</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Diapositive de titre">
    <p:spTree>
      <p:nvGrpSpPr>
        <p:cNvPr id="1" name=""/>
        <p:cNvGrpSpPr/>
        <p:nvPr/>
      </p:nvGrpSpPr>
      <p:grpSpPr bwMode="auto">
        <a:xfrm>
          <a:off x="0" y="0"/>
          <a:ext cx="0" cy="0"/>
          <a:chOff x="0" y="0"/>
          <a:chExt cx="0" cy="0"/>
        </a:xfrm>
      </p:grpSpPr>
      <p:sp>
        <p:nvSpPr>
          <p:cNvPr id="4" name="Rectangle 3"/>
          <p:cNvSpPr/>
          <p:nvPr userDrawn="1"/>
        </p:nvSpPr>
        <p:spPr bwMode="auto">
          <a:xfrm>
            <a:off x="8892" y="6230363"/>
            <a:ext cx="12183108" cy="6276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 name="Titre 1"/>
          <p:cNvSpPr>
            <a:spLocks noGrp="1"/>
          </p:cNvSpPr>
          <p:nvPr>
            <p:ph type="ctrTitle" hasCustomPrompt="1"/>
          </p:nvPr>
        </p:nvSpPr>
        <p:spPr bwMode="auto">
          <a:xfrm>
            <a:off x="1468120" y="859445"/>
            <a:ext cx="9400674" cy="905044"/>
          </a:xfrm>
        </p:spPr>
        <p:txBody>
          <a:bodyPr anchor="ctr">
            <a:normAutofit/>
          </a:bodyPr>
          <a:lstStyle>
            <a:lvl1pPr algn="l">
              <a:defRPr sz="3600" spc="300"/>
            </a:lvl1pPr>
          </a:lstStyle>
          <a:p>
            <a:pPr>
              <a:defRPr/>
            </a:pPr>
            <a:r>
              <a:rPr lang="fr-FR"/>
              <a:t>HENIX FORMATIONS</a:t>
            </a:r>
            <a:endParaRPr/>
          </a:p>
        </p:txBody>
      </p:sp>
      <p:sp>
        <p:nvSpPr>
          <p:cNvPr id="3" name="Sous-titre 2"/>
          <p:cNvSpPr>
            <a:spLocks noGrp="1"/>
          </p:cNvSpPr>
          <p:nvPr>
            <p:ph type="subTitle" idx="1" hasCustomPrompt="1"/>
          </p:nvPr>
        </p:nvSpPr>
        <p:spPr bwMode="auto">
          <a:xfrm>
            <a:off x="838200" y="1956971"/>
            <a:ext cx="5959642" cy="3218622"/>
          </a:xfrm>
        </p:spPr>
        <p:txBody>
          <a:bodyPr anchor="b">
            <a:normAutofit/>
          </a:bodyPr>
          <a:lstStyle>
            <a:lvl1pPr marL="0" indent="0" algn="l">
              <a:buNone/>
              <a:defRPr sz="440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Titre de la formation</a:t>
            </a:r>
            <a:endParaRPr/>
          </a:p>
        </p:txBody>
      </p:sp>
      <p:cxnSp>
        <p:nvCxnSpPr>
          <p:cNvPr id="10" name="Connecteur droit 9"/>
          <p:cNvCxnSpPr>
            <a:cxnSpLocks/>
          </p:cNvCxnSpPr>
          <p:nvPr userDrawn="1"/>
        </p:nvCxnSpPr>
        <p:spPr bwMode="auto">
          <a:xfrm>
            <a:off x="1010653" y="5342020"/>
            <a:ext cx="1239253" cy="0"/>
          </a:xfrm>
          <a:prstGeom prst="line">
            <a:avLst/>
          </a:prstGeom>
          <a:ln w="57150">
            <a:solidFill>
              <a:srgbClr val="79B4E2"/>
            </a:solidFill>
          </a:ln>
        </p:spPr>
        <p:style>
          <a:lnRef idx="1">
            <a:schemeClr val="accent1"/>
          </a:lnRef>
          <a:fillRef idx="0">
            <a:schemeClr val="accent1"/>
          </a:fillRef>
          <a:effectRef idx="0">
            <a:schemeClr val="accent1"/>
          </a:effectRef>
          <a:fontRef idx="minor">
            <a:schemeClr val="tx1"/>
          </a:fontRef>
        </p:style>
      </p:cxnSp>
      <p:sp>
        <p:nvSpPr>
          <p:cNvPr id="15" name="Rectangle 14"/>
          <p:cNvSpPr/>
          <p:nvPr userDrawn="1"/>
        </p:nvSpPr>
        <p:spPr bwMode="auto">
          <a:xfrm>
            <a:off x="934721" y="5772150"/>
            <a:ext cx="379729" cy="194512"/>
          </a:xfrm>
          <a:prstGeom prst="rect">
            <a:avLst/>
          </a:prstGeom>
          <a:solidFill>
            <a:srgbClr val="56A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pic>
        <p:nvPicPr>
          <p:cNvPr id="12" name="image1.png"/>
          <p:cNvPicPr/>
          <p:nvPr userDrawn="1"/>
        </p:nvPicPr>
        <p:blipFill>
          <a:blip r:embed="rId2" cstate="screen">
            <a:extLst>
              <a:ext uri="{28A0092B-C50C-407E-A947-70E740481C1C}">
                <a14:useLocalDpi xmlns:a14="http://schemas.microsoft.com/office/drawing/2010/main" val="0"/>
              </a:ext>
            </a:extLst>
          </a:blip>
          <a:stretch/>
        </p:blipFill>
        <p:spPr bwMode="auto">
          <a:xfrm>
            <a:off x="240498" y="6338873"/>
            <a:ext cx="1195403" cy="47755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Titre et contenu">
    <p:spTree>
      <p:nvGrpSpPr>
        <p:cNvPr id="1" name=""/>
        <p:cNvGrpSpPr/>
        <p:nvPr/>
      </p:nvGrpSpPr>
      <p:grpSpPr bwMode="auto">
        <a:xfrm>
          <a:off x="0" y="0"/>
          <a:ext cx="0" cy="0"/>
          <a:chOff x="0" y="0"/>
          <a:chExt cx="0" cy="0"/>
        </a:xfrm>
      </p:grpSpPr>
      <p:sp>
        <p:nvSpPr>
          <p:cNvPr id="7" name="Rectangle 6"/>
          <p:cNvSpPr/>
          <p:nvPr userDrawn="1"/>
        </p:nvSpPr>
        <p:spPr bwMode="auto">
          <a:xfrm>
            <a:off x="6141080" y="356655"/>
            <a:ext cx="5611419" cy="613265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solidFill>
                <a:schemeClr val="bg1"/>
              </a:solidFill>
            </a:endParaRPr>
          </a:p>
        </p:txBody>
      </p:sp>
      <p:sp>
        <p:nvSpPr>
          <p:cNvPr id="2" name="Titre 1"/>
          <p:cNvSpPr>
            <a:spLocks noGrp="1"/>
          </p:cNvSpPr>
          <p:nvPr>
            <p:ph type="title" hasCustomPrompt="1"/>
          </p:nvPr>
        </p:nvSpPr>
        <p:spPr bwMode="auto">
          <a:xfrm>
            <a:off x="385011" y="2851484"/>
            <a:ext cx="5345866" cy="1143000"/>
          </a:xfrm>
          <a:prstGeom prst="rect">
            <a:avLst/>
          </a:prstGeom>
          <a:noFill/>
        </p:spPr>
        <p:txBody>
          <a:bodyPr/>
          <a:lstStyle>
            <a:lvl1pPr algn="l">
              <a:defRPr spc="300">
                <a:solidFill>
                  <a:schemeClr val="bg1"/>
                </a:solidFill>
              </a:defRPr>
            </a:lvl1pPr>
          </a:lstStyle>
          <a:p>
            <a:pPr>
              <a:defRPr/>
            </a:pPr>
            <a:r>
              <a:rPr lang="fr-FR"/>
              <a:t>TITRE PARTIE</a:t>
            </a:r>
            <a:endParaRPr/>
          </a:p>
        </p:txBody>
      </p:sp>
      <p:sp>
        <p:nvSpPr>
          <p:cNvPr id="9" name="Espace réservé du contenu 8"/>
          <p:cNvSpPr>
            <a:spLocks noGrp="1"/>
          </p:cNvSpPr>
          <p:nvPr>
            <p:ph sz="quarter" idx="13" hasCustomPrompt="1"/>
          </p:nvPr>
        </p:nvSpPr>
        <p:spPr bwMode="auto">
          <a:xfrm>
            <a:off x="6149340" y="597092"/>
            <a:ext cx="5603160" cy="5651784"/>
          </a:xfrm>
        </p:spPr>
        <p:txBody>
          <a:bodyPr anchor="ctr">
            <a:normAutofit/>
          </a:bodyPr>
          <a:lstStyle>
            <a:lvl1pPr marL="457200" indent="-457200">
              <a:lnSpc>
                <a:spcPct val="150000"/>
              </a:lnSpc>
              <a:buClr>
                <a:srgbClr val="0070C0"/>
              </a:buClr>
              <a:buFont typeface="+mj-lt"/>
              <a:buAutoNum type="romanUcPeriod"/>
              <a:defRPr sz="2000">
                <a:solidFill>
                  <a:srgbClr val="56A1DB"/>
                </a:solidFill>
              </a:defRPr>
            </a:lvl1pPr>
          </a:lstStyle>
          <a:p>
            <a:pPr lvl="0">
              <a:defRPr/>
            </a:pPr>
            <a:r>
              <a:rPr lang="fr-FR"/>
              <a:t>Partie 1</a:t>
            </a:r>
            <a:endParaRPr/>
          </a:p>
          <a:p>
            <a:pPr lvl="0">
              <a:defRPr/>
            </a:pPr>
            <a:r>
              <a:rPr lang="fr-FR"/>
              <a:t>Partie 2</a:t>
            </a:r>
            <a:endParaRPr/>
          </a:p>
          <a:p>
            <a:pPr lvl="0">
              <a:defRPr/>
            </a:pPr>
            <a:r>
              <a:rPr lang="fr-FR"/>
              <a:t>Partie 3</a:t>
            </a:r>
            <a:endParaRPr/>
          </a:p>
        </p:txBody>
      </p:sp>
      <p:sp>
        <p:nvSpPr>
          <p:cNvPr id="12" name="Espace réservé du pied de page 11"/>
          <p:cNvSpPr>
            <a:spLocks noGrp="1"/>
          </p:cNvSpPr>
          <p:nvPr>
            <p:ph type="ftr" sz="quarter" idx="14"/>
          </p:nvPr>
        </p:nvSpPr>
        <p:spPr bwMode="auto"/>
        <p:txBody>
          <a:bodyPr/>
          <a:lstStyle>
            <a:lvl1pPr>
              <a:defRPr>
                <a:solidFill>
                  <a:schemeClr val="bg1"/>
                </a:solidFill>
              </a:defRPr>
            </a:lvl1pPr>
          </a:lstStyle>
          <a:p>
            <a:pPr>
              <a:defRPr/>
            </a:pPr>
            <a:endParaRPr lang="fr-FR"/>
          </a:p>
        </p:txBody>
      </p:sp>
      <p:sp>
        <p:nvSpPr>
          <p:cNvPr id="13" name="Espace réservé du numéro de diapositive 12"/>
          <p:cNvSpPr>
            <a:spLocks noGrp="1"/>
          </p:cNvSpPr>
          <p:nvPr>
            <p:ph type="sldNum" sz="quarter" idx="15"/>
          </p:nvPr>
        </p:nvSpPr>
        <p:spPr bwMode="auto"/>
        <p:txBody>
          <a:bodyPr/>
          <a:lstStyle>
            <a:lvl1pPr>
              <a:defRPr>
                <a:solidFill>
                  <a:schemeClr val="bg1"/>
                </a:solidFill>
              </a:defRPr>
            </a:lvl1pPr>
          </a:lstStyle>
          <a:p>
            <a:pPr>
              <a:defRPr/>
            </a:pPr>
            <a:fld id="{E5843E05-B966-486B-89DD-DF1C7E93B435}" type="slidenum">
              <a:rPr lang="fr-FR"/>
              <a:t>‹N°›</a:t>
            </a:fld>
            <a:endParaRPr lang="fr-FR"/>
          </a:p>
        </p:txBody>
      </p:sp>
      <p:cxnSp>
        <p:nvCxnSpPr>
          <p:cNvPr id="14" name="Connecteur droit 13"/>
          <p:cNvCxnSpPr>
            <a:cxnSpLocks/>
          </p:cNvCxnSpPr>
          <p:nvPr userDrawn="1"/>
        </p:nvCxnSpPr>
        <p:spPr bwMode="auto">
          <a:xfrm>
            <a:off x="518610" y="3903745"/>
            <a:ext cx="1239253"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image1.png"/>
          <p:cNvPicPr/>
          <p:nvPr userDrawn="1"/>
        </p:nvPicPr>
        <p:blipFill>
          <a:blip r:embed="rId2" cstate="screen">
            <a:extLst>
              <a:ext uri="{28A0092B-C50C-407E-A947-70E740481C1C}">
                <a14:useLocalDpi xmlns:a14="http://schemas.microsoft.com/office/drawing/2010/main" val="0"/>
              </a:ext>
            </a:extLst>
          </a:blip>
          <a:stretch/>
        </p:blipFill>
        <p:spPr bwMode="auto">
          <a:xfrm>
            <a:off x="8327162" y="5850454"/>
            <a:ext cx="1239253" cy="5186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re de section">
    <p:spTree>
      <p:nvGrpSpPr>
        <p:cNvPr id="1" name=""/>
        <p:cNvGrpSpPr/>
        <p:nvPr/>
      </p:nvGrpSpPr>
      <p:grpSpPr bwMode="auto">
        <a:xfrm>
          <a:off x="0" y="0"/>
          <a:ext cx="0" cy="0"/>
          <a:chOff x="0" y="0"/>
          <a:chExt cx="0" cy="0"/>
        </a:xfrm>
      </p:grpSpPr>
      <p:sp>
        <p:nvSpPr>
          <p:cNvPr id="9" name="Rectangle 8"/>
          <p:cNvSpPr/>
          <p:nvPr userDrawn="1"/>
        </p:nvSpPr>
        <p:spPr bwMode="auto">
          <a:xfrm>
            <a:off x="625182" y="778668"/>
            <a:ext cx="4627855" cy="530066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 name="Titre 1"/>
          <p:cNvSpPr>
            <a:spLocks noGrp="1"/>
          </p:cNvSpPr>
          <p:nvPr>
            <p:ph type="title"/>
          </p:nvPr>
        </p:nvSpPr>
        <p:spPr bwMode="auto">
          <a:xfrm>
            <a:off x="996008" y="919226"/>
            <a:ext cx="3886201" cy="2581356"/>
          </a:xfrm>
        </p:spPr>
        <p:txBody>
          <a:bodyPr anchor="b">
            <a:noAutofit/>
          </a:bodyPr>
          <a:lstStyle>
            <a:lvl1pPr algn="l">
              <a:defRPr sz="3200">
                <a:solidFill>
                  <a:srgbClr val="56A1DB"/>
                </a:solidFill>
              </a:defRPr>
            </a:lvl1pPr>
          </a:lstStyle>
          <a:p>
            <a:pPr>
              <a:defRPr/>
            </a:pPr>
            <a:r>
              <a:rPr lang="fr-FR"/>
              <a:t>Modifiez le style du titre</a:t>
            </a:r>
          </a:p>
        </p:txBody>
      </p:sp>
      <p:sp>
        <p:nvSpPr>
          <p:cNvPr id="7" name="Espace réservé du pied de page 6"/>
          <p:cNvSpPr>
            <a:spLocks noGrp="1"/>
          </p:cNvSpPr>
          <p:nvPr>
            <p:ph type="ftr" sz="quarter" idx="10"/>
          </p:nvPr>
        </p:nvSpPr>
        <p:spPr bwMode="auto"/>
        <p:txBody>
          <a:bodyPr/>
          <a:lstStyle/>
          <a:p>
            <a:pPr>
              <a:defRPr/>
            </a:pPr>
            <a:endParaRPr lang="fr-FR"/>
          </a:p>
        </p:txBody>
      </p:sp>
      <p:sp>
        <p:nvSpPr>
          <p:cNvPr id="8" name="Espace réservé du numéro de diapositive 7"/>
          <p:cNvSpPr>
            <a:spLocks noGrp="1"/>
          </p:cNvSpPr>
          <p:nvPr>
            <p:ph type="sldNum" sz="quarter" idx="11"/>
          </p:nvPr>
        </p:nvSpPr>
        <p:spPr bwMode="auto"/>
        <p:txBody>
          <a:bodyPr/>
          <a:lstStyle/>
          <a:p>
            <a:pPr>
              <a:defRPr/>
            </a:pPr>
            <a:fld id="{E5843E05-B966-486B-89DD-DF1C7E93B435}" type="slidenum">
              <a:rPr lang="fr-FR"/>
              <a:t>‹N°›</a:t>
            </a:fld>
            <a:endParaRPr lang="fr-FR"/>
          </a:p>
        </p:txBody>
      </p:sp>
      <p:cxnSp>
        <p:nvCxnSpPr>
          <p:cNvPr id="10" name="Connecteur droit 9"/>
          <p:cNvCxnSpPr>
            <a:cxnSpLocks/>
          </p:cNvCxnSpPr>
          <p:nvPr userDrawn="1"/>
        </p:nvCxnSpPr>
        <p:spPr bwMode="auto">
          <a:xfrm>
            <a:off x="996008" y="3571091"/>
            <a:ext cx="1239253" cy="0"/>
          </a:xfrm>
          <a:prstGeom prst="line">
            <a:avLst/>
          </a:prstGeom>
          <a:ln w="57150">
            <a:solidFill>
              <a:srgbClr val="56A1DB"/>
            </a:solidFill>
          </a:ln>
        </p:spPr>
        <p:style>
          <a:lnRef idx="1">
            <a:schemeClr val="accent1"/>
          </a:lnRef>
          <a:fillRef idx="0">
            <a:schemeClr val="accent1"/>
          </a:fillRef>
          <a:effectRef idx="0">
            <a:schemeClr val="accent1"/>
          </a:effectRef>
          <a:fontRef idx="minor">
            <a:schemeClr val="tx1"/>
          </a:fontRef>
        </p:style>
      </p:cxnSp>
      <p:pic>
        <p:nvPicPr>
          <p:cNvPr id="11" name="image1.png"/>
          <p:cNvPicPr/>
          <p:nvPr userDrawn="1"/>
        </p:nvPicPr>
        <p:blipFill>
          <a:blip r:embed="rId2" cstate="screen">
            <a:extLst>
              <a:ext uri="{28A0092B-C50C-407E-A947-70E740481C1C}">
                <a14:useLocalDpi xmlns:a14="http://schemas.microsoft.com/office/drawing/2010/main" val="0"/>
              </a:ext>
            </a:extLst>
          </a:blip>
          <a:stretch/>
        </p:blipFill>
        <p:spPr bwMode="auto">
          <a:xfrm>
            <a:off x="2130746" y="5447730"/>
            <a:ext cx="1239253" cy="518640"/>
          </a:xfrm>
          <a:prstGeom prst="rect">
            <a:avLst/>
          </a:prstGeom>
        </p:spPr>
      </p:pic>
      <p:sp>
        <p:nvSpPr>
          <p:cNvPr id="12" name="Rectangle 11"/>
          <p:cNvSpPr/>
          <p:nvPr userDrawn="1"/>
        </p:nvSpPr>
        <p:spPr bwMode="auto">
          <a:xfrm>
            <a:off x="8892" y="6372049"/>
            <a:ext cx="1144268" cy="485951"/>
          </a:xfrm>
          <a:prstGeom prst="rect">
            <a:avLst/>
          </a:prstGeom>
          <a:solidFill>
            <a:srgbClr val="56A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Vide">
    <p:spTree>
      <p:nvGrpSpPr>
        <p:cNvPr id="1" name=""/>
        <p:cNvGrpSpPr/>
        <p:nvPr/>
      </p:nvGrpSpPr>
      <p:grpSpPr bwMode="auto">
        <a:xfrm>
          <a:off x="0" y="0"/>
          <a:ext cx="0" cy="0"/>
          <a:chOff x="0" y="0"/>
          <a:chExt cx="0" cy="0"/>
        </a:xfrm>
      </p:grpSpPr>
      <p:sp>
        <p:nvSpPr>
          <p:cNvPr id="5" name="Espace réservé du pied de page 4"/>
          <p:cNvSpPr>
            <a:spLocks noGrp="1"/>
          </p:cNvSpPr>
          <p:nvPr>
            <p:ph type="ftr" sz="quarter" idx="10"/>
          </p:nvPr>
        </p:nvSpPr>
        <p:spPr bwMode="auto"/>
        <p:txBody>
          <a:bodyPr/>
          <a:lstStyle/>
          <a:p>
            <a:pPr>
              <a:defRPr/>
            </a:pPr>
            <a:r>
              <a:rPr lang="fr-FR"/>
              <a:t>Ecole de la Qualité Logicielle</a:t>
            </a:r>
            <a:endParaRPr/>
          </a:p>
        </p:txBody>
      </p:sp>
      <p:sp>
        <p:nvSpPr>
          <p:cNvPr id="6" name="Espace réservé du numéro de diapositive 5"/>
          <p:cNvSpPr>
            <a:spLocks noGrp="1"/>
          </p:cNvSpPr>
          <p:nvPr>
            <p:ph type="sldNum" sz="quarter" idx="11"/>
          </p:nvPr>
        </p:nvSpPr>
        <p:spPr bwMode="auto"/>
        <p:txBody>
          <a:bodyPr/>
          <a:lstStyle/>
          <a:p>
            <a:pPr>
              <a:defRPr/>
            </a:pPr>
            <a:fld id="{E5843E05-B966-486B-89DD-DF1C7E93B435}" type="slidenum">
              <a:rPr lang="fr-FR"/>
              <a:t>‹N°›</a:t>
            </a:fld>
            <a:endParaRPr lang="fr-FR"/>
          </a:p>
        </p:txBody>
      </p:sp>
      <p:sp>
        <p:nvSpPr>
          <p:cNvPr id="7" name="Rectangle 6"/>
          <p:cNvSpPr/>
          <p:nvPr userDrawn="1"/>
        </p:nvSpPr>
        <p:spPr bwMode="auto">
          <a:xfrm>
            <a:off x="0" y="704850"/>
            <a:ext cx="12192000" cy="56515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8" name="Titre 7"/>
          <p:cNvSpPr>
            <a:spLocks noGrp="1"/>
          </p:cNvSpPr>
          <p:nvPr>
            <p:ph type="title"/>
          </p:nvPr>
        </p:nvSpPr>
        <p:spPr bwMode="auto">
          <a:xfrm>
            <a:off x="466725" y="93662"/>
            <a:ext cx="10515600" cy="238125"/>
          </a:xfrm>
        </p:spPr>
        <p:txBody>
          <a:bodyPr>
            <a:noAutofit/>
          </a:bodyPr>
          <a:lstStyle>
            <a:lvl1pPr>
              <a:defRPr sz="1400">
                <a:solidFill>
                  <a:schemeClr val="tx1">
                    <a:lumMod val="85000"/>
                    <a:lumOff val="15000"/>
                  </a:schemeClr>
                </a:solidFill>
              </a:defRPr>
            </a:lvl1pPr>
          </a:lstStyle>
          <a:p>
            <a:pPr>
              <a:defRPr/>
            </a:pPr>
            <a:r>
              <a:rPr lang="fr-FR"/>
              <a:t>Modifiez le style du titre</a:t>
            </a:r>
            <a:endParaRPr/>
          </a:p>
        </p:txBody>
      </p:sp>
      <p:sp>
        <p:nvSpPr>
          <p:cNvPr id="11" name="Espace réservé du texte 10"/>
          <p:cNvSpPr>
            <a:spLocks noGrp="1"/>
          </p:cNvSpPr>
          <p:nvPr>
            <p:ph type="body" sz="quarter" idx="12" hasCustomPrompt="1"/>
          </p:nvPr>
        </p:nvSpPr>
        <p:spPr bwMode="auto">
          <a:xfrm>
            <a:off x="466725" y="331787"/>
            <a:ext cx="11368717" cy="325438"/>
          </a:xfrm>
        </p:spPr>
        <p:txBody>
          <a:bodyPr>
            <a:normAutofit/>
          </a:bodyPr>
          <a:lstStyle>
            <a:lvl1pPr marL="0" indent="0">
              <a:buNone/>
              <a:defRPr sz="1800">
                <a:solidFill>
                  <a:schemeClr val="bg1"/>
                </a:solidFill>
                <a:latin typeface="+mj-lt"/>
              </a:defRPr>
            </a:lvl1pPr>
          </a:lstStyle>
          <a:p>
            <a:pPr lvl="0">
              <a:defRPr/>
            </a:pPr>
            <a:r>
              <a:rPr lang="fr-FR"/>
              <a:t>Sous titre</a:t>
            </a:r>
            <a:endParaRPr/>
          </a:p>
        </p:txBody>
      </p:sp>
      <p:sp>
        <p:nvSpPr>
          <p:cNvPr id="4" name="Espace réservé du contenu 3"/>
          <p:cNvSpPr>
            <a:spLocks noGrp="1"/>
          </p:cNvSpPr>
          <p:nvPr>
            <p:ph sz="quarter" idx="13"/>
          </p:nvPr>
        </p:nvSpPr>
        <p:spPr bwMode="auto">
          <a:xfrm>
            <a:off x="466725" y="1168400"/>
            <a:ext cx="8793163" cy="4306888"/>
          </a:xfrm>
        </p:spPr>
        <p:txBody>
          <a:body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Obj" preserve="1" userDrawn="1">
  <p:cSld name="Deux contenus">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a:p>
        </p:txBody>
      </p:sp>
      <p:sp>
        <p:nvSpPr>
          <p:cNvPr id="3" name="Espace réservé du contenu 2"/>
          <p:cNvSpPr>
            <a:spLocks noGrp="1"/>
          </p:cNvSpPr>
          <p:nvPr>
            <p:ph sz="half" idx="1"/>
          </p:nvPr>
        </p:nvSpPr>
        <p:spPr bwMode="auto">
          <a:xfrm>
            <a:off x="838200" y="1825625"/>
            <a:ext cx="5181600" cy="4351338"/>
          </a:xfrm>
        </p:spPr>
        <p:txBody>
          <a:body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 name="Espace réservé du contenu 3"/>
          <p:cNvSpPr>
            <a:spLocks noGrp="1"/>
          </p:cNvSpPr>
          <p:nvPr>
            <p:ph sz="half" idx="2"/>
          </p:nvPr>
        </p:nvSpPr>
        <p:spPr bwMode="auto">
          <a:xfrm>
            <a:off x="6172200" y="1825625"/>
            <a:ext cx="5181600" cy="4351338"/>
          </a:xfrm>
        </p:spPr>
        <p:txBody>
          <a:body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5" name="Espace réservé de la date 4"/>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6" name="Espace réservé du pied de page 5"/>
          <p:cNvSpPr>
            <a:spLocks noGrp="1"/>
          </p:cNvSpPr>
          <p:nvPr>
            <p:ph type="ftr" sz="quarter" idx="11"/>
          </p:nvPr>
        </p:nvSpPr>
        <p:spPr bwMode="auto"/>
        <p:txBody>
          <a:bodyPr/>
          <a:lstStyle/>
          <a:p>
            <a:pPr>
              <a:defRPr/>
            </a:pPr>
            <a:endParaRPr lang="fr-FR"/>
          </a:p>
        </p:txBody>
      </p:sp>
      <p:sp>
        <p:nvSpPr>
          <p:cNvPr id="7" name="Espace réservé du numéro de diapositive 6"/>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aison">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9788" y="365125"/>
            <a:ext cx="10515600" cy="1325563"/>
          </a:xfrm>
        </p:spPr>
        <p:txBody>
          <a:bodyPr/>
          <a:lstStyle/>
          <a:p>
            <a:pPr>
              <a:defRPr/>
            </a:pPr>
            <a:r>
              <a:rPr lang="fr-FR"/>
              <a:t>Modifiez le style du titre</a:t>
            </a:r>
            <a:endParaRPr/>
          </a:p>
        </p:txBody>
      </p:sp>
      <p:sp>
        <p:nvSpPr>
          <p:cNvPr id="3" name="Espace réservé du texte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Modifier les styles du texte du masque</a:t>
            </a:r>
            <a:endParaRPr/>
          </a:p>
        </p:txBody>
      </p:sp>
      <p:sp>
        <p:nvSpPr>
          <p:cNvPr id="4" name="Espace réservé du contenu 3"/>
          <p:cNvSpPr>
            <a:spLocks noGrp="1"/>
          </p:cNvSpPr>
          <p:nvPr>
            <p:ph sz="half" idx="2"/>
          </p:nvPr>
        </p:nvSpPr>
        <p:spPr bwMode="auto">
          <a:xfrm>
            <a:off x="839788" y="2505074"/>
            <a:ext cx="5157787" cy="3684588"/>
          </a:xfrm>
        </p:spPr>
        <p:txBody>
          <a:body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5" name="Espace réservé du texte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Modifier les styles du texte du masque</a:t>
            </a:r>
            <a:endParaRPr/>
          </a:p>
        </p:txBody>
      </p:sp>
      <p:sp>
        <p:nvSpPr>
          <p:cNvPr id="6" name="Espace réservé du contenu 5"/>
          <p:cNvSpPr>
            <a:spLocks noGrp="1"/>
          </p:cNvSpPr>
          <p:nvPr>
            <p:ph sz="quarter" idx="4"/>
          </p:nvPr>
        </p:nvSpPr>
        <p:spPr bwMode="auto">
          <a:xfrm>
            <a:off x="6172200" y="2505074"/>
            <a:ext cx="5183188" cy="3684588"/>
          </a:xfrm>
        </p:spPr>
        <p:txBody>
          <a:body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7" name="Espace réservé de la date 6"/>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8" name="Espace réservé du pied de page 7"/>
          <p:cNvSpPr>
            <a:spLocks noGrp="1"/>
          </p:cNvSpPr>
          <p:nvPr>
            <p:ph type="ftr" sz="quarter" idx="11"/>
          </p:nvPr>
        </p:nvSpPr>
        <p:spPr bwMode="auto"/>
        <p:txBody>
          <a:bodyPr/>
          <a:lstStyle/>
          <a:p>
            <a:pPr>
              <a:defRPr/>
            </a:pPr>
            <a:endParaRPr lang="fr-FR"/>
          </a:p>
        </p:txBody>
      </p:sp>
      <p:sp>
        <p:nvSpPr>
          <p:cNvPr id="9" name="Espace réservé du numéro de diapositive 8"/>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re seul">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a:p>
        </p:txBody>
      </p:sp>
      <p:sp>
        <p:nvSpPr>
          <p:cNvPr id="3" name="Espace réservé de la date 2"/>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4" name="Espace réservé du pied de page 3"/>
          <p:cNvSpPr>
            <a:spLocks noGrp="1"/>
          </p:cNvSpPr>
          <p:nvPr>
            <p:ph type="ftr" sz="quarter" idx="11"/>
          </p:nvPr>
        </p:nvSpPr>
        <p:spPr bwMode="auto"/>
        <p:txBody>
          <a:bodyPr/>
          <a:lstStyle/>
          <a:p>
            <a:pPr>
              <a:defRPr/>
            </a:pPr>
            <a:endParaRPr lang="fr-FR"/>
          </a:p>
        </p:txBody>
      </p:sp>
      <p:sp>
        <p:nvSpPr>
          <p:cNvPr id="5" name="Espace réservé du numéro de diapositive 4"/>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u avec légende">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3" name="Espace réservé du contenu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Modifier les styles du texte du masque</a:t>
            </a:r>
            <a:endParaRPr/>
          </a:p>
        </p:txBody>
      </p:sp>
      <p:sp>
        <p:nvSpPr>
          <p:cNvPr id="5" name="Espace réservé de la date 4"/>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6" name="Espace réservé du pied de page 5"/>
          <p:cNvSpPr>
            <a:spLocks noGrp="1"/>
          </p:cNvSpPr>
          <p:nvPr>
            <p:ph type="ftr" sz="quarter" idx="11"/>
          </p:nvPr>
        </p:nvSpPr>
        <p:spPr bwMode="auto"/>
        <p:txBody>
          <a:bodyPr/>
          <a:lstStyle/>
          <a:p>
            <a:pPr>
              <a:defRPr/>
            </a:pPr>
            <a:endParaRPr lang="fr-FR"/>
          </a:p>
        </p:txBody>
      </p:sp>
      <p:sp>
        <p:nvSpPr>
          <p:cNvPr id="7" name="Espace réservé du numéro de diapositive 6"/>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Image avec légende">
    <p:spTree>
      <p:nvGrpSpPr>
        <p:cNvPr id="1" name=""/>
        <p:cNvGrpSpPr/>
        <p:nvPr/>
      </p:nvGrpSpPr>
      <p:grpSpPr bwMode="auto">
        <a:xfrm>
          <a:off x="0" y="0"/>
          <a:ext cx="0" cy="0"/>
          <a:chOff x="0" y="0"/>
          <a:chExt cx="0" cy="0"/>
        </a:xfrm>
      </p:grpSpPr>
      <p:sp>
        <p:nvSpPr>
          <p:cNvPr id="2" name="Titre 1"/>
          <p:cNvSpPr>
            <a:spLocks noGrp="1"/>
          </p:cNvSpPr>
          <p:nvPr>
            <p:ph type="title"/>
          </p:nvPr>
        </p:nvSpPr>
        <p:spPr bwMode="auto">
          <a:xfrm>
            <a:off x="839788" y="457200"/>
            <a:ext cx="3932237" cy="1600200"/>
          </a:xfrm>
        </p:spPr>
        <p:txBody>
          <a:bodyPr anchor="b"/>
          <a:lstStyle>
            <a:lvl1pPr>
              <a:defRPr sz="3200"/>
            </a:lvl1pPr>
          </a:lstStyle>
          <a:p>
            <a:pPr>
              <a:defRPr/>
            </a:pPr>
            <a:r>
              <a:rPr lang="fr-FR"/>
              <a:t>Modifiez le style du titre</a:t>
            </a:r>
            <a:endParaRPr/>
          </a:p>
        </p:txBody>
      </p:sp>
      <p:sp>
        <p:nvSpPr>
          <p:cNvPr id="3" name="Espace réservé pour une image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fr-FR"/>
              <a:t>Cliquez sur l'icône pour ajouter une image</a:t>
            </a:r>
            <a:endParaRPr/>
          </a:p>
        </p:txBody>
      </p:sp>
      <p:sp>
        <p:nvSpPr>
          <p:cNvPr id="4" name="Espace réservé du texte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fr-FR"/>
              <a:t>Modifier les styles du texte du masque</a:t>
            </a:r>
            <a:endParaRPr/>
          </a:p>
        </p:txBody>
      </p:sp>
      <p:sp>
        <p:nvSpPr>
          <p:cNvPr id="5" name="Espace réservé de la date 4"/>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6" name="Espace réservé du pied de page 5"/>
          <p:cNvSpPr>
            <a:spLocks noGrp="1"/>
          </p:cNvSpPr>
          <p:nvPr>
            <p:ph type="ftr" sz="quarter" idx="11"/>
          </p:nvPr>
        </p:nvSpPr>
        <p:spPr bwMode="auto"/>
        <p:txBody>
          <a:bodyPr/>
          <a:lstStyle/>
          <a:p>
            <a:pPr>
              <a:defRPr/>
            </a:pPr>
            <a:endParaRPr lang="fr-FR"/>
          </a:p>
        </p:txBody>
      </p:sp>
      <p:sp>
        <p:nvSpPr>
          <p:cNvPr id="7" name="Espace réservé du numéro de diapositive 6"/>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re et texte vertical">
    <p:spTree>
      <p:nvGrpSpPr>
        <p:cNvPr id="1" name=""/>
        <p:cNvGrpSpPr/>
        <p:nvPr/>
      </p:nvGrpSpPr>
      <p:grpSpPr bwMode="auto">
        <a:xfrm>
          <a:off x="0" y="0"/>
          <a:ext cx="0" cy="0"/>
          <a:chOff x="0" y="0"/>
          <a:chExt cx="0" cy="0"/>
        </a:xfrm>
      </p:grpSpPr>
      <p:sp>
        <p:nvSpPr>
          <p:cNvPr id="2" name="Titre 1"/>
          <p:cNvSpPr>
            <a:spLocks noGrp="1"/>
          </p:cNvSpPr>
          <p:nvPr>
            <p:ph type="title"/>
          </p:nvPr>
        </p:nvSpPr>
        <p:spPr bwMode="auto"/>
        <p:txBody>
          <a:bodyPr/>
          <a:lstStyle/>
          <a:p>
            <a:pPr>
              <a:defRPr/>
            </a:pPr>
            <a:r>
              <a:rPr lang="fr-FR"/>
              <a:t>Modifiez le style du titre</a:t>
            </a:r>
            <a:endParaRPr/>
          </a:p>
        </p:txBody>
      </p:sp>
      <p:sp>
        <p:nvSpPr>
          <p:cNvPr id="3" name="Espace réservé du texte vertical 2"/>
          <p:cNvSpPr>
            <a:spLocks noGrp="1"/>
          </p:cNvSpPr>
          <p:nvPr>
            <p:ph type="body" orient="vert" idx="1"/>
          </p:nvPr>
        </p:nvSpPr>
        <p:spPr bwMode="auto"/>
        <p:txBody>
          <a:bodyPr vert="eaVert"/>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 name="Espace réservé de la date 3"/>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5" name="Espace réservé du pied de page 4"/>
          <p:cNvSpPr>
            <a:spLocks noGrp="1"/>
          </p:cNvSpPr>
          <p:nvPr>
            <p:ph type="ftr" sz="quarter" idx="11"/>
          </p:nvPr>
        </p:nvSpPr>
        <p:spPr bwMode="auto"/>
        <p:txBody>
          <a:bodyPr/>
          <a:lstStyle/>
          <a:p>
            <a:pPr>
              <a:defRPr/>
            </a:pPr>
            <a:endParaRPr lang="fr-FR"/>
          </a:p>
        </p:txBody>
      </p:sp>
      <p:sp>
        <p:nvSpPr>
          <p:cNvPr id="6" name="Espace réservé du numéro de diapositive 5"/>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Titre vertical et texte">
    <p:spTree>
      <p:nvGrpSpPr>
        <p:cNvPr id="1" name=""/>
        <p:cNvGrpSpPr/>
        <p:nvPr/>
      </p:nvGrpSpPr>
      <p:grpSpPr bwMode="auto">
        <a:xfrm>
          <a:off x="0" y="0"/>
          <a:ext cx="0" cy="0"/>
          <a:chOff x="0" y="0"/>
          <a:chExt cx="0" cy="0"/>
        </a:xfrm>
      </p:grpSpPr>
      <p:sp>
        <p:nvSpPr>
          <p:cNvPr id="2" name="Titre vertical 1"/>
          <p:cNvSpPr>
            <a:spLocks noGrp="1"/>
          </p:cNvSpPr>
          <p:nvPr>
            <p:ph type="title" orient="vert"/>
          </p:nvPr>
        </p:nvSpPr>
        <p:spPr bwMode="auto">
          <a:xfrm>
            <a:off x="8724900" y="365125"/>
            <a:ext cx="2628900" cy="5811838"/>
          </a:xfrm>
        </p:spPr>
        <p:txBody>
          <a:bodyPr vert="eaVert"/>
          <a:lstStyle/>
          <a:p>
            <a:pPr>
              <a:defRPr/>
            </a:pPr>
            <a:r>
              <a:rPr lang="fr-FR"/>
              <a:t>Modifiez le style du titre</a:t>
            </a:r>
            <a:endParaRPr/>
          </a:p>
        </p:txBody>
      </p:sp>
      <p:sp>
        <p:nvSpPr>
          <p:cNvPr id="3" name="Espace réservé du texte vertical 2"/>
          <p:cNvSpPr>
            <a:spLocks noGrp="1"/>
          </p:cNvSpPr>
          <p:nvPr>
            <p:ph type="body" orient="vert" idx="1"/>
          </p:nvPr>
        </p:nvSpPr>
        <p:spPr bwMode="auto">
          <a:xfrm>
            <a:off x="838200" y="365125"/>
            <a:ext cx="7734300" cy="5811838"/>
          </a:xfrm>
        </p:spPr>
        <p:txBody>
          <a:bodyPr vert="eaVert"/>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4" name="Espace réservé de la date 3"/>
          <p:cNvSpPr>
            <a:spLocks noGrp="1"/>
          </p:cNvSpPr>
          <p:nvPr>
            <p:ph type="dt" sz="half" idx="10"/>
          </p:nvPr>
        </p:nvSpPr>
        <p:spPr bwMode="auto">
          <a:xfrm>
            <a:off x="838200" y="6356350"/>
            <a:ext cx="2743200" cy="365125"/>
          </a:xfrm>
          <a:prstGeom prst="rect">
            <a:avLst/>
          </a:prstGeom>
        </p:spPr>
        <p:txBody>
          <a:bodyPr/>
          <a:lstStyle/>
          <a:p>
            <a:pPr>
              <a:defRPr/>
            </a:pPr>
            <a:fld id="{A4512172-F325-4894-A606-C51F663DA619}" type="datetimeFigureOut">
              <a:rPr lang="fr-FR"/>
              <a:t>30/07/2024</a:t>
            </a:fld>
            <a:endParaRPr lang="fr-FR"/>
          </a:p>
        </p:txBody>
      </p:sp>
      <p:sp>
        <p:nvSpPr>
          <p:cNvPr id="5" name="Espace réservé du pied de page 4"/>
          <p:cNvSpPr>
            <a:spLocks noGrp="1"/>
          </p:cNvSpPr>
          <p:nvPr>
            <p:ph type="ftr" sz="quarter" idx="11"/>
          </p:nvPr>
        </p:nvSpPr>
        <p:spPr bwMode="auto"/>
        <p:txBody>
          <a:bodyPr/>
          <a:lstStyle/>
          <a:p>
            <a:pPr>
              <a:defRPr/>
            </a:pPr>
            <a:endParaRPr lang="fr-FR"/>
          </a:p>
        </p:txBody>
      </p:sp>
      <p:sp>
        <p:nvSpPr>
          <p:cNvPr id="6" name="Espace réservé du numéro de diapositive 5"/>
          <p:cNvSpPr>
            <a:spLocks noGrp="1"/>
          </p:cNvSpPr>
          <p:nvPr>
            <p:ph type="sldNum" sz="quarter" idx="12"/>
          </p:nvPr>
        </p:nvSpPr>
        <p:spPr bwMode="auto"/>
        <p:txBody>
          <a:bodyPr/>
          <a:lstStyle/>
          <a:p>
            <a:pPr>
              <a:defRPr/>
            </a:pPr>
            <a:fld id="{E5843E05-B966-486B-89DD-DF1C7E93B435}" type="slidenum">
              <a:rPr lang="fr-F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userDrawn="1">
  <p:cSld name="Disposition personnalisée">
    <p:spTree>
      <p:nvGrpSpPr>
        <p:cNvPr id="1" name=""/>
        <p:cNvGrpSpPr/>
        <p:nvPr/>
      </p:nvGrpSpPr>
      <p:grpSpPr bwMode="auto">
        <a:xfrm>
          <a:off x="0" y="0"/>
          <a:ext cx="0" cy="0"/>
          <a:chOff x="0" y="0"/>
          <a:chExt cx="0" cy="0"/>
        </a:xfrm>
      </p:grpSpPr>
      <p:pic>
        <p:nvPicPr>
          <p:cNvPr id="16" name="Image 15"/>
          <p:cNvPicPr>
            <a:picLocks noChangeAspect="1"/>
          </p:cNvPicPr>
          <p:nvPr userDrawn="1"/>
        </p:nvPicPr>
        <p:blipFill>
          <a:blip r:embed="rId2">
            <a:biLevel thresh="25000"/>
            <a:extLst>
              <a:ext uri="{28A0092B-C50C-407E-A947-70E740481C1C}">
                <a14:useLocalDpi xmlns:a14="http://schemas.microsoft.com/office/drawing/2010/main" val="0"/>
              </a:ext>
            </a:extLst>
          </a:blip>
          <a:stretch/>
        </p:blipFill>
        <p:spPr bwMode="auto">
          <a:xfrm>
            <a:off x="0" y="1279021"/>
            <a:ext cx="12192000" cy="5571475"/>
          </a:xfrm>
          <a:prstGeom prst="rect">
            <a:avLst/>
          </a:prstGeom>
        </p:spPr>
      </p:pic>
      <p:sp>
        <p:nvSpPr>
          <p:cNvPr id="5" name="Rectangle 4"/>
          <p:cNvSpPr/>
          <p:nvPr userDrawn="1"/>
        </p:nvSpPr>
        <p:spPr bwMode="auto">
          <a:xfrm>
            <a:off x="863598" y="1"/>
            <a:ext cx="5232400" cy="4772416"/>
          </a:xfrm>
          <a:prstGeom prst="rect">
            <a:avLst/>
          </a:prstGeom>
          <a:solidFill>
            <a:srgbClr val="D9D9D9">
              <a:alpha val="7686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800"/>
          </a:p>
        </p:txBody>
      </p:sp>
      <p:sp>
        <p:nvSpPr>
          <p:cNvPr id="12" name="Espace réservé du pied de page 11"/>
          <p:cNvSpPr>
            <a:spLocks noGrp="1"/>
          </p:cNvSpPr>
          <p:nvPr>
            <p:ph type="ftr" sz="quarter" idx="10"/>
          </p:nvPr>
        </p:nvSpPr>
        <p:spPr bwMode="auto"/>
        <p:txBody>
          <a:bodyPr/>
          <a:lstStyle/>
          <a:p>
            <a:pPr>
              <a:defRPr/>
            </a:pPr>
            <a:r>
              <a:rPr lang="fr-FR"/>
              <a:t>HENIX Formations - TM2</a:t>
            </a:r>
          </a:p>
        </p:txBody>
      </p:sp>
      <p:sp>
        <p:nvSpPr>
          <p:cNvPr id="13" name="Espace réservé du numéro de diapositive 12"/>
          <p:cNvSpPr>
            <a:spLocks noGrp="1"/>
          </p:cNvSpPr>
          <p:nvPr>
            <p:ph type="sldNum" sz="quarter" idx="11"/>
          </p:nvPr>
        </p:nvSpPr>
        <p:spPr bwMode="auto"/>
        <p:txBody>
          <a:bodyPr/>
          <a:lstStyle/>
          <a:p>
            <a:pPr>
              <a:defRPr/>
            </a:pPr>
            <a:fld id="{714C0D23-94AC-4105-B75E-8B16CA37C435}" type="slidenum">
              <a:rPr lang="fr-FR"/>
              <a:t>‹N°›</a:t>
            </a:fld>
            <a:endParaRPr lang="fr-FR"/>
          </a:p>
        </p:txBody>
      </p:sp>
      <p:sp>
        <p:nvSpPr>
          <p:cNvPr id="15" name="Espace réservé du contenu 14"/>
          <p:cNvSpPr>
            <a:spLocks noGrp="1"/>
          </p:cNvSpPr>
          <p:nvPr>
            <p:ph sz="quarter" idx="12" hasCustomPrompt="1"/>
          </p:nvPr>
        </p:nvSpPr>
        <p:spPr bwMode="auto">
          <a:xfrm>
            <a:off x="6791748" y="815111"/>
            <a:ext cx="4536655" cy="2851727"/>
          </a:xfrm>
        </p:spPr>
        <p:txBody>
          <a:bodyPr>
            <a:normAutofit/>
          </a:bodyPr>
          <a:lstStyle>
            <a:lvl1pPr marL="514350" indent="-514350">
              <a:buFont typeface="+mj-lt"/>
              <a:buAutoNum type="arabicPeriod"/>
              <a:defRPr sz="1600">
                <a:latin typeface="Segoe UI Light"/>
                <a:cs typeface="Segoe UI Light"/>
              </a:defRPr>
            </a:lvl1pPr>
          </a:lstStyle>
          <a:p>
            <a:pPr lvl="0">
              <a:defRPr/>
            </a:pPr>
            <a:r>
              <a:rPr lang="fr-FR"/>
              <a:t>Parties</a:t>
            </a:r>
            <a:endParaRPr/>
          </a:p>
        </p:txBody>
      </p:sp>
      <p:sp>
        <p:nvSpPr>
          <p:cNvPr id="17" name="Titre 16"/>
          <p:cNvSpPr>
            <a:spLocks noGrp="1"/>
          </p:cNvSpPr>
          <p:nvPr>
            <p:ph type="title"/>
          </p:nvPr>
        </p:nvSpPr>
        <p:spPr bwMode="auto">
          <a:xfrm>
            <a:off x="1011737" y="822037"/>
            <a:ext cx="4916415" cy="2410690"/>
          </a:xfrm>
        </p:spPr>
        <p:txBody>
          <a:bodyPr anchor="b">
            <a:normAutofit/>
          </a:bodyPr>
          <a:lstStyle>
            <a:lvl1pPr>
              <a:defRPr sz="3200">
                <a:latin typeface="Segoe UI Semibold"/>
                <a:cs typeface="Segoe UI Semibold"/>
              </a:defRPr>
            </a:lvl1pPr>
          </a:lstStyle>
          <a:p>
            <a:pPr>
              <a:defRPr/>
            </a:pPr>
            <a:r>
              <a:rPr lang="fr-FR"/>
              <a:t>Modifiez le style du titre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userDrawn="1">
  <p:cSld name="18_Titre seul">
    <p:spTree>
      <p:nvGrpSpPr>
        <p:cNvPr id="1" name=""/>
        <p:cNvGrpSpPr/>
        <p:nvPr/>
      </p:nvGrpSpPr>
      <p:grpSpPr bwMode="auto">
        <a:xfrm>
          <a:off x="0" y="0"/>
          <a:ext cx="0" cy="0"/>
          <a:chOff x="0" y="0"/>
          <a:chExt cx="0" cy="0"/>
        </a:xfrm>
      </p:grpSpPr>
      <p:sp>
        <p:nvSpPr>
          <p:cNvPr id="9" name="Title 1"/>
          <p:cNvSpPr txBox="1"/>
          <p:nvPr userDrawn="1"/>
        </p:nvSpPr>
        <p:spPr bwMode="auto">
          <a:xfrm>
            <a:off x="0" y="6410037"/>
            <a:ext cx="12192000" cy="447964"/>
          </a:xfrm>
          <a:prstGeom prst="rect">
            <a:avLst/>
          </a:prstGeom>
          <a:solidFill>
            <a:srgbClr val="D9D9D9"/>
          </a:solidFill>
        </p:spPr>
        <p:txBody>
          <a:bodyPr vert="horz" lIns="91440" tIns="45720" rIns="91440" bIns="45720" rtlCol="0" anchor="ctr">
            <a:normAutofit/>
          </a:bodyPr>
          <a:lstStyle>
            <a:lvl1pPr algn="l" defTabSz="914400">
              <a:lnSpc>
                <a:spcPct val="90000"/>
              </a:lnSpc>
              <a:spcBef>
                <a:spcPts val="0"/>
              </a:spcBef>
              <a:buNone/>
              <a:defRPr sz="2400">
                <a:solidFill>
                  <a:schemeClr val="tx1">
                    <a:lumMod val="75000"/>
                    <a:lumOff val="25000"/>
                  </a:schemeClr>
                </a:solidFill>
                <a:latin typeface="Segoe UI Semibold"/>
                <a:ea typeface="+mj-ea"/>
                <a:cs typeface="Segoe UI Semibold"/>
              </a:defRPr>
            </a:lvl1pPr>
          </a:lstStyle>
          <a:p>
            <a:pPr>
              <a:defRPr/>
            </a:pPr>
            <a:endParaRPr lang="en-US" sz="2400"/>
          </a:p>
        </p:txBody>
      </p:sp>
      <p:sp>
        <p:nvSpPr>
          <p:cNvPr id="4" name="Rectangle 3"/>
          <p:cNvSpPr/>
          <p:nvPr userDrawn="1"/>
        </p:nvSpPr>
        <p:spPr bwMode="auto">
          <a:xfrm>
            <a:off x="0" y="0"/>
            <a:ext cx="12192000" cy="74168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1800"/>
          </a:p>
        </p:txBody>
      </p:sp>
      <p:sp>
        <p:nvSpPr>
          <p:cNvPr id="17" name="Titre 16"/>
          <p:cNvSpPr>
            <a:spLocks noGrp="1"/>
          </p:cNvSpPr>
          <p:nvPr>
            <p:ph type="title"/>
          </p:nvPr>
        </p:nvSpPr>
        <p:spPr bwMode="auto">
          <a:xfrm>
            <a:off x="405335" y="101355"/>
            <a:ext cx="11382219" cy="269644"/>
          </a:xfrm>
        </p:spPr>
        <p:txBody>
          <a:bodyPr>
            <a:normAutofit/>
          </a:bodyPr>
          <a:lstStyle>
            <a:lvl1pPr>
              <a:defRPr sz="1600">
                <a:solidFill>
                  <a:schemeClr val="tx1">
                    <a:lumMod val="75000"/>
                    <a:lumOff val="25000"/>
                  </a:schemeClr>
                </a:solidFill>
                <a:latin typeface="Segoe UI Semibold"/>
                <a:cs typeface="Segoe UI Semibold"/>
              </a:defRPr>
            </a:lvl1pPr>
          </a:lstStyle>
          <a:p>
            <a:pPr>
              <a:defRPr/>
            </a:pPr>
            <a:r>
              <a:rPr lang="fr-FR"/>
              <a:t>Modifiez le style du titre</a:t>
            </a:r>
            <a:endParaRPr/>
          </a:p>
        </p:txBody>
      </p:sp>
      <p:sp>
        <p:nvSpPr>
          <p:cNvPr id="20" name="Espace réservé du contenu 19"/>
          <p:cNvSpPr>
            <a:spLocks noGrp="1"/>
          </p:cNvSpPr>
          <p:nvPr>
            <p:ph sz="quarter" idx="12" hasCustomPrompt="1"/>
          </p:nvPr>
        </p:nvSpPr>
        <p:spPr bwMode="auto">
          <a:xfrm>
            <a:off x="403559" y="349958"/>
            <a:ext cx="11383108" cy="366713"/>
          </a:xfrm>
        </p:spPr>
        <p:txBody>
          <a:bodyPr>
            <a:noAutofit/>
          </a:bodyPr>
          <a:lstStyle>
            <a:lvl1pPr marL="0" indent="0">
              <a:buNone/>
              <a:defRPr sz="2000">
                <a:solidFill>
                  <a:schemeClr val="tx1">
                    <a:lumMod val="75000"/>
                    <a:lumOff val="25000"/>
                  </a:schemeClr>
                </a:solidFill>
                <a:latin typeface="Segoe UI Semibold"/>
                <a:cs typeface="Segoe UI Semibold"/>
              </a:defRPr>
            </a:lvl1pPr>
          </a:lstStyle>
          <a:p>
            <a:pPr lvl="0">
              <a:defRPr/>
            </a:pPr>
            <a:r>
              <a:rPr lang="fr-FR"/>
              <a:t>- Sous titre - </a:t>
            </a:r>
            <a:endParaRPr/>
          </a:p>
        </p:txBody>
      </p:sp>
      <p:sp>
        <p:nvSpPr>
          <p:cNvPr id="6" name="Espace réservé du pied de page 5"/>
          <p:cNvSpPr>
            <a:spLocks noGrp="1"/>
          </p:cNvSpPr>
          <p:nvPr>
            <p:ph type="ftr" sz="quarter" idx="10"/>
          </p:nvPr>
        </p:nvSpPr>
        <p:spPr bwMode="auto">
          <a:xfrm>
            <a:off x="1397986" y="6485373"/>
            <a:ext cx="9674282" cy="365125"/>
          </a:xfrm>
        </p:spPr>
        <p:txBody>
          <a:bodyPr/>
          <a:lstStyle>
            <a:lvl1pPr>
              <a:defRPr>
                <a:solidFill>
                  <a:schemeClr val="tx1">
                    <a:lumMod val="65000"/>
                    <a:lumOff val="35000"/>
                  </a:schemeClr>
                </a:solidFill>
              </a:defRPr>
            </a:lvl1pPr>
          </a:lstStyle>
          <a:p>
            <a:pPr>
              <a:defRPr/>
            </a:pPr>
            <a:r>
              <a:rPr lang="fr-FR"/>
              <a:t>EQL – Approche Agile</a:t>
            </a:r>
            <a:endParaRPr/>
          </a:p>
        </p:txBody>
      </p:sp>
      <p:sp>
        <p:nvSpPr>
          <p:cNvPr id="7" name="Espace réservé du numéro de diapositive 6"/>
          <p:cNvSpPr>
            <a:spLocks noGrp="1"/>
          </p:cNvSpPr>
          <p:nvPr>
            <p:ph type="sldNum" sz="quarter" idx="11"/>
          </p:nvPr>
        </p:nvSpPr>
        <p:spPr bwMode="auto"/>
        <p:txBody>
          <a:bodyPr/>
          <a:lstStyle>
            <a:lvl1pPr>
              <a:defRPr>
                <a:solidFill>
                  <a:schemeClr val="tx1">
                    <a:lumMod val="65000"/>
                    <a:lumOff val="35000"/>
                  </a:schemeClr>
                </a:solidFill>
              </a:defRPr>
            </a:lvl1pPr>
          </a:lstStyle>
          <a:p>
            <a:pPr>
              <a:defRPr/>
            </a:pPr>
            <a:fld id="{714C0D23-94AC-4105-B75E-8B16CA37C435}" type="slidenum">
              <a:rPr lang="fr-F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cstate="screen">
            <a:lum/>
            <a:extLst>
              <a:ext uri="{28A0092B-C50C-407E-A947-70E740481C1C}">
                <a14:useLocalDpi xmlns:a14="http://schemas.microsoft.com/office/drawing/2010/main" val="0"/>
              </a:ext>
            </a:extLst>
          </a:blip>
          <a:srcRect/>
          <a:stretch/>
        </a:blipFill>
        <a:effectLst/>
      </p:bgPr>
    </p:bg>
    <p:spTree>
      <p:nvGrpSpPr>
        <p:cNvPr id="1" name=""/>
        <p:cNvGrpSpPr/>
        <p:nvPr/>
      </p:nvGrpSpPr>
      <p:grpSpPr bwMode="auto">
        <a:xfrm>
          <a:off x="0" y="0"/>
          <a:ext cx="0" cy="0"/>
          <a:chOff x="0" y="0"/>
          <a:chExt cx="0" cy="0"/>
        </a:xfrm>
      </p:grpSpPr>
      <p:sp>
        <p:nvSpPr>
          <p:cNvPr id="2" name="Espace réservé du titre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3" name="Espace réservé du texte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5" name="Espace réservé du pied de page 4"/>
          <p:cNvSpPr>
            <a:spLocks noGrp="1"/>
          </p:cNvSpPr>
          <p:nvPr>
            <p:ph type="ftr" sz="quarter" idx="3"/>
          </p:nvPr>
        </p:nvSpPr>
        <p:spPr bwMode="auto">
          <a:xfrm>
            <a:off x="1138237" y="6492875"/>
            <a:ext cx="4114800" cy="365125"/>
          </a:xfrm>
          <a:prstGeom prst="rect">
            <a:avLst/>
          </a:prstGeom>
        </p:spPr>
        <p:txBody>
          <a:bodyPr vert="horz" lIns="91440" tIns="45720" rIns="91440" bIns="45720" rtlCol="0" anchor="ctr"/>
          <a:lstStyle>
            <a:lvl1pPr algn="l">
              <a:defRPr sz="1200">
                <a:solidFill>
                  <a:schemeClr val="bg1"/>
                </a:solidFill>
              </a:defRPr>
            </a:lvl1pPr>
          </a:lstStyle>
          <a:p>
            <a:pPr>
              <a:defRPr/>
            </a:pPr>
            <a:endParaRPr lang="fr-FR"/>
          </a:p>
        </p:txBody>
      </p:sp>
      <p:sp>
        <p:nvSpPr>
          <p:cNvPr id="6" name="Espace réservé du numéro de diapositive 5"/>
          <p:cNvSpPr>
            <a:spLocks noGrp="1"/>
          </p:cNvSpPr>
          <p:nvPr>
            <p:ph type="sldNum" sz="quarter" idx="4"/>
          </p:nvPr>
        </p:nvSpPr>
        <p:spPr bwMode="auto">
          <a:xfrm>
            <a:off x="9448799" y="6492875"/>
            <a:ext cx="2743200" cy="365125"/>
          </a:xfrm>
          <a:prstGeom prst="rect">
            <a:avLst/>
          </a:prstGeom>
        </p:spPr>
        <p:txBody>
          <a:bodyPr vert="horz" lIns="91440" tIns="45720" rIns="91440" bIns="45720" rtlCol="0" anchor="ctr"/>
          <a:lstStyle>
            <a:lvl1pPr algn="r">
              <a:defRPr sz="1200">
                <a:solidFill>
                  <a:schemeClr val="bg1"/>
                </a:solidFill>
              </a:defRPr>
            </a:lvl1pPr>
          </a:lstStyle>
          <a:p>
            <a:pPr>
              <a:defRPr/>
            </a:pPr>
            <a:fld id="{E5843E05-B966-486B-89DD-DF1C7E93B435}" type="slidenum">
              <a:rPr lang="fr-FR"/>
              <a:t>‹N°›</a:t>
            </a:fld>
            <a:endParaRPr lang="fr-FR"/>
          </a:p>
        </p:txBody>
      </p:sp>
      <p:pic>
        <p:nvPicPr>
          <p:cNvPr id="11" name="Image 10" descr="logo_henix (blanc).png"/>
          <p:cNvPicPr>
            <a:picLocks noChangeAspect="1"/>
          </p:cNvPicPr>
          <p:nvPr userDrawn="1"/>
        </p:nvPicPr>
        <p:blipFill>
          <a:blip r:embed="rId16" cstate="screen">
            <a:extLst>
              <a:ext uri="{28A0092B-C50C-407E-A947-70E740481C1C}">
                <a14:useLocalDpi xmlns:a14="http://schemas.microsoft.com/office/drawing/2010/main" val="0"/>
              </a:ext>
            </a:extLst>
          </a:blip>
          <a:stretch/>
        </p:blipFill>
        <p:spPr bwMode="auto">
          <a:xfrm>
            <a:off x="116281" y="6536724"/>
            <a:ext cx="912419" cy="277425"/>
          </a:xfrm>
          <a:prstGeom prst="rect">
            <a:avLst/>
          </a:prstGeom>
        </p:spPr>
      </p:pic>
      <p:sp>
        <p:nvSpPr>
          <p:cNvPr id="7" name="Rectangle 6"/>
          <p:cNvSpPr/>
          <p:nvPr userDrawn="1"/>
        </p:nvSpPr>
        <p:spPr bwMode="auto">
          <a:xfrm>
            <a:off x="8892" y="6372049"/>
            <a:ext cx="1144268" cy="485951"/>
          </a:xfrm>
          <a:prstGeom prst="rect">
            <a:avLst/>
          </a:prstGeom>
          <a:solidFill>
            <a:srgbClr val="56A1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 name="Titre 4"/>
          <p:cNvSpPr>
            <a:spLocks noGrp="1"/>
          </p:cNvSpPr>
          <p:nvPr>
            <p:ph type="title"/>
          </p:nvPr>
        </p:nvSpPr>
        <p:spPr bwMode="auto">
          <a:xfrm>
            <a:off x="439500" y="2598565"/>
            <a:ext cx="5345866" cy="1143000"/>
          </a:xfrm>
        </p:spPr>
        <p:txBody>
          <a:bodyPr>
            <a:normAutofit/>
          </a:bodyPr>
          <a:lstStyle/>
          <a:p>
            <a:pPr>
              <a:defRPr/>
            </a:pPr>
            <a:r>
              <a:rPr lang="fr-FR" dirty="0"/>
              <a:t>Frameworks Agile</a:t>
            </a:r>
            <a:endParaRPr dirty="0"/>
          </a:p>
        </p:txBody>
      </p:sp>
      <p:sp>
        <p:nvSpPr>
          <p:cNvPr id="6" name="Espace réservé du contenu 5"/>
          <p:cNvSpPr>
            <a:spLocks noGrp="1"/>
          </p:cNvSpPr>
          <p:nvPr>
            <p:ph sz="quarter" idx="13"/>
          </p:nvPr>
        </p:nvSpPr>
        <p:spPr bwMode="auto"/>
        <p:txBody>
          <a:bodyPr/>
          <a:lstStyle/>
          <a:p>
            <a:pPr>
              <a:defRPr/>
            </a:pPr>
            <a:r>
              <a:rPr lang="fr-FR" dirty="0"/>
              <a:t>Prémisses</a:t>
            </a:r>
          </a:p>
          <a:p>
            <a:pPr>
              <a:defRPr/>
            </a:pPr>
            <a:r>
              <a:rPr lang="fr-FR" dirty="0"/>
              <a:t>Frameworks historiques</a:t>
            </a:r>
            <a:endParaRPr dirty="0"/>
          </a:p>
        </p:txBody>
      </p:sp>
      <p:sp>
        <p:nvSpPr>
          <p:cNvPr id="8" name="Espace réservé du numéro de diapositive 7"/>
          <p:cNvSpPr>
            <a:spLocks noGrp="1"/>
          </p:cNvSpPr>
          <p:nvPr>
            <p:ph type="sldNum" sz="quarter" idx="15"/>
          </p:nvPr>
        </p:nvSpPr>
        <p:spPr bwMode="auto"/>
        <p:txBody>
          <a:bodyPr/>
          <a:lstStyle/>
          <a:p>
            <a:pPr>
              <a:defRPr/>
            </a:pPr>
            <a:fld id="{E5843E05-B966-486B-89DD-DF1C7E93B435}" type="slidenum">
              <a:rPr lang="fr-FR"/>
              <a:t>1</a:t>
            </a:fld>
            <a:endParaRPr lang="fr-F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 name="Titre 21"/>
          <p:cNvSpPr>
            <a:spLocks noGrp="1"/>
          </p:cNvSpPr>
          <p:nvPr>
            <p:ph type="title"/>
          </p:nvPr>
        </p:nvSpPr>
        <p:spPr bwMode="auto"/>
        <p:txBody>
          <a:bodyPr/>
          <a:lstStyle/>
          <a:p>
            <a:pPr>
              <a:defRPr/>
            </a:pPr>
            <a:r>
              <a:rPr lang="fr-FR" dirty="0"/>
              <a:t>Prémisses</a:t>
            </a:r>
            <a:endParaRPr dirty="0"/>
          </a:p>
        </p:txBody>
      </p:sp>
      <p:sp>
        <p:nvSpPr>
          <p:cNvPr id="5" name="Espace réservé du numéro de diapositive 4"/>
          <p:cNvSpPr>
            <a:spLocks noGrp="1"/>
          </p:cNvSpPr>
          <p:nvPr>
            <p:ph type="sldNum" sz="quarter" idx="11"/>
          </p:nvPr>
        </p:nvSpPr>
        <p:spPr bwMode="auto"/>
        <p:txBody>
          <a:bodyPr/>
          <a:lstStyle/>
          <a:p>
            <a:pPr>
              <a:defRPr/>
            </a:pPr>
            <a:fld id="{714C0D23-94AC-4105-B75E-8B16CA37C435}" type="slidenum">
              <a:rPr lang="fr-FR"/>
              <a:t>2</a:t>
            </a:fld>
            <a:endParaRPr lang="fr-FR"/>
          </a:p>
        </p:txBody>
      </p:sp>
      <p:sp>
        <p:nvSpPr>
          <p:cNvPr id="11" name="ZoneTexte 10"/>
          <p:cNvSpPr txBox="1"/>
          <p:nvPr/>
        </p:nvSpPr>
        <p:spPr bwMode="auto">
          <a:xfrm>
            <a:off x="9552967" y="3450268"/>
            <a:ext cx="4056345" cy="456215"/>
          </a:xfrm>
          <a:prstGeom prst="rect">
            <a:avLst/>
          </a:prstGeom>
          <a:noFill/>
        </p:spPr>
        <p:txBody>
          <a:bodyPr wrap="square" rtlCol="0">
            <a:spAutoFit/>
          </a:bodyPr>
          <a:lstStyle/>
          <a:p>
            <a:pPr marL="342900" indent="-342900">
              <a:lnSpc>
                <a:spcPct val="150000"/>
              </a:lnSpc>
              <a:buFont typeface="+mj-lt"/>
              <a:buAutoNum type="arabicPeriod"/>
              <a:defRPr/>
            </a:pPr>
            <a:endParaRPr lang="fr-FR">
              <a:latin typeface="Segoe UI Light"/>
              <a:cs typeface="Segoe UI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28203"/>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3</a:t>
            </a:fld>
            <a:endParaRPr lang="fr-FR"/>
          </a:p>
        </p:txBody>
      </p:sp>
      <p:sp>
        <p:nvSpPr>
          <p:cNvPr id="2" name="Titre 1"/>
          <p:cNvSpPr>
            <a:spLocks noGrp="1"/>
          </p:cNvSpPr>
          <p:nvPr>
            <p:ph type="title"/>
          </p:nvPr>
        </p:nvSpPr>
        <p:spPr bwMode="auto">
          <a:xfrm>
            <a:off x="466725" y="93662"/>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solidFill>
                  <a:schemeClr val="bg1"/>
                </a:solidFill>
              </a:rPr>
              <a:t>Panorama</a:t>
            </a:r>
            <a:endParaRPr/>
          </a:p>
        </p:txBody>
      </p:sp>
      <p:sp>
        <p:nvSpPr>
          <p:cNvPr id="12" name="Espace réservé du contenu 7"/>
          <p:cNvSpPr txBox="1"/>
          <p:nvPr/>
        </p:nvSpPr>
        <p:spPr bwMode="auto">
          <a:xfrm>
            <a:off x="615781" y="962337"/>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gn="l">
              <a:defRPr/>
            </a:pPr>
            <a:r>
              <a:rPr lang="fr-FR" sz="1800">
                <a:solidFill>
                  <a:srgbClr val="ED7D31"/>
                </a:solidFill>
                <a:latin typeface="+mj-lt"/>
              </a:rPr>
              <a:t>Préambule 2 – Le processus en spirale</a:t>
            </a:r>
            <a:endParaRPr/>
          </a:p>
        </p:txBody>
      </p:sp>
      <p:sp>
        <p:nvSpPr>
          <p:cNvPr id="15" name="Rectangle 14"/>
          <p:cNvSpPr/>
          <p:nvPr/>
        </p:nvSpPr>
        <p:spPr bwMode="auto">
          <a:xfrm>
            <a:off x="615780" y="2185907"/>
            <a:ext cx="5480220" cy="338554"/>
          </a:xfrm>
          <a:prstGeom prst="rect">
            <a:avLst/>
          </a:prstGeom>
        </p:spPr>
        <p:txBody>
          <a:bodyPr wrap="square">
            <a:spAutoFit/>
          </a:bodyPr>
          <a:lstStyle/>
          <a:p>
            <a:pPr marL="285750" indent="-285750" algn="l">
              <a:buFont typeface="Wingdings"/>
              <a:buChar char="à"/>
              <a:defRPr/>
            </a:pPr>
            <a:r>
              <a:rPr lang="fr-FR" sz="1600"/>
              <a:t>Modèle cyclique axé sur les risques </a:t>
            </a:r>
            <a:endParaRPr/>
          </a:p>
        </p:txBody>
      </p:sp>
      <p:pic>
        <p:nvPicPr>
          <p:cNvPr id="17" name="Image 16" descr="Une image contenant texte, carte&#10;&#10;Description générée automatiquement"/>
          <p:cNvPicPr>
            <a:picLocks noChangeAspect="1"/>
          </p:cNvPicPr>
          <p:nvPr/>
        </p:nvPicPr>
        <p:blipFill>
          <a:blip r:embed="rId2">
            <a:extLst>
              <a:ext uri="{28A0092B-C50C-407E-A947-70E740481C1C}">
                <a14:useLocalDpi xmlns:a14="http://schemas.microsoft.com/office/drawing/2010/main" val="0"/>
              </a:ext>
            </a:extLst>
          </a:blip>
          <a:stretch/>
        </p:blipFill>
        <p:spPr bwMode="auto">
          <a:xfrm>
            <a:off x="6807521" y="2211888"/>
            <a:ext cx="4766350" cy="3462485"/>
          </a:xfrm>
          <a:prstGeom prst="rect">
            <a:avLst/>
          </a:prstGeom>
        </p:spPr>
      </p:pic>
      <p:sp>
        <p:nvSpPr>
          <p:cNvPr id="18" name="ZoneTexte 17"/>
          <p:cNvSpPr txBox="1"/>
          <p:nvPr/>
        </p:nvSpPr>
        <p:spPr bwMode="auto">
          <a:xfrm>
            <a:off x="4791732" y="950865"/>
            <a:ext cx="736709" cy="369332"/>
          </a:xfrm>
          <a:prstGeom prst="rect">
            <a:avLst/>
          </a:prstGeom>
          <a:noFill/>
          <a:ln>
            <a:solidFill>
              <a:schemeClr val="tx1"/>
            </a:solidFill>
          </a:ln>
        </p:spPr>
        <p:txBody>
          <a:bodyPr wrap="square" rtlCol="0">
            <a:spAutoFit/>
          </a:bodyPr>
          <a:lstStyle/>
          <a:p>
            <a:pPr>
              <a:defRPr/>
            </a:pPr>
            <a:r>
              <a:rPr lang="fr-FR"/>
              <a:t>1988</a:t>
            </a:r>
            <a:endParaRPr/>
          </a:p>
        </p:txBody>
      </p:sp>
      <p:sp>
        <p:nvSpPr>
          <p:cNvPr id="11" name="ZoneTexte 10"/>
          <p:cNvSpPr txBox="1"/>
          <p:nvPr/>
        </p:nvSpPr>
        <p:spPr bwMode="auto">
          <a:xfrm>
            <a:off x="615779" y="1411096"/>
            <a:ext cx="11368717" cy="830997"/>
          </a:xfrm>
          <a:prstGeom prst="rect">
            <a:avLst/>
          </a:prstGeom>
          <a:noFill/>
        </p:spPr>
        <p:txBody>
          <a:bodyPr wrap="square">
            <a:spAutoFit/>
          </a:bodyPr>
          <a:lstStyle/>
          <a:p>
            <a:pPr>
              <a:defRPr/>
            </a:pPr>
            <a:r>
              <a:rPr lang="fr-FR" sz="1600">
                <a:cs typeface="Segoe UI Semibold"/>
              </a:rPr>
              <a:t>Sans être assimilable à un framework Agile, le modèle en spirale est une approche itérative et incrémentale basée l’enchaînement d’étapes répétées d’analyse des risques et de prototypage – avant d’entamer la conception détaillée puis le développement de la solution.</a:t>
            </a:r>
            <a:endParaRPr lang="fr-FR" sz="1600"/>
          </a:p>
        </p:txBody>
      </p:sp>
      <p:sp>
        <p:nvSpPr>
          <p:cNvPr id="13" name="ZoneTexte 12"/>
          <p:cNvSpPr txBox="1"/>
          <p:nvPr/>
        </p:nvSpPr>
        <p:spPr bwMode="auto">
          <a:xfrm>
            <a:off x="615779" y="2517658"/>
            <a:ext cx="5900635" cy="523220"/>
          </a:xfrm>
          <a:prstGeom prst="rect">
            <a:avLst/>
          </a:prstGeom>
          <a:noFill/>
        </p:spPr>
        <p:txBody>
          <a:bodyPr wrap="square">
            <a:spAutoFit/>
          </a:bodyPr>
          <a:lstStyle/>
          <a:p>
            <a:pPr>
              <a:defRPr/>
            </a:pPr>
            <a:r>
              <a:rPr lang="fr-FR" sz="1400">
                <a:cs typeface="Segoe UI Semibold"/>
              </a:rPr>
              <a:t>Une itération comprend 4 dimensions ou quadrants et inclut elle-même 3 cycles d’analyse de risques / prototypage / planification</a:t>
            </a:r>
            <a:endParaRPr/>
          </a:p>
        </p:txBody>
      </p:sp>
      <p:sp>
        <p:nvSpPr>
          <p:cNvPr id="14" name="ZoneTexte 13"/>
          <p:cNvSpPr txBox="1"/>
          <p:nvPr/>
        </p:nvSpPr>
        <p:spPr bwMode="auto">
          <a:xfrm>
            <a:off x="2052145" y="3131098"/>
            <a:ext cx="4755376" cy="2862322"/>
          </a:xfrm>
          <a:prstGeom prst="rect">
            <a:avLst/>
          </a:prstGeom>
          <a:noFill/>
        </p:spPr>
        <p:txBody>
          <a:bodyPr wrap="square">
            <a:spAutoFit/>
          </a:bodyPr>
          <a:lstStyle/>
          <a:p>
            <a:pPr marL="285750" indent="-285750">
              <a:buFont typeface="Arial"/>
              <a:buChar char="•"/>
              <a:defRPr/>
            </a:pPr>
            <a:r>
              <a:rPr lang="fr-FR" sz="1200">
                <a:cs typeface="Segoe UI Semibold"/>
              </a:rPr>
              <a:t>Détermination des objectifs</a:t>
            </a:r>
            <a:endParaRPr/>
          </a:p>
          <a:p>
            <a:pPr marL="285750" indent="-285750">
              <a:buFont typeface="Arial"/>
              <a:buChar char="•"/>
              <a:defRPr/>
            </a:pPr>
            <a:r>
              <a:rPr lang="fr-FR" sz="1200">
                <a:cs typeface="Segoe UI Semibold"/>
              </a:rPr>
              <a:t>Identification et réduction des risques (inclut le prototypage)</a:t>
            </a:r>
            <a:endParaRPr/>
          </a:p>
          <a:p>
            <a:pPr marL="285750" indent="-285750">
              <a:buFont typeface="Arial"/>
              <a:buChar char="•"/>
              <a:defRPr/>
            </a:pPr>
            <a:r>
              <a:rPr lang="fr-FR" sz="1200">
                <a:cs typeface="Segoe UI Semibold"/>
              </a:rPr>
              <a:t>Développement et tests (inclut ici la conception générale et détaillée)</a:t>
            </a:r>
            <a:endParaRPr/>
          </a:p>
          <a:p>
            <a:pPr marL="285750" indent="-285750">
              <a:buFont typeface="Arial"/>
              <a:buChar char="•"/>
              <a:defRPr/>
            </a:pPr>
            <a:r>
              <a:rPr lang="fr-FR" sz="1200">
                <a:cs typeface="Segoe UI Semibold"/>
              </a:rPr>
              <a:t>Planification de l’itération suivante</a:t>
            </a:r>
            <a:endParaRPr/>
          </a:p>
          <a:p>
            <a:pPr marL="742950" lvl="1" indent="-285750">
              <a:buFont typeface="Arial"/>
              <a:buChar char="•"/>
              <a:defRPr/>
            </a:pPr>
            <a:r>
              <a:rPr lang="fr-FR" sz="1200">
                <a:cs typeface="Segoe UI Semibold"/>
              </a:rPr>
              <a:t>Cycle 1  rédaction initiale des besoins, 1</a:t>
            </a:r>
            <a:r>
              <a:rPr lang="fr-FR" sz="1200" baseline="30000">
                <a:cs typeface="Segoe UI Semibold"/>
              </a:rPr>
              <a:t>ère</a:t>
            </a:r>
            <a:r>
              <a:rPr lang="fr-FR" sz="1200">
                <a:cs typeface="Segoe UI Semibold"/>
              </a:rPr>
              <a:t> analyse des risques, 1</a:t>
            </a:r>
            <a:r>
              <a:rPr lang="fr-FR" sz="1200" baseline="30000">
                <a:cs typeface="Segoe UI Semibold"/>
              </a:rPr>
              <a:t>er</a:t>
            </a:r>
            <a:r>
              <a:rPr lang="fr-FR" sz="1200">
                <a:cs typeface="Segoe UI Semibold"/>
              </a:rPr>
              <a:t> prototype, ajustement des besoins, définition du plan de développement</a:t>
            </a:r>
            <a:endParaRPr/>
          </a:p>
          <a:p>
            <a:pPr marL="742950" lvl="1" indent="-285750">
              <a:buFont typeface="Arial"/>
              <a:buChar char="•"/>
              <a:defRPr/>
            </a:pPr>
            <a:r>
              <a:rPr lang="fr-FR" sz="1200">
                <a:cs typeface="Segoe UI Semibold"/>
              </a:rPr>
              <a:t>Cycle 2  2</a:t>
            </a:r>
            <a:r>
              <a:rPr lang="fr-FR" sz="1200" baseline="30000">
                <a:cs typeface="Segoe UI Semibold"/>
              </a:rPr>
              <a:t>ème</a:t>
            </a:r>
            <a:r>
              <a:rPr lang="fr-FR" sz="1200">
                <a:cs typeface="Segoe UI Semibold"/>
              </a:rPr>
              <a:t> analyse des risques, 2</a:t>
            </a:r>
            <a:r>
              <a:rPr lang="fr-FR" sz="1200" baseline="30000">
                <a:cs typeface="Segoe UI Semibold"/>
              </a:rPr>
              <a:t>ème</a:t>
            </a:r>
            <a:r>
              <a:rPr lang="fr-FR" sz="1200">
                <a:cs typeface="Segoe UI Semibold"/>
              </a:rPr>
              <a:t> prototype, élaboration de la proposition (conception générale), validation de celle-ci, définition du plan d’intégration et de test</a:t>
            </a:r>
            <a:endParaRPr/>
          </a:p>
          <a:p>
            <a:pPr marL="742950" lvl="1" indent="-285750">
              <a:buFont typeface="Arial"/>
              <a:buChar char="•"/>
              <a:defRPr/>
            </a:pPr>
            <a:r>
              <a:rPr lang="fr-FR" sz="1200">
                <a:cs typeface="Segoe UI Semibold"/>
              </a:rPr>
              <a:t>Cycle 3  3</a:t>
            </a:r>
            <a:r>
              <a:rPr lang="fr-FR" sz="1200" baseline="30000">
                <a:cs typeface="Segoe UI Semibold"/>
              </a:rPr>
              <a:t>ème</a:t>
            </a:r>
            <a:r>
              <a:rPr lang="fr-FR" sz="1200">
                <a:cs typeface="Segoe UI Semibold"/>
              </a:rPr>
              <a:t> analyse des risques, prototype opérationnel, conception détaillée, développement, test, déploiement</a:t>
            </a:r>
            <a:endParaRPr/>
          </a:p>
        </p:txBody>
      </p:sp>
      <p:sp>
        <p:nvSpPr>
          <p:cNvPr id="6" name="ZoneTexte 5"/>
          <p:cNvSpPr txBox="1"/>
          <p:nvPr/>
        </p:nvSpPr>
        <p:spPr bwMode="auto">
          <a:xfrm>
            <a:off x="635178" y="3429000"/>
            <a:ext cx="1492469" cy="369332"/>
          </a:xfrm>
          <a:prstGeom prst="rect">
            <a:avLst/>
          </a:prstGeom>
          <a:noFill/>
        </p:spPr>
        <p:txBody>
          <a:bodyPr wrap="square" rtlCol="0">
            <a:spAutoFit/>
          </a:bodyPr>
          <a:lstStyle/>
          <a:p>
            <a:pPr>
              <a:defRPr/>
            </a:pPr>
            <a:r>
              <a:rPr lang="fr-FR"/>
              <a:t>Quadrants</a:t>
            </a:r>
            <a:endParaRPr/>
          </a:p>
        </p:txBody>
      </p:sp>
      <p:sp>
        <p:nvSpPr>
          <p:cNvPr id="16" name="ZoneTexte 15"/>
          <p:cNvSpPr txBox="1"/>
          <p:nvPr/>
        </p:nvSpPr>
        <p:spPr bwMode="auto">
          <a:xfrm>
            <a:off x="641133" y="4811227"/>
            <a:ext cx="1723697" cy="369332"/>
          </a:xfrm>
          <a:prstGeom prst="rect">
            <a:avLst/>
          </a:prstGeom>
          <a:noFill/>
        </p:spPr>
        <p:txBody>
          <a:bodyPr wrap="square" rtlCol="0">
            <a:spAutoFit/>
          </a:bodyPr>
          <a:lstStyle/>
          <a:p>
            <a:pPr>
              <a:defRPr/>
            </a:pPr>
            <a:r>
              <a:rPr lang="fr-FR"/>
              <a:t>Cycles intégrés</a:t>
            </a:r>
            <a:endParaRPr/>
          </a:p>
        </p:txBody>
      </p:sp>
      <p:sp>
        <p:nvSpPr>
          <p:cNvPr id="7" name="Accolade ouvrante 6"/>
          <p:cNvSpPr/>
          <p:nvPr/>
        </p:nvSpPr>
        <p:spPr bwMode="auto">
          <a:xfrm>
            <a:off x="1842862" y="3181225"/>
            <a:ext cx="346841" cy="883368"/>
          </a:xfrm>
          <a:prstGeom prst="leftBrace">
            <a:avLst>
              <a:gd name="adj1" fmla="val 8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19" name="Accolade ouvrante 18"/>
          <p:cNvSpPr/>
          <p:nvPr/>
        </p:nvSpPr>
        <p:spPr bwMode="auto">
          <a:xfrm>
            <a:off x="2264980" y="4096124"/>
            <a:ext cx="346841" cy="1799538"/>
          </a:xfrm>
          <a:prstGeom prst="leftBrace">
            <a:avLst>
              <a:gd name="adj1" fmla="val 833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35999"/>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4</a:t>
            </a:fld>
            <a:endParaRPr lang="fr-FR"/>
          </a:p>
        </p:txBody>
      </p:sp>
      <p:sp>
        <p:nvSpPr>
          <p:cNvPr id="2" name="Titre 1"/>
          <p:cNvSpPr>
            <a:spLocks noGrp="1"/>
          </p:cNvSpPr>
          <p:nvPr>
            <p:ph type="title"/>
          </p:nvPr>
        </p:nvSpPr>
        <p:spPr bwMode="auto">
          <a:xfrm>
            <a:off x="466725" y="93662"/>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t>Panorama</a:t>
            </a:r>
            <a:endParaRPr lang="fr-FR">
              <a:solidFill>
                <a:schemeClr val="bg1"/>
              </a:solidFill>
            </a:endParaRPr>
          </a:p>
        </p:txBody>
      </p:sp>
      <p:sp>
        <p:nvSpPr>
          <p:cNvPr id="12" name="Espace réservé du contenu 7"/>
          <p:cNvSpPr txBox="1"/>
          <p:nvPr/>
        </p:nvSpPr>
        <p:spPr bwMode="auto">
          <a:xfrm>
            <a:off x="615781" y="814028"/>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42900" indent="-342900">
              <a:lnSpc>
                <a:spcPct val="150000"/>
              </a:lnSpc>
              <a:buFont typeface="Arial"/>
              <a:buChar char="•"/>
              <a:defRPr/>
            </a:pPr>
            <a:endParaRPr lang="fr-FR" sz="1800">
              <a:latin typeface="Segoe UI Light"/>
              <a:cs typeface="Segoe UI Light"/>
            </a:endParaRPr>
          </a:p>
        </p:txBody>
      </p:sp>
      <p:sp>
        <p:nvSpPr>
          <p:cNvPr id="13" name="ZoneTexte 12"/>
          <p:cNvSpPr txBox="1"/>
          <p:nvPr/>
        </p:nvSpPr>
        <p:spPr bwMode="auto">
          <a:xfrm>
            <a:off x="466725" y="868863"/>
            <a:ext cx="6101254" cy="369332"/>
          </a:xfrm>
          <a:prstGeom prst="rect">
            <a:avLst/>
          </a:prstGeom>
          <a:noFill/>
        </p:spPr>
        <p:txBody>
          <a:bodyPr wrap="square">
            <a:spAutoFit/>
          </a:bodyPr>
          <a:lstStyle/>
          <a:p>
            <a:pPr algn="l">
              <a:defRPr/>
            </a:pPr>
            <a:r>
              <a:rPr lang="fr-FR" sz="1800">
                <a:solidFill>
                  <a:srgbClr val="ED7D31"/>
                </a:solidFill>
                <a:latin typeface="+mj-lt"/>
              </a:rPr>
              <a:t>Préambule 1 - Le prototypage ou Design Thinking</a:t>
            </a:r>
            <a:endParaRPr/>
          </a:p>
        </p:txBody>
      </p:sp>
      <p:sp>
        <p:nvSpPr>
          <p:cNvPr id="17" name="ZoneTexte 16"/>
          <p:cNvSpPr txBox="1"/>
          <p:nvPr/>
        </p:nvSpPr>
        <p:spPr bwMode="auto">
          <a:xfrm>
            <a:off x="466726" y="1881419"/>
            <a:ext cx="6180082" cy="3323987"/>
          </a:xfrm>
          <a:prstGeom prst="rect">
            <a:avLst/>
          </a:prstGeom>
          <a:noFill/>
        </p:spPr>
        <p:txBody>
          <a:bodyPr wrap="square">
            <a:spAutoFit/>
          </a:bodyPr>
          <a:lstStyle/>
          <a:p>
            <a:pPr>
              <a:defRPr/>
            </a:pPr>
            <a:r>
              <a:rPr lang="fr-FR" sz="1500">
                <a:cs typeface="Segoe UI Semibold"/>
              </a:rPr>
              <a:t>Il s’agit d’une démarche de travail collaboratif mettant en commun des compétences complémentaires – analytiques, créatives, techniques, métier – dans le but de </a:t>
            </a:r>
            <a:r>
              <a:rPr lang="fr-FR" sz="1500">
                <a:latin typeface="+mj-lt"/>
                <a:cs typeface="Segoe UI Semibold"/>
              </a:rPr>
              <a:t>coconcevoir</a:t>
            </a:r>
            <a:r>
              <a:rPr lang="fr-FR" sz="1500">
                <a:cs typeface="Segoe UI Semibold"/>
              </a:rPr>
              <a:t> </a:t>
            </a:r>
            <a:r>
              <a:rPr lang="fr-FR" sz="1500">
                <a:latin typeface="+mj-lt"/>
                <a:cs typeface="Segoe UI Semibold"/>
              </a:rPr>
              <a:t>une solution </a:t>
            </a:r>
            <a:r>
              <a:rPr lang="fr-FR" sz="1500">
                <a:cs typeface="Segoe UI Semibold"/>
              </a:rPr>
              <a:t>via un processus itératif de cycles comprenant 5 étapes : </a:t>
            </a:r>
            <a:endParaRPr/>
          </a:p>
          <a:p>
            <a:pPr marL="342900" indent="-342900">
              <a:buAutoNum type="arabicPeriod"/>
              <a:defRPr/>
            </a:pPr>
            <a:r>
              <a:rPr lang="fr-FR" sz="1500">
                <a:cs typeface="Segoe UI Semibold"/>
              </a:rPr>
              <a:t>Empathie – récolte les informations sur les utilisateurs qui permettront de se projeter à leur place </a:t>
            </a:r>
            <a:endParaRPr/>
          </a:p>
          <a:p>
            <a:pPr marL="342900" indent="-342900">
              <a:buAutoNum type="arabicPeriod"/>
              <a:defRPr/>
            </a:pPr>
            <a:r>
              <a:rPr lang="fr-FR" sz="1500">
                <a:cs typeface="Segoe UI Semibold"/>
              </a:rPr>
              <a:t>Définition du problème à régler / du besoin à adresser </a:t>
            </a:r>
            <a:endParaRPr/>
          </a:p>
          <a:p>
            <a:pPr marL="342900" indent="-342900">
              <a:buAutoNum type="arabicPeriod"/>
              <a:defRPr/>
            </a:pPr>
            <a:r>
              <a:rPr lang="fr-FR" sz="1500">
                <a:cs typeface="Segoe UI Semibold"/>
              </a:rPr>
              <a:t>Idéation - formalisation des idées issues de l’analyse des données disponibles, notamment celles issues de l’expérience, </a:t>
            </a:r>
            <a:endParaRPr/>
          </a:p>
          <a:p>
            <a:pPr marL="342900" indent="-342900">
              <a:buAutoNum type="arabicPeriod"/>
              <a:defRPr/>
            </a:pPr>
            <a:r>
              <a:rPr lang="fr-FR" sz="1500">
                <a:cs typeface="Segoe UI Semibold"/>
              </a:rPr>
              <a:t>Prototypage (construction d’un « brouillon » de solution – il peut être numérique, physique ou prendre la forme d’un schéma) </a:t>
            </a:r>
            <a:endParaRPr/>
          </a:p>
          <a:p>
            <a:pPr marL="342900" indent="-342900">
              <a:buAutoNum type="arabicPeriod"/>
              <a:defRPr/>
            </a:pPr>
            <a:r>
              <a:rPr lang="fr-FR" sz="1500">
                <a:cs typeface="Segoe UI Semibold"/>
              </a:rPr>
              <a:t>Test – présentation du « prototype » au client / à des utilisateurs / à d’autres parties prenantes, recueil leur feedback et, en fonction de celui-ci :</a:t>
            </a:r>
            <a:endParaRPr/>
          </a:p>
        </p:txBody>
      </p:sp>
      <p:sp>
        <p:nvSpPr>
          <p:cNvPr id="21" name="ZoneTexte 20"/>
          <p:cNvSpPr txBox="1"/>
          <p:nvPr/>
        </p:nvSpPr>
        <p:spPr bwMode="auto">
          <a:xfrm>
            <a:off x="1206580" y="5749501"/>
            <a:ext cx="9889006" cy="338554"/>
          </a:xfrm>
          <a:prstGeom prst="rect">
            <a:avLst/>
          </a:prstGeom>
          <a:noFill/>
        </p:spPr>
        <p:txBody>
          <a:bodyPr wrap="square">
            <a:spAutoFit/>
          </a:bodyPr>
          <a:lstStyle/>
          <a:p>
            <a:pPr>
              <a:defRPr/>
            </a:pPr>
            <a:r>
              <a:rPr lang="fr-FR" sz="1600"/>
              <a:t> introduit une boucle de </a:t>
            </a:r>
            <a:r>
              <a:rPr lang="fr-FR" sz="1600">
                <a:latin typeface="+mj-lt"/>
              </a:rPr>
              <a:t>validation client </a:t>
            </a:r>
            <a:r>
              <a:rPr lang="fr-FR" sz="1600"/>
              <a:t>et un principe d’</a:t>
            </a:r>
            <a:r>
              <a:rPr lang="fr-FR" sz="1600">
                <a:latin typeface="+mj-lt"/>
              </a:rPr>
              <a:t>itération </a:t>
            </a:r>
            <a:r>
              <a:rPr lang="fr-FR" sz="1600"/>
              <a:t>avant la phase de développement</a:t>
            </a:r>
            <a:endParaRPr/>
          </a:p>
        </p:txBody>
      </p:sp>
      <p:sp>
        <p:nvSpPr>
          <p:cNvPr id="23" name="ZoneTexte 22"/>
          <p:cNvSpPr txBox="1"/>
          <p:nvPr/>
        </p:nvSpPr>
        <p:spPr bwMode="auto">
          <a:xfrm>
            <a:off x="7203637" y="5080216"/>
            <a:ext cx="3891949" cy="553998"/>
          </a:xfrm>
          <a:prstGeom prst="rect">
            <a:avLst/>
          </a:prstGeom>
          <a:noFill/>
        </p:spPr>
        <p:txBody>
          <a:bodyPr wrap="square">
            <a:spAutoFit/>
          </a:bodyPr>
          <a:lstStyle/>
          <a:p>
            <a:pPr>
              <a:defRPr/>
            </a:pPr>
            <a:r>
              <a:rPr lang="fr-FR" sz="1500">
                <a:cs typeface="Segoe UI Semibold"/>
              </a:rPr>
              <a:t>- développement de la solution si le test  a été concluant</a:t>
            </a:r>
            <a:endParaRPr lang="fr-FR" sz="1500"/>
          </a:p>
        </p:txBody>
      </p:sp>
      <p:sp>
        <p:nvSpPr>
          <p:cNvPr id="25" name="ZoneTexte 24"/>
          <p:cNvSpPr txBox="1"/>
          <p:nvPr/>
        </p:nvSpPr>
        <p:spPr bwMode="auto">
          <a:xfrm>
            <a:off x="1893723" y="5080216"/>
            <a:ext cx="4701463" cy="553998"/>
          </a:xfrm>
          <a:prstGeom prst="rect">
            <a:avLst/>
          </a:prstGeom>
          <a:noFill/>
        </p:spPr>
        <p:txBody>
          <a:bodyPr wrap="square">
            <a:spAutoFit/>
          </a:bodyPr>
          <a:lstStyle/>
          <a:p>
            <a:pPr>
              <a:defRPr/>
            </a:pPr>
            <a:r>
              <a:rPr lang="fr-FR" sz="1500">
                <a:cs typeface="Segoe UI Semibold"/>
              </a:rPr>
              <a:t>- retour à une étape précédente (pas nécessairement la première) pour procéder aux ajustements  </a:t>
            </a:r>
            <a:endParaRPr lang="fr-FR" sz="1500"/>
          </a:p>
        </p:txBody>
      </p:sp>
      <p:sp>
        <p:nvSpPr>
          <p:cNvPr id="22" name="ZoneTexte 21"/>
          <p:cNvSpPr txBox="1"/>
          <p:nvPr/>
        </p:nvSpPr>
        <p:spPr bwMode="auto">
          <a:xfrm>
            <a:off x="6647736" y="5232280"/>
            <a:ext cx="767255" cy="338554"/>
          </a:xfrm>
          <a:prstGeom prst="rect">
            <a:avLst/>
          </a:prstGeom>
          <a:noFill/>
        </p:spPr>
        <p:txBody>
          <a:bodyPr wrap="square" rtlCol="0">
            <a:spAutoFit/>
          </a:bodyPr>
          <a:lstStyle/>
          <a:p>
            <a:pPr>
              <a:defRPr/>
            </a:pPr>
            <a:r>
              <a:rPr lang="fr-FR" sz="1600"/>
              <a:t>Ou</a:t>
            </a:r>
            <a:endParaRPr/>
          </a:p>
        </p:txBody>
      </p:sp>
      <p:sp>
        <p:nvSpPr>
          <p:cNvPr id="30" name="ZoneTexte 29"/>
          <p:cNvSpPr txBox="1"/>
          <p:nvPr/>
        </p:nvSpPr>
        <p:spPr bwMode="auto">
          <a:xfrm>
            <a:off x="466724" y="1270947"/>
            <a:ext cx="11188103" cy="553998"/>
          </a:xfrm>
          <a:prstGeom prst="rect">
            <a:avLst/>
          </a:prstGeom>
          <a:noFill/>
        </p:spPr>
        <p:txBody>
          <a:bodyPr wrap="square">
            <a:spAutoFit/>
          </a:bodyPr>
          <a:lstStyle/>
          <a:p>
            <a:pPr>
              <a:defRPr/>
            </a:pPr>
            <a:r>
              <a:rPr lang="fr-FR" sz="1500">
                <a:cs typeface="Segoe UI Semibold"/>
              </a:rPr>
              <a:t>Sans être assimilable à un framework Agile, le Design Thinking ou prototypage rapide est une approche itérative qui introduit une forme d’Agilité </a:t>
            </a:r>
            <a:r>
              <a:rPr lang="fr-FR" sz="1500">
                <a:latin typeface="+mj-lt"/>
                <a:cs typeface="Segoe UI Semibold"/>
              </a:rPr>
              <a:t>dans la phase de conception</a:t>
            </a:r>
            <a:r>
              <a:rPr lang="fr-FR" sz="1500">
                <a:cs typeface="Segoe UI Semibold"/>
              </a:rPr>
              <a:t>.</a:t>
            </a:r>
            <a:endParaRPr lang="fr-FR" sz="1500"/>
          </a:p>
        </p:txBody>
      </p:sp>
      <p:pic>
        <p:nvPicPr>
          <p:cNvPr id="1026" name="Picture 2" descr="10 mots clés pour mieux comprendre la pensée créative (design thinking) -  Marie-Andrée Roy - services-conseils"/>
          <p:cNvPicPr>
            <a:picLocks noChangeAspect="1" noChangeArrowheads="1"/>
          </p:cNvPicPr>
          <p:nvPr/>
        </p:nvPicPr>
        <p:blipFill>
          <a:blip r:embed="rId3" cstate="screen">
            <a:extLst>
              <a:ext uri="{28A0092B-C50C-407E-A947-70E740481C1C}">
                <a14:useLocalDpi xmlns:a14="http://schemas.microsoft.com/office/drawing/2010/main" val="0"/>
              </a:ext>
            </a:extLst>
          </a:blip>
          <a:stretch/>
        </p:blipFill>
        <p:spPr bwMode="auto">
          <a:xfrm>
            <a:off x="6966774" y="2185593"/>
            <a:ext cx="4868668" cy="2036219"/>
          </a:xfrm>
          <a:prstGeom prst="rect">
            <a:avLst/>
          </a:prstGeom>
          <a:noFill/>
        </p:spPr>
      </p:pic>
      <p:sp>
        <p:nvSpPr>
          <p:cNvPr id="26" name="Ellipse 25"/>
          <p:cNvSpPr/>
          <p:nvPr/>
        </p:nvSpPr>
        <p:spPr bwMode="auto">
          <a:xfrm>
            <a:off x="7203637" y="2045818"/>
            <a:ext cx="756745" cy="756233"/>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defRPr/>
            </a:pPr>
            <a:r>
              <a:rPr lang="fr-FR" sz="800">
                <a:solidFill>
                  <a:schemeClr val="bg1">
                    <a:lumMod val="65000"/>
                  </a:schemeClr>
                </a:solidFill>
              </a:rPr>
              <a:t>Eliciter</a:t>
            </a:r>
            <a:endParaRPr/>
          </a:p>
        </p:txBody>
      </p:sp>
      <p:cxnSp>
        <p:nvCxnSpPr>
          <p:cNvPr id="37" name="Connecteur : en arc 36"/>
          <p:cNvCxnSpPr>
            <a:cxnSpLocks/>
            <a:stCxn id="26" idx="2"/>
            <a:endCxn id="39" idx="2"/>
          </p:cNvCxnSpPr>
          <p:nvPr/>
        </p:nvCxnSpPr>
        <p:spPr bwMode="auto">
          <a:xfrm rot="10800000" flipH="1" flipV="1">
            <a:off x="7203637" y="2423935"/>
            <a:ext cx="63062" cy="1236521"/>
          </a:xfrm>
          <a:prstGeom prst="curvedConnector3">
            <a:avLst>
              <a:gd name="adj1" fmla="val -362500"/>
            </a:avLst>
          </a:prstGeom>
          <a:ln>
            <a:solidFill>
              <a:schemeClr val="bg1">
                <a:lumMod val="65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9" name="Ellipse 38"/>
          <p:cNvSpPr/>
          <p:nvPr/>
        </p:nvSpPr>
        <p:spPr bwMode="auto">
          <a:xfrm>
            <a:off x="7266698" y="3282340"/>
            <a:ext cx="756745" cy="75623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sz="800">
              <a:solidFill>
                <a:schemeClr val="tx1"/>
              </a:solidFill>
            </a:endParaRPr>
          </a:p>
        </p:txBody>
      </p:sp>
      <p:pic>
        <p:nvPicPr>
          <p:cNvPr id="44" name="Graphique 43" descr="Travail contour"/>
          <p:cNvPicPr>
            <a:picLocks noChangeAspect="1"/>
          </p:cNvPicPr>
          <p:nvPr/>
        </p:nvPicPr>
        <p:blipFill>
          <a:blip r:embed="rId4" cstate="screen">
            <a:extLst>
              <a:ext uri="{28A0092B-C50C-407E-A947-70E740481C1C}">
                <a14:useLocalDpi xmlns:a14="http://schemas.microsoft.com/office/drawing/2010/main" val="0"/>
              </a:ext>
            </a:extLst>
          </a:blip>
          <a:stretch/>
        </p:blipFill>
        <p:spPr bwMode="auto">
          <a:xfrm>
            <a:off x="7446098" y="2197611"/>
            <a:ext cx="292844" cy="292844"/>
          </a:xfrm>
          <a:prstGeom prst="rect">
            <a:avLst/>
          </a:prstGeom>
        </p:spPr>
      </p:pic>
      <p:sp>
        <p:nvSpPr>
          <p:cNvPr id="46" name="Ellipse 45"/>
          <p:cNvSpPr/>
          <p:nvPr/>
        </p:nvSpPr>
        <p:spPr bwMode="auto">
          <a:xfrm>
            <a:off x="10170676" y="4139847"/>
            <a:ext cx="756745" cy="756233"/>
          </a:xfrm>
          <a:prstGeom prst="ellipse">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defRPr/>
            </a:pPr>
            <a:r>
              <a:rPr lang="fr-FR" sz="800">
                <a:solidFill>
                  <a:schemeClr val="bg1">
                    <a:lumMod val="65000"/>
                  </a:schemeClr>
                </a:solidFill>
              </a:rPr>
              <a:t>Réaliser</a:t>
            </a:r>
            <a:endParaRPr/>
          </a:p>
        </p:txBody>
      </p:sp>
      <p:sp>
        <p:nvSpPr>
          <p:cNvPr id="47" name="Ellipse 46"/>
          <p:cNvSpPr/>
          <p:nvPr/>
        </p:nvSpPr>
        <p:spPr bwMode="auto">
          <a:xfrm>
            <a:off x="10820400" y="3281443"/>
            <a:ext cx="756745" cy="756233"/>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defRPr/>
            </a:pPr>
            <a:endParaRPr lang="fr-FR" sz="800">
              <a:solidFill>
                <a:schemeClr val="tx1"/>
              </a:solidFill>
            </a:endParaRPr>
          </a:p>
        </p:txBody>
      </p:sp>
      <p:cxnSp>
        <p:nvCxnSpPr>
          <p:cNvPr id="48" name="Connecteur : en arc 47"/>
          <p:cNvCxnSpPr>
            <a:cxnSpLocks/>
            <a:stCxn id="47" idx="5"/>
            <a:endCxn id="46" idx="6"/>
          </p:cNvCxnSpPr>
          <p:nvPr/>
        </p:nvCxnSpPr>
        <p:spPr bwMode="auto">
          <a:xfrm rot="5400000">
            <a:off x="10901354" y="3952996"/>
            <a:ext cx="591036" cy="538901"/>
          </a:xfrm>
          <a:prstGeom prst="curvedConnector2">
            <a:avLst/>
          </a:prstGeom>
          <a:ln>
            <a:solidFill>
              <a:schemeClr val="bg1">
                <a:lumMod val="65000"/>
              </a:schemeClr>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54" name="Graphique 53" descr="Outils contour"/>
          <p:cNvPicPr>
            <a:picLocks noChangeAspect="1"/>
          </p:cNvPicPr>
          <p:nvPr/>
        </p:nvPicPr>
        <p:blipFill>
          <a:blip r:embed="rId5" cstate="screen">
            <a:extLst>
              <a:ext uri="{28A0092B-C50C-407E-A947-70E740481C1C}">
                <a14:useLocalDpi xmlns:a14="http://schemas.microsoft.com/office/drawing/2010/main" val="0"/>
              </a:ext>
            </a:extLst>
          </a:blip>
          <a:stretch/>
        </p:blipFill>
        <p:spPr bwMode="auto">
          <a:xfrm>
            <a:off x="10409786" y="4312090"/>
            <a:ext cx="278524" cy="278524"/>
          </a:xfrm>
          <a:prstGeom prst="rect">
            <a:avLst/>
          </a:prstGeom>
        </p:spPr>
      </p:pic>
      <p:cxnSp>
        <p:nvCxnSpPr>
          <p:cNvPr id="56" name="Connecteur droit avec flèche 55"/>
          <p:cNvCxnSpPr>
            <a:cxnSpLocks/>
          </p:cNvCxnSpPr>
          <p:nvPr/>
        </p:nvCxnSpPr>
        <p:spPr bwMode="auto">
          <a:xfrm flipH="1">
            <a:off x="8940748" y="4517963"/>
            <a:ext cx="595523" cy="0"/>
          </a:xfrm>
          <a:prstGeom prst="straightConnector1">
            <a:avLst/>
          </a:prstGeom>
          <a:ln>
            <a:solidFill>
              <a:schemeClr val="bg1">
                <a:lumMod val="65000"/>
              </a:schemeClr>
            </a:solidFill>
            <a:prstDash val="lg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8" name="Connecteur droit 57"/>
          <p:cNvCxnSpPr>
            <a:cxnSpLocks/>
            <a:endCxn id="46" idx="2"/>
          </p:cNvCxnSpPr>
          <p:nvPr/>
        </p:nvCxnSpPr>
        <p:spPr bwMode="auto">
          <a:xfrm>
            <a:off x="9550785" y="4517964"/>
            <a:ext cx="619891"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035" name="ZoneTexte 1034"/>
          <p:cNvSpPr txBox="1"/>
          <p:nvPr/>
        </p:nvSpPr>
        <p:spPr bwMode="auto">
          <a:xfrm>
            <a:off x="6151083" y="877873"/>
            <a:ext cx="725214" cy="379906"/>
          </a:xfrm>
          <a:prstGeom prst="rect">
            <a:avLst/>
          </a:prstGeom>
          <a:noFill/>
          <a:ln>
            <a:solidFill>
              <a:schemeClr val="tx1"/>
            </a:solidFill>
          </a:ln>
        </p:spPr>
        <p:txBody>
          <a:bodyPr wrap="square" rtlCol="0">
            <a:spAutoFit/>
          </a:bodyPr>
          <a:lstStyle/>
          <a:p>
            <a:pPr>
              <a:defRPr/>
            </a:pPr>
            <a:r>
              <a:rPr lang="fr-FR"/>
              <a:t>1972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35999"/>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5</a:t>
            </a:fld>
            <a:endParaRPr lang="fr-FR"/>
          </a:p>
        </p:txBody>
      </p:sp>
      <p:sp>
        <p:nvSpPr>
          <p:cNvPr id="2" name="Titre 1"/>
          <p:cNvSpPr>
            <a:spLocks noGrp="1"/>
          </p:cNvSpPr>
          <p:nvPr>
            <p:ph type="title"/>
          </p:nvPr>
        </p:nvSpPr>
        <p:spPr bwMode="auto">
          <a:xfrm>
            <a:off x="466725" y="93662"/>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t>Panorama</a:t>
            </a:r>
            <a:endParaRPr lang="fr-FR">
              <a:solidFill>
                <a:schemeClr val="bg1"/>
              </a:solidFill>
            </a:endParaRPr>
          </a:p>
        </p:txBody>
      </p:sp>
      <p:sp>
        <p:nvSpPr>
          <p:cNvPr id="12" name="Espace réservé du contenu 7"/>
          <p:cNvSpPr txBox="1"/>
          <p:nvPr/>
        </p:nvSpPr>
        <p:spPr bwMode="auto">
          <a:xfrm>
            <a:off x="615781" y="845558"/>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marL="342900" indent="-342900">
              <a:lnSpc>
                <a:spcPct val="150000"/>
              </a:lnSpc>
              <a:buFont typeface="Arial"/>
              <a:buChar char="•"/>
              <a:defRPr/>
            </a:pPr>
            <a:endParaRPr lang="fr-FR" sz="1800">
              <a:latin typeface="Segoe UI Light"/>
              <a:cs typeface="Segoe UI Light"/>
            </a:endParaRPr>
          </a:p>
        </p:txBody>
      </p:sp>
      <p:sp>
        <p:nvSpPr>
          <p:cNvPr id="16" name="Rectangle 15"/>
          <p:cNvSpPr/>
          <p:nvPr/>
        </p:nvSpPr>
        <p:spPr bwMode="auto">
          <a:xfrm>
            <a:off x="499072" y="1736253"/>
            <a:ext cx="10903274" cy="523220"/>
          </a:xfrm>
          <a:prstGeom prst="rect">
            <a:avLst/>
          </a:prstGeom>
        </p:spPr>
        <p:txBody>
          <a:bodyPr wrap="square">
            <a:spAutoFit/>
          </a:bodyPr>
          <a:lstStyle/>
          <a:p>
            <a:pPr algn="l">
              <a:defRPr/>
            </a:pPr>
            <a:r>
              <a:rPr lang="fr-FR" sz="1400">
                <a:solidFill>
                  <a:srgbClr val="ED7D31"/>
                </a:solidFill>
              </a:rPr>
              <a:t>Prototype</a:t>
            </a:r>
            <a:endParaRPr/>
          </a:p>
          <a:p>
            <a:pPr marL="285750" marR="0" lvl="0" indent="-285750" algn="l" defTabSz="914400">
              <a:lnSpc>
                <a:spcPct val="100000"/>
              </a:lnSpc>
              <a:spcBef>
                <a:spcPts val="0"/>
              </a:spcBef>
              <a:spcAft>
                <a:spcPts val="0"/>
              </a:spcAft>
              <a:buClrTx/>
              <a:buSzTx/>
              <a:buFont typeface="Wingdings"/>
              <a:buChar char="à"/>
              <a:defRPr/>
            </a:pPr>
            <a:r>
              <a:rPr lang="fr-FR" sz="1400"/>
              <a:t>exemplaire non complet et non définitif du produit, conçu pour être testé par des utilisateurs</a:t>
            </a:r>
            <a:endParaRPr/>
          </a:p>
        </p:txBody>
      </p:sp>
      <p:sp>
        <p:nvSpPr>
          <p:cNvPr id="20" name="Rectangle 19"/>
          <p:cNvSpPr/>
          <p:nvPr/>
        </p:nvSpPr>
        <p:spPr bwMode="auto">
          <a:xfrm>
            <a:off x="499072" y="3607017"/>
            <a:ext cx="10818095" cy="523220"/>
          </a:xfrm>
          <a:prstGeom prst="rect">
            <a:avLst/>
          </a:prstGeom>
        </p:spPr>
        <p:txBody>
          <a:bodyPr wrap="square">
            <a:spAutoFit/>
          </a:bodyPr>
          <a:lstStyle/>
          <a:p>
            <a:pPr>
              <a:defRPr/>
            </a:pPr>
            <a:r>
              <a:rPr lang="fr-FR" sz="1400"/>
              <a:t> </a:t>
            </a:r>
            <a:r>
              <a:rPr lang="fr-FR" sz="1400" b="0" i="0">
                <a:solidFill>
                  <a:srgbClr val="212121"/>
                </a:solidFill>
                <a:latin typeface="Arial"/>
              </a:rPr>
              <a:t>≠ </a:t>
            </a:r>
            <a:r>
              <a:rPr lang="fr-FR" sz="1400"/>
              <a:t>POC  (Proof of Concept) </a:t>
            </a:r>
            <a:endParaRPr/>
          </a:p>
          <a:p>
            <a:pPr marL="285750" indent="-285750">
              <a:buFont typeface="Wingdings"/>
              <a:buChar char="à"/>
              <a:defRPr/>
            </a:pPr>
            <a:r>
              <a:rPr lang="fr-FR" sz="1400"/>
              <a:t>réalisation expérimentale, permet d’établir la faisabilité du produit – commercialement, économiquement et techniquement</a:t>
            </a:r>
            <a:endParaRPr lang="fr-FR"/>
          </a:p>
        </p:txBody>
      </p:sp>
      <p:sp>
        <p:nvSpPr>
          <p:cNvPr id="13" name="ZoneTexte 12"/>
          <p:cNvSpPr txBox="1"/>
          <p:nvPr/>
        </p:nvSpPr>
        <p:spPr bwMode="auto">
          <a:xfrm>
            <a:off x="466725" y="900393"/>
            <a:ext cx="10232806" cy="369332"/>
          </a:xfrm>
          <a:prstGeom prst="rect">
            <a:avLst/>
          </a:prstGeom>
          <a:noFill/>
        </p:spPr>
        <p:txBody>
          <a:bodyPr wrap="square">
            <a:spAutoFit/>
          </a:bodyPr>
          <a:lstStyle/>
          <a:p>
            <a:pPr algn="l">
              <a:defRPr/>
            </a:pPr>
            <a:r>
              <a:rPr lang="fr-FR" sz="1800">
                <a:solidFill>
                  <a:srgbClr val="ED7D31"/>
                </a:solidFill>
                <a:latin typeface="+mj-lt"/>
              </a:rPr>
              <a:t>Parenthèse terminologie : prototype vs POC vs MVP vs MMP</a:t>
            </a:r>
            <a:endParaRPr/>
          </a:p>
        </p:txBody>
      </p:sp>
      <p:sp>
        <p:nvSpPr>
          <p:cNvPr id="19" name="ZoneTexte 18"/>
          <p:cNvSpPr txBox="1"/>
          <p:nvPr/>
        </p:nvSpPr>
        <p:spPr bwMode="auto">
          <a:xfrm>
            <a:off x="499073" y="4366639"/>
            <a:ext cx="4626084" cy="738664"/>
          </a:xfrm>
          <a:prstGeom prst="rect">
            <a:avLst/>
          </a:prstGeom>
          <a:noFill/>
        </p:spPr>
        <p:txBody>
          <a:bodyPr wrap="square">
            <a:spAutoFit/>
          </a:bodyPr>
          <a:lstStyle/>
          <a:p>
            <a:pPr>
              <a:defRPr/>
            </a:pPr>
            <a:r>
              <a:rPr lang="fr-FR" sz="1400" b="0" i="0">
                <a:solidFill>
                  <a:srgbClr val="212121"/>
                </a:solidFill>
                <a:latin typeface="Arial"/>
              </a:rPr>
              <a:t>≠ </a:t>
            </a:r>
            <a:r>
              <a:rPr lang="fr-FR" sz="1400"/>
              <a:t>MVP (Minimum Viable Product) </a:t>
            </a:r>
            <a:endParaRPr/>
          </a:p>
          <a:p>
            <a:pPr>
              <a:defRPr/>
            </a:pPr>
            <a:r>
              <a:rPr lang="fr-FR" sz="1400"/>
              <a:t> les fonctionnalités définies comme essentielles sont opérationnelles – le produit est utilisable</a:t>
            </a:r>
            <a:endParaRPr/>
          </a:p>
        </p:txBody>
      </p:sp>
      <p:sp>
        <p:nvSpPr>
          <p:cNvPr id="21" name="ZoneTexte 20"/>
          <p:cNvSpPr txBox="1"/>
          <p:nvPr/>
        </p:nvSpPr>
        <p:spPr bwMode="auto">
          <a:xfrm>
            <a:off x="499072" y="1312086"/>
            <a:ext cx="10725978" cy="338554"/>
          </a:xfrm>
          <a:prstGeom prst="rect">
            <a:avLst/>
          </a:prstGeom>
          <a:noFill/>
        </p:spPr>
        <p:txBody>
          <a:bodyPr wrap="square">
            <a:spAutoFit/>
          </a:bodyPr>
          <a:lstStyle/>
          <a:p>
            <a:pPr>
              <a:defRPr/>
            </a:pPr>
            <a:r>
              <a:rPr lang="fr-FR" sz="1600"/>
              <a:t> Ces termes sont parfois employés l’un pour l’autre… mais ne renvoient pas à la même chose </a:t>
            </a:r>
            <a:endParaRPr/>
          </a:p>
        </p:txBody>
      </p:sp>
      <p:sp>
        <p:nvSpPr>
          <p:cNvPr id="18" name="ZoneTexte 17"/>
          <p:cNvSpPr txBox="1"/>
          <p:nvPr/>
        </p:nvSpPr>
        <p:spPr bwMode="auto">
          <a:xfrm>
            <a:off x="499073" y="5049561"/>
            <a:ext cx="4422884" cy="954107"/>
          </a:xfrm>
          <a:prstGeom prst="rect">
            <a:avLst/>
          </a:prstGeom>
          <a:noFill/>
        </p:spPr>
        <p:txBody>
          <a:bodyPr wrap="square">
            <a:spAutoFit/>
          </a:bodyPr>
          <a:lstStyle/>
          <a:p>
            <a:pPr>
              <a:defRPr/>
            </a:pPr>
            <a:r>
              <a:rPr lang="fr-FR" sz="1400" b="0" i="0">
                <a:solidFill>
                  <a:srgbClr val="212121"/>
                </a:solidFill>
                <a:latin typeface="Arial"/>
              </a:rPr>
              <a:t>≠ </a:t>
            </a:r>
            <a:r>
              <a:rPr lang="fr-FR" sz="1400"/>
              <a:t>MMP (Minimum Marketable Product) </a:t>
            </a:r>
            <a:endParaRPr/>
          </a:p>
          <a:p>
            <a:pPr>
              <a:defRPr/>
            </a:pPr>
            <a:r>
              <a:rPr lang="fr-FR" sz="1400"/>
              <a:t> les fonctionnalités définies comme essentielles sont finalisées – le produit pourrait être mis sur le marché</a:t>
            </a:r>
            <a:endParaRPr/>
          </a:p>
        </p:txBody>
      </p:sp>
      <p:sp>
        <p:nvSpPr>
          <p:cNvPr id="4" name="ZoneTexte 3"/>
          <p:cNvSpPr txBox="1"/>
          <p:nvPr/>
        </p:nvSpPr>
        <p:spPr bwMode="auto">
          <a:xfrm>
            <a:off x="499072" y="2259473"/>
            <a:ext cx="11067736" cy="1169551"/>
          </a:xfrm>
          <a:prstGeom prst="rect">
            <a:avLst/>
          </a:prstGeom>
          <a:noFill/>
        </p:spPr>
        <p:txBody>
          <a:bodyPr wrap="square" rtlCol="0">
            <a:spAutoFit/>
          </a:bodyPr>
          <a:lstStyle/>
          <a:p>
            <a:pPr>
              <a:defRPr/>
            </a:pPr>
            <a:r>
              <a:rPr lang="fr-FR" sz="1400" dirty="0"/>
              <a:t>NB - Dans un contexte de conception de solution le prototype sera traditionnellement défini comme une version </a:t>
            </a:r>
            <a:r>
              <a:rPr lang="fr-FR" sz="1400" dirty="0">
                <a:latin typeface="+mj-lt"/>
              </a:rPr>
              <a:t>dynamique</a:t>
            </a:r>
            <a:r>
              <a:rPr lang="fr-FR" sz="1400" dirty="0"/>
              <a:t> de la maquette graphique – laquelle offre une représentation réaliste mais </a:t>
            </a:r>
            <a:r>
              <a:rPr lang="fr-FR" sz="1400" dirty="0">
                <a:latin typeface="+mj-lt"/>
              </a:rPr>
              <a:t>statique</a:t>
            </a:r>
            <a:r>
              <a:rPr lang="fr-FR" sz="1400" dirty="0"/>
              <a:t> du produit final.</a:t>
            </a:r>
            <a:endParaRPr dirty="0"/>
          </a:p>
          <a:p>
            <a:pPr>
              <a:defRPr/>
            </a:pPr>
            <a:r>
              <a:rPr lang="fr-FR" sz="1400" dirty="0"/>
              <a:t>Dans le cadre du Design Thinking, la notion de prototype reflète davantage une </a:t>
            </a:r>
            <a:r>
              <a:rPr lang="fr-FR" sz="1400" dirty="0">
                <a:latin typeface="+mj-lt"/>
              </a:rPr>
              <a:t>intention</a:t>
            </a:r>
            <a:r>
              <a:rPr lang="fr-FR" sz="1400" dirty="0"/>
              <a:t> (donner vie à une idée pour la faire tester par des utilisateurs) qu’un type de livrable précis soumis à un formalisme. Un prototype produit lors d’une démarche de Design Thinking peut prendre différentes formes et notamment celle d’une maquette (parfois dénommée « prototype horizontal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2" name="Titre 21"/>
          <p:cNvSpPr>
            <a:spLocks noGrp="1"/>
          </p:cNvSpPr>
          <p:nvPr>
            <p:ph type="title"/>
          </p:nvPr>
        </p:nvSpPr>
        <p:spPr bwMode="auto"/>
        <p:txBody>
          <a:bodyPr/>
          <a:lstStyle/>
          <a:p>
            <a:pPr>
              <a:defRPr/>
            </a:pPr>
            <a:r>
              <a:rPr lang="fr-FR" dirty="0"/>
              <a:t>Frameworks historiques</a:t>
            </a:r>
            <a:endParaRPr dirty="0"/>
          </a:p>
        </p:txBody>
      </p:sp>
      <p:sp>
        <p:nvSpPr>
          <p:cNvPr id="5" name="Espace réservé du numéro de diapositive 4"/>
          <p:cNvSpPr>
            <a:spLocks noGrp="1"/>
          </p:cNvSpPr>
          <p:nvPr>
            <p:ph type="sldNum" sz="quarter" idx="11"/>
          </p:nvPr>
        </p:nvSpPr>
        <p:spPr bwMode="auto"/>
        <p:txBody>
          <a:bodyPr/>
          <a:lstStyle/>
          <a:p>
            <a:pPr>
              <a:defRPr/>
            </a:pPr>
            <a:fld id="{714C0D23-94AC-4105-B75E-8B16CA37C435}" type="slidenum">
              <a:rPr lang="fr-FR"/>
              <a:t>6</a:t>
            </a:fld>
            <a:endParaRPr lang="fr-FR"/>
          </a:p>
        </p:txBody>
      </p:sp>
      <p:sp>
        <p:nvSpPr>
          <p:cNvPr id="11" name="ZoneTexte 10"/>
          <p:cNvSpPr txBox="1"/>
          <p:nvPr/>
        </p:nvSpPr>
        <p:spPr bwMode="auto">
          <a:xfrm>
            <a:off x="9552967" y="3450268"/>
            <a:ext cx="4056345" cy="456215"/>
          </a:xfrm>
          <a:prstGeom prst="rect">
            <a:avLst/>
          </a:prstGeom>
          <a:noFill/>
        </p:spPr>
        <p:txBody>
          <a:bodyPr wrap="square" rtlCol="0">
            <a:spAutoFit/>
          </a:bodyPr>
          <a:lstStyle/>
          <a:p>
            <a:pPr marL="342900" indent="-342900">
              <a:lnSpc>
                <a:spcPct val="150000"/>
              </a:lnSpc>
              <a:buFont typeface="+mj-lt"/>
              <a:buAutoNum type="arabicPeriod"/>
              <a:defRPr/>
            </a:pPr>
            <a:endParaRPr lang="fr-FR">
              <a:latin typeface="Segoe UI Light"/>
              <a:cs typeface="Segoe UI Light"/>
            </a:endParaRPr>
          </a:p>
        </p:txBody>
      </p:sp>
    </p:spTree>
    <p:extLst>
      <p:ext uri="{BB962C8B-B14F-4D97-AF65-F5344CB8AC3E}">
        <p14:creationId xmlns:p14="http://schemas.microsoft.com/office/powerpoint/2010/main" val="88242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09930"/>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7</a:t>
            </a:fld>
            <a:endParaRPr lang="fr-FR"/>
          </a:p>
        </p:txBody>
      </p:sp>
      <p:sp>
        <p:nvSpPr>
          <p:cNvPr id="2" name="Titre 1"/>
          <p:cNvSpPr>
            <a:spLocks noGrp="1"/>
          </p:cNvSpPr>
          <p:nvPr>
            <p:ph type="title"/>
          </p:nvPr>
        </p:nvSpPr>
        <p:spPr bwMode="auto">
          <a:xfrm>
            <a:off x="466725" y="114164"/>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solidFill>
                  <a:schemeClr val="bg1"/>
                </a:solidFill>
              </a:rPr>
              <a:t>Panorama</a:t>
            </a:r>
            <a:endParaRPr/>
          </a:p>
        </p:txBody>
      </p:sp>
      <p:sp>
        <p:nvSpPr>
          <p:cNvPr id="12" name="Espace réservé du contenu 7"/>
          <p:cNvSpPr txBox="1"/>
          <p:nvPr/>
        </p:nvSpPr>
        <p:spPr bwMode="auto">
          <a:xfrm>
            <a:off x="466725" y="1090941"/>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gn="l">
              <a:defRPr/>
            </a:pPr>
            <a:r>
              <a:rPr lang="fr-FR" sz="1800">
                <a:solidFill>
                  <a:srgbClr val="ED7D31"/>
                </a:solidFill>
                <a:latin typeface="+mj-lt"/>
              </a:rPr>
              <a:t>Rapid Application Development – RAD </a:t>
            </a:r>
            <a:endParaRPr/>
          </a:p>
        </p:txBody>
      </p:sp>
      <p:sp>
        <p:nvSpPr>
          <p:cNvPr id="15" name="Rectangle 14"/>
          <p:cNvSpPr/>
          <p:nvPr/>
        </p:nvSpPr>
        <p:spPr bwMode="auto">
          <a:xfrm>
            <a:off x="470961" y="1606917"/>
            <a:ext cx="7203681" cy="1246495"/>
          </a:xfrm>
          <a:prstGeom prst="rect">
            <a:avLst/>
          </a:prstGeom>
        </p:spPr>
        <p:txBody>
          <a:bodyPr wrap="square">
            <a:spAutoFit/>
          </a:bodyPr>
          <a:lstStyle/>
          <a:p>
            <a:pPr>
              <a:defRPr/>
            </a:pPr>
            <a:r>
              <a:rPr lang="fr-FR" sz="1500" b="0" i="0">
                <a:solidFill>
                  <a:srgbClr val="000000"/>
                </a:solidFill>
              </a:rPr>
              <a:t>Modèle formalisé par James Martin au début des années 90</a:t>
            </a:r>
            <a:endParaRPr lang="fr-FR" sz="1500"/>
          </a:p>
          <a:p>
            <a:pPr marL="285750" indent="-285750">
              <a:buFont typeface="Wingdings"/>
              <a:buChar char="à"/>
              <a:defRPr/>
            </a:pPr>
            <a:r>
              <a:rPr lang="fr-FR" sz="1500"/>
              <a:t>Implique </a:t>
            </a:r>
            <a:r>
              <a:rPr lang="fr-FR" sz="1500" b="0"/>
              <a:t>activement l'utilisateur final afin d’optimiser l’adéquation du produit avec les besoins réels.</a:t>
            </a:r>
            <a:endParaRPr/>
          </a:p>
          <a:p>
            <a:pPr marL="285750" indent="-285750">
              <a:buFont typeface="Wingdings"/>
              <a:buChar char="à"/>
              <a:defRPr/>
            </a:pPr>
            <a:r>
              <a:rPr lang="fr-FR" sz="1500"/>
              <a:t>Semi-itératif, incrémental et adaptatif avec un phasage simple et une limite temporelle (30 à 120 jours) :</a:t>
            </a:r>
            <a:endParaRPr/>
          </a:p>
        </p:txBody>
      </p:sp>
      <p:sp>
        <p:nvSpPr>
          <p:cNvPr id="16" name="ZoneTexte 15"/>
          <p:cNvSpPr txBox="1"/>
          <p:nvPr/>
        </p:nvSpPr>
        <p:spPr bwMode="auto">
          <a:xfrm>
            <a:off x="4954581" y="1061520"/>
            <a:ext cx="689474" cy="369332"/>
          </a:xfrm>
          <a:prstGeom prst="rect">
            <a:avLst/>
          </a:prstGeom>
          <a:noFill/>
          <a:ln>
            <a:solidFill>
              <a:schemeClr val="tx1"/>
            </a:solidFill>
          </a:ln>
        </p:spPr>
        <p:txBody>
          <a:bodyPr wrap="square" rtlCol="0">
            <a:spAutoFit/>
          </a:bodyPr>
          <a:lstStyle/>
          <a:p>
            <a:pPr>
              <a:defRPr/>
            </a:pPr>
            <a:r>
              <a:rPr lang="fr-FR"/>
              <a:t>1991</a:t>
            </a:r>
            <a:endParaRPr/>
          </a:p>
        </p:txBody>
      </p:sp>
      <p:sp>
        <p:nvSpPr>
          <p:cNvPr id="5" name="Rectangle : coins arrondis 4"/>
          <p:cNvSpPr/>
          <p:nvPr/>
        </p:nvSpPr>
        <p:spPr bwMode="auto">
          <a:xfrm>
            <a:off x="8139297" y="5666844"/>
            <a:ext cx="925689" cy="270000"/>
          </a:xfrm>
          <a:prstGeom prst="roundRect">
            <a:avLst>
              <a:gd name="adj" fmla="val 16667"/>
            </a:avLst>
          </a:prstGeom>
          <a:solidFill>
            <a:srgbClr val="F74013"/>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defRPr/>
            </a:pPr>
            <a:r>
              <a:rPr lang="fr-FR" sz="1100"/>
              <a:t>Initialisation</a:t>
            </a:r>
            <a:endParaRPr/>
          </a:p>
        </p:txBody>
      </p:sp>
      <p:sp>
        <p:nvSpPr>
          <p:cNvPr id="6" name="Flèche : virage 5"/>
          <p:cNvSpPr/>
          <p:nvPr/>
        </p:nvSpPr>
        <p:spPr bwMode="auto">
          <a:xfrm rot="5400000" flipH="1">
            <a:off x="9046552" y="5519298"/>
            <a:ext cx="280851" cy="235520"/>
          </a:xfrm>
          <a:prstGeom prst="bentArrow">
            <a:avLst>
              <a:gd name="adj1" fmla="val 25000"/>
              <a:gd name="adj2" fmla="val 25000"/>
              <a:gd name="adj3" fmla="val 25000"/>
              <a:gd name="adj4" fmla="val 43750"/>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solidFill>
                <a:schemeClr val="tx1"/>
              </a:solidFill>
            </a:endParaRPr>
          </a:p>
        </p:txBody>
      </p:sp>
      <p:sp>
        <p:nvSpPr>
          <p:cNvPr id="17" name="Rectangle : coins arrondis 16"/>
          <p:cNvSpPr/>
          <p:nvPr/>
        </p:nvSpPr>
        <p:spPr bwMode="auto">
          <a:xfrm>
            <a:off x="8850496" y="5238317"/>
            <a:ext cx="730956" cy="270000"/>
          </a:xfrm>
          <a:prstGeom prst="roundRect">
            <a:avLst>
              <a:gd name="adj" fmla="val 16667"/>
            </a:avLst>
          </a:prstGeom>
          <a:solidFill>
            <a:srgbClr val="F74013"/>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defRPr/>
            </a:pPr>
            <a:r>
              <a:rPr lang="fr-FR" sz="1100"/>
              <a:t>Cadrage</a:t>
            </a:r>
            <a:endParaRPr/>
          </a:p>
        </p:txBody>
      </p:sp>
      <p:sp>
        <p:nvSpPr>
          <p:cNvPr id="19" name="Flèche : virage 18"/>
          <p:cNvSpPr/>
          <p:nvPr/>
        </p:nvSpPr>
        <p:spPr bwMode="auto">
          <a:xfrm rot="5400000" flipH="1">
            <a:off x="9546948" y="5114295"/>
            <a:ext cx="312427" cy="243418"/>
          </a:xfrm>
          <a:prstGeom prst="bentArrow">
            <a:avLst>
              <a:gd name="adj1" fmla="val 25000"/>
              <a:gd name="adj2" fmla="val 25000"/>
              <a:gd name="adj3" fmla="val 25000"/>
              <a:gd name="adj4" fmla="val 43750"/>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solidFill>
                <a:schemeClr val="tx1"/>
              </a:solidFill>
            </a:endParaRPr>
          </a:p>
        </p:txBody>
      </p:sp>
      <p:sp>
        <p:nvSpPr>
          <p:cNvPr id="8" name="Organigramme : Extraire 7"/>
          <p:cNvSpPr/>
          <p:nvPr/>
        </p:nvSpPr>
        <p:spPr bwMode="auto">
          <a:xfrm rot="11815916">
            <a:off x="10306957" y="4555869"/>
            <a:ext cx="135467" cy="75858"/>
          </a:xfrm>
          <a:prstGeom prst="flowChartExtract">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 name="ZoneTexte 8"/>
          <p:cNvSpPr txBox="1"/>
          <p:nvPr/>
        </p:nvSpPr>
        <p:spPr bwMode="auto">
          <a:xfrm>
            <a:off x="9151480" y="4180280"/>
            <a:ext cx="1137745" cy="461665"/>
          </a:xfrm>
          <a:prstGeom prst="rect">
            <a:avLst/>
          </a:prstGeom>
          <a:noFill/>
        </p:spPr>
        <p:txBody>
          <a:bodyPr wrap="square" rtlCol="0">
            <a:spAutoFit/>
          </a:bodyPr>
          <a:lstStyle/>
          <a:p>
            <a:pPr algn="ctr">
              <a:defRPr/>
            </a:pPr>
            <a:r>
              <a:rPr lang="fr-FR" sz="1200">
                <a:solidFill>
                  <a:srgbClr val="C00000"/>
                </a:solidFill>
                <a:latin typeface="+mj-lt"/>
              </a:rPr>
              <a:t>User</a:t>
            </a:r>
            <a:endParaRPr/>
          </a:p>
          <a:p>
            <a:pPr algn="ctr">
              <a:defRPr/>
            </a:pPr>
            <a:r>
              <a:rPr lang="fr-FR" sz="1200">
                <a:solidFill>
                  <a:srgbClr val="C00000"/>
                </a:solidFill>
                <a:latin typeface="+mj-lt"/>
              </a:rPr>
              <a:t>Design</a:t>
            </a:r>
            <a:endParaRPr/>
          </a:p>
        </p:txBody>
      </p:sp>
      <p:sp>
        <p:nvSpPr>
          <p:cNvPr id="21" name="ZoneTexte 20"/>
          <p:cNvSpPr txBox="1"/>
          <p:nvPr/>
        </p:nvSpPr>
        <p:spPr bwMode="auto">
          <a:xfrm>
            <a:off x="8695272" y="4560321"/>
            <a:ext cx="869244" cy="246221"/>
          </a:xfrm>
          <a:prstGeom prst="rect">
            <a:avLst/>
          </a:prstGeom>
          <a:noFill/>
        </p:spPr>
        <p:txBody>
          <a:bodyPr wrap="square" rtlCol="0">
            <a:spAutoFit/>
          </a:bodyPr>
          <a:lstStyle/>
          <a:p>
            <a:pPr>
              <a:defRPr/>
            </a:pPr>
            <a:r>
              <a:rPr lang="fr-FR" sz="1000">
                <a:solidFill>
                  <a:srgbClr val="C00000"/>
                </a:solidFill>
              </a:rPr>
              <a:t>Prototype</a:t>
            </a:r>
            <a:endParaRPr/>
          </a:p>
        </p:txBody>
      </p:sp>
      <p:sp>
        <p:nvSpPr>
          <p:cNvPr id="22" name="ZoneTexte 21"/>
          <p:cNvSpPr txBox="1"/>
          <p:nvPr/>
        </p:nvSpPr>
        <p:spPr bwMode="auto">
          <a:xfrm>
            <a:off x="10072113" y="4605889"/>
            <a:ext cx="540000" cy="246221"/>
          </a:xfrm>
          <a:prstGeom prst="rect">
            <a:avLst/>
          </a:prstGeom>
          <a:noFill/>
        </p:spPr>
        <p:txBody>
          <a:bodyPr wrap="square" lIns="0" rIns="0" rtlCol="0">
            <a:spAutoFit/>
          </a:bodyPr>
          <a:lstStyle/>
          <a:p>
            <a:pPr>
              <a:defRPr/>
            </a:pPr>
            <a:r>
              <a:rPr lang="fr-FR" sz="1000">
                <a:solidFill>
                  <a:srgbClr val="C00000"/>
                </a:solidFill>
              </a:rPr>
              <a:t>Affinage</a:t>
            </a:r>
            <a:endParaRPr/>
          </a:p>
        </p:txBody>
      </p:sp>
      <p:sp>
        <p:nvSpPr>
          <p:cNvPr id="23" name="ZoneTexte 22"/>
          <p:cNvSpPr txBox="1"/>
          <p:nvPr/>
        </p:nvSpPr>
        <p:spPr bwMode="auto">
          <a:xfrm>
            <a:off x="9550474" y="3520902"/>
            <a:ext cx="869244" cy="246221"/>
          </a:xfrm>
          <a:prstGeom prst="rect">
            <a:avLst/>
          </a:prstGeom>
          <a:noFill/>
        </p:spPr>
        <p:txBody>
          <a:bodyPr wrap="square" rtlCol="0">
            <a:spAutoFit/>
          </a:bodyPr>
          <a:lstStyle/>
          <a:p>
            <a:pPr>
              <a:defRPr/>
            </a:pPr>
            <a:r>
              <a:rPr lang="fr-FR" sz="1000">
                <a:solidFill>
                  <a:srgbClr val="C00000"/>
                </a:solidFill>
              </a:rPr>
              <a:t>Test</a:t>
            </a:r>
            <a:endParaRPr/>
          </a:p>
        </p:txBody>
      </p:sp>
      <p:sp>
        <p:nvSpPr>
          <p:cNvPr id="24" name="Arc 23"/>
          <p:cNvSpPr/>
          <p:nvPr/>
        </p:nvSpPr>
        <p:spPr bwMode="auto">
          <a:xfrm rot="8263041">
            <a:off x="9003128" y="3653409"/>
            <a:ext cx="1495307" cy="1388527"/>
          </a:xfrm>
          <a:prstGeom prst="arc">
            <a:avLst>
              <a:gd name="adj1" fmla="val 16200000"/>
              <a:gd name="adj2" fmla="val 0"/>
            </a:avLst>
          </a:prstGeom>
          <a:ln w="28575">
            <a:solidFill>
              <a:srgbClr val="E1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25" name="Organigramme : Extraire 24"/>
          <p:cNvSpPr/>
          <p:nvPr/>
        </p:nvSpPr>
        <p:spPr bwMode="auto">
          <a:xfrm rot="20025176">
            <a:off x="9108730" y="4784595"/>
            <a:ext cx="135467" cy="75858"/>
          </a:xfrm>
          <a:prstGeom prst="flowChartExtract">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6" name="Flèche : virage 25"/>
          <p:cNvSpPr/>
          <p:nvPr/>
        </p:nvSpPr>
        <p:spPr bwMode="auto">
          <a:xfrm rot="5400000" flipH="1">
            <a:off x="10007975" y="3465310"/>
            <a:ext cx="411178" cy="247819"/>
          </a:xfrm>
          <a:prstGeom prst="bentArrow">
            <a:avLst>
              <a:gd name="adj1" fmla="val 25000"/>
              <a:gd name="adj2" fmla="val 25000"/>
              <a:gd name="adj3" fmla="val 25000"/>
              <a:gd name="adj4" fmla="val 43750"/>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solidFill>
                <a:schemeClr val="tx1"/>
              </a:solidFill>
            </a:endParaRPr>
          </a:p>
        </p:txBody>
      </p:sp>
      <p:sp>
        <p:nvSpPr>
          <p:cNvPr id="27" name="Arc 26"/>
          <p:cNvSpPr/>
          <p:nvPr/>
        </p:nvSpPr>
        <p:spPr bwMode="auto">
          <a:xfrm rot="15377415">
            <a:off x="8977729" y="3712569"/>
            <a:ext cx="1495307" cy="1388527"/>
          </a:xfrm>
          <a:prstGeom prst="arc">
            <a:avLst>
              <a:gd name="adj1" fmla="val 16200000"/>
              <a:gd name="adj2" fmla="val 0"/>
            </a:avLst>
          </a:prstGeom>
          <a:ln w="28575">
            <a:solidFill>
              <a:srgbClr val="E1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30" name="Organigramme : Extraire 29"/>
          <p:cNvSpPr/>
          <p:nvPr/>
        </p:nvSpPr>
        <p:spPr bwMode="auto">
          <a:xfrm rot="4375420">
            <a:off x="9505021" y="3627895"/>
            <a:ext cx="135467" cy="75858"/>
          </a:xfrm>
          <a:prstGeom prst="flowChartExtract">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31" name="Arc 30"/>
          <p:cNvSpPr/>
          <p:nvPr/>
        </p:nvSpPr>
        <p:spPr bwMode="auto">
          <a:xfrm rot="1152089">
            <a:off x="8928908" y="3629688"/>
            <a:ext cx="1495307" cy="1388527"/>
          </a:xfrm>
          <a:prstGeom prst="arc">
            <a:avLst>
              <a:gd name="adj1" fmla="val 16200000"/>
              <a:gd name="adj2" fmla="val 0"/>
            </a:avLst>
          </a:prstGeom>
          <a:ln w="28575">
            <a:solidFill>
              <a:srgbClr val="E1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33" name="Rectangle : coins arrondis 32"/>
          <p:cNvSpPr/>
          <p:nvPr/>
        </p:nvSpPr>
        <p:spPr bwMode="auto">
          <a:xfrm>
            <a:off x="10421693" y="1606917"/>
            <a:ext cx="880532" cy="270932"/>
          </a:xfrm>
          <a:prstGeom prst="roundRect">
            <a:avLst>
              <a:gd name="adj" fmla="val 16667"/>
            </a:avLst>
          </a:prstGeom>
          <a:solidFill>
            <a:srgbClr val="F74013"/>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defRPr/>
            </a:pPr>
            <a:r>
              <a:rPr lang="fr-FR" sz="1100"/>
              <a:t>Finalisation</a:t>
            </a:r>
            <a:endParaRPr/>
          </a:p>
        </p:txBody>
      </p:sp>
      <p:sp>
        <p:nvSpPr>
          <p:cNvPr id="14" name="Ellipse 13"/>
          <p:cNvSpPr/>
          <p:nvPr/>
        </p:nvSpPr>
        <p:spPr bwMode="auto">
          <a:xfrm>
            <a:off x="7789834" y="5380929"/>
            <a:ext cx="432000" cy="432000"/>
          </a:xfrm>
          <a:prstGeom prst="ellipse">
            <a:avLst/>
          </a:prstGeom>
          <a:solidFill>
            <a:schemeClr val="bg1"/>
          </a:solidFill>
          <a:ln>
            <a:solidFill>
              <a:srgbClr val="E1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fr-FR" sz="1000">
                <a:solidFill>
                  <a:srgbClr val="C00000"/>
                </a:solidFill>
                <a:latin typeface="+mj-lt"/>
              </a:rPr>
              <a:t>± 6%</a:t>
            </a:r>
            <a:endParaRPr/>
          </a:p>
        </p:txBody>
      </p:sp>
      <p:sp>
        <p:nvSpPr>
          <p:cNvPr id="35" name="Ellipse 34"/>
          <p:cNvSpPr/>
          <p:nvPr/>
        </p:nvSpPr>
        <p:spPr bwMode="auto">
          <a:xfrm>
            <a:off x="8484644" y="4964101"/>
            <a:ext cx="432000" cy="432000"/>
          </a:xfrm>
          <a:prstGeom prst="ellipse">
            <a:avLst/>
          </a:prstGeom>
          <a:solidFill>
            <a:schemeClr val="bg1"/>
          </a:solidFill>
          <a:ln>
            <a:solidFill>
              <a:srgbClr val="E1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fr-FR" sz="1000">
                <a:solidFill>
                  <a:srgbClr val="C00000"/>
                </a:solidFill>
                <a:latin typeface="+mj-lt"/>
              </a:rPr>
              <a:t>± 9%</a:t>
            </a:r>
            <a:endParaRPr/>
          </a:p>
        </p:txBody>
      </p:sp>
      <p:sp>
        <p:nvSpPr>
          <p:cNvPr id="36" name="Ellipse 35"/>
          <p:cNvSpPr/>
          <p:nvPr/>
        </p:nvSpPr>
        <p:spPr bwMode="auto">
          <a:xfrm>
            <a:off x="10034294" y="1219120"/>
            <a:ext cx="504000" cy="504000"/>
          </a:xfrm>
          <a:prstGeom prst="ellipse">
            <a:avLst/>
          </a:prstGeom>
          <a:solidFill>
            <a:schemeClr val="bg1"/>
          </a:solidFill>
          <a:ln>
            <a:solidFill>
              <a:srgbClr val="E1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fr-FR" sz="1000">
                <a:solidFill>
                  <a:srgbClr val="C00000"/>
                </a:solidFill>
                <a:latin typeface="+mj-lt"/>
              </a:rPr>
              <a:t>± 12%</a:t>
            </a:r>
            <a:endParaRPr/>
          </a:p>
        </p:txBody>
      </p:sp>
      <p:sp>
        <p:nvSpPr>
          <p:cNvPr id="39" name="Ellipse 38"/>
          <p:cNvSpPr/>
          <p:nvPr/>
        </p:nvSpPr>
        <p:spPr bwMode="auto">
          <a:xfrm>
            <a:off x="8736266" y="3484162"/>
            <a:ext cx="540000" cy="540000"/>
          </a:xfrm>
          <a:prstGeom prst="ellipse">
            <a:avLst/>
          </a:prstGeom>
          <a:solidFill>
            <a:schemeClr val="bg1"/>
          </a:solidFill>
          <a:ln>
            <a:solidFill>
              <a:srgbClr val="E1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fr-FR" sz="1000">
                <a:solidFill>
                  <a:srgbClr val="C00000"/>
                </a:solidFill>
                <a:latin typeface="+mj-lt"/>
              </a:rPr>
              <a:t>± 23%</a:t>
            </a:r>
            <a:endParaRPr/>
          </a:p>
        </p:txBody>
      </p:sp>
      <p:cxnSp>
        <p:nvCxnSpPr>
          <p:cNvPr id="45" name="Connecteur : en arc 44"/>
          <p:cNvCxnSpPr>
            <a:cxnSpLocks/>
            <a:stCxn id="33" idx="3"/>
          </p:cNvCxnSpPr>
          <p:nvPr/>
        </p:nvCxnSpPr>
        <p:spPr bwMode="auto">
          <a:xfrm flipH="1">
            <a:off x="9548159" y="1742383"/>
            <a:ext cx="1754066" cy="3700248"/>
          </a:xfrm>
          <a:prstGeom prst="curvedConnector3">
            <a:avLst>
              <a:gd name="adj1" fmla="val -9815"/>
            </a:avLst>
          </a:prstGeom>
          <a:ln w="38100">
            <a:solidFill>
              <a:srgbClr val="E10000"/>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2" name="Flèche : virage 61"/>
          <p:cNvSpPr/>
          <p:nvPr/>
        </p:nvSpPr>
        <p:spPr bwMode="auto">
          <a:xfrm rot="5400000" flipH="1">
            <a:off x="10500669" y="2056029"/>
            <a:ext cx="607238" cy="219178"/>
          </a:xfrm>
          <a:prstGeom prst="bentArrow">
            <a:avLst>
              <a:gd name="adj1" fmla="val 25000"/>
              <a:gd name="adj2" fmla="val 25000"/>
              <a:gd name="adj3" fmla="val 25000"/>
              <a:gd name="adj4" fmla="val 43750"/>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solidFill>
                <a:schemeClr val="tx1"/>
              </a:solidFill>
            </a:endParaRPr>
          </a:p>
        </p:txBody>
      </p:sp>
      <p:cxnSp>
        <p:nvCxnSpPr>
          <p:cNvPr id="65" name="Connecteur : en arc 64"/>
          <p:cNvCxnSpPr>
            <a:cxnSpLocks/>
            <a:stCxn id="111" idx="3"/>
            <a:endCxn id="22" idx="3"/>
          </p:cNvCxnSpPr>
          <p:nvPr/>
        </p:nvCxnSpPr>
        <p:spPr bwMode="auto">
          <a:xfrm flipH="1">
            <a:off x="10612113" y="3098636"/>
            <a:ext cx="195357" cy="1630364"/>
          </a:xfrm>
          <a:prstGeom prst="curvedConnector3">
            <a:avLst>
              <a:gd name="adj1" fmla="val -117017"/>
            </a:avLst>
          </a:prstGeom>
          <a:ln w="38100">
            <a:solidFill>
              <a:srgbClr val="E10000"/>
            </a:solidFill>
            <a:tailEnd type="triangle"/>
          </a:ln>
        </p:spPr>
        <p:style>
          <a:lnRef idx="1">
            <a:schemeClr val="accent1"/>
          </a:lnRef>
          <a:fillRef idx="0">
            <a:schemeClr val="accent1"/>
          </a:fillRef>
          <a:effectRef idx="0">
            <a:schemeClr val="accent1"/>
          </a:effectRef>
          <a:fontRef idx="minor">
            <a:schemeClr val="tx1"/>
          </a:fontRef>
        </p:style>
      </p:cxnSp>
      <p:sp>
        <p:nvSpPr>
          <p:cNvPr id="43" name="ZoneTexte 42"/>
          <p:cNvSpPr txBox="1"/>
          <p:nvPr/>
        </p:nvSpPr>
        <p:spPr bwMode="auto">
          <a:xfrm>
            <a:off x="10886458" y="3546824"/>
            <a:ext cx="852560" cy="276999"/>
          </a:xfrm>
          <a:prstGeom prst="rect">
            <a:avLst/>
          </a:prstGeom>
          <a:solidFill>
            <a:schemeClr val="bg1"/>
          </a:solidFill>
        </p:spPr>
        <p:txBody>
          <a:bodyPr wrap="square" rtlCol="0">
            <a:spAutoFit/>
          </a:bodyPr>
          <a:lstStyle/>
          <a:p>
            <a:pPr>
              <a:defRPr/>
            </a:pPr>
            <a:r>
              <a:rPr lang="fr-FR" sz="1200">
                <a:solidFill>
                  <a:srgbClr val="C00000"/>
                </a:solidFill>
                <a:latin typeface="+mj-lt"/>
              </a:rPr>
              <a:t>Feedback</a:t>
            </a:r>
            <a:endParaRPr/>
          </a:p>
        </p:txBody>
      </p:sp>
      <p:sp>
        <p:nvSpPr>
          <p:cNvPr id="102" name="ZoneTexte 101"/>
          <p:cNvSpPr txBox="1"/>
          <p:nvPr/>
        </p:nvSpPr>
        <p:spPr bwMode="auto">
          <a:xfrm>
            <a:off x="128979" y="2815836"/>
            <a:ext cx="7312993" cy="3093154"/>
          </a:xfrm>
          <a:prstGeom prst="rect">
            <a:avLst/>
          </a:prstGeom>
          <a:noFill/>
        </p:spPr>
        <p:txBody>
          <a:bodyPr wrap="square">
            <a:spAutoFit/>
          </a:bodyPr>
          <a:lstStyle/>
          <a:p>
            <a:pPr marL="742950" lvl="1" indent="-285750">
              <a:buFont typeface="Wingdings"/>
              <a:buChar char="§"/>
              <a:defRPr/>
            </a:pPr>
            <a:r>
              <a:rPr lang="fr-FR" sz="1500" dirty="0">
                <a:latin typeface="+mj-lt"/>
              </a:rPr>
              <a:t>Préparation </a:t>
            </a:r>
            <a:r>
              <a:rPr lang="fr-FR" sz="1500" dirty="0"/>
              <a:t>ou</a:t>
            </a:r>
            <a:r>
              <a:rPr lang="fr-FR" sz="1500" dirty="0">
                <a:latin typeface="+mj-lt"/>
              </a:rPr>
              <a:t> initialisation </a:t>
            </a:r>
            <a:r>
              <a:rPr lang="fr-FR" sz="1500" dirty="0"/>
              <a:t>– structuration de l’organisation, du périmètre d’action, du plan de communication</a:t>
            </a:r>
            <a:endParaRPr dirty="0"/>
          </a:p>
          <a:p>
            <a:pPr marL="742950" lvl="1" indent="-285750">
              <a:buFont typeface="Wingdings"/>
              <a:buChar char="§"/>
              <a:defRPr/>
            </a:pPr>
            <a:r>
              <a:rPr lang="fr-FR" sz="1500" dirty="0">
                <a:latin typeface="+mj-lt"/>
              </a:rPr>
              <a:t>Cadrage / définition conjointe des besoins avec les utilisateurs</a:t>
            </a:r>
            <a:r>
              <a:rPr lang="fr-FR" sz="1500" dirty="0"/>
              <a:t> – formalisation des besoins (entretiens de groupes), analyse des exigences, définition des objectifs, moyens et solutions envisagées</a:t>
            </a:r>
            <a:endParaRPr dirty="0"/>
          </a:p>
          <a:p>
            <a:pPr marL="742950" lvl="1" indent="-285750">
              <a:buFont typeface="Wingdings"/>
              <a:buChar char="§"/>
              <a:defRPr/>
            </a:pPr>
            <a:r>
              <a:rPr lang="fr-FR" sz="1500" dirty="0">
                <a:latin typeface="+mj-lt"/>
              </a:rPr>
              <a:t>User Design / développement conjoint d’application avec les utilisateurs</a:t>
            </a:r>
            <a:r>
              <a:rPr lang="fr-FR" sz="1500" dirty="0"/>
              <a:t> – modélisation de la solution, validation de sa cohérence systémique, prototypage, test, affinage (plusieurs itérations)</a:t>
            </a:r>
            <a:endParaRPr dirty="0"/>
          </a:p>
          <a:p>
            <a:pPr marL="742950" lvl="1" indent="-285750">
              <a:buFont typeface="Wingdings"/>
              <a:buChar char="§"/>
              <a:defRPr/>
            </a:pPr>
            <a:r>
              <a:rPr lang="fr-FR" sz="1500" dirty="0">
                <a:latin typeface="+mj-lt"/>
              </a:rPr>
              <a:t>Construction</a:t>
            </a:r>
            <a:r>
              <a:rPr lang="fr-FR" sz="1500" dirty="0"/>
              <a:t> – (avec les utilisateurs) spécifications détaillées, réalisation module par module, test, retours à l’étape Design autant que nécessaire</a:t>
            </a:r>
            <a:endParaRPr dirty="0"/>
          </a:p>
          <a:p>
            <a:pPr marL="742950" lvl="1" indent="-285750">
              <a:buFont typeface="Wingdings"/>
              <a:buChar char="§"/>
              <a:defRPr/>
            </a:pPr>
            <a:r>
              <a:rPr lang="fr-FR" sz="1500" dirty="0">
                <a:latin typeface="+mj-lt"/>
              </a:rPr>
              <a:t>Finalisation et mise en place (</a:t>
            </a:r>
            <a:r>
              <a:rPr lang="fr-FR" sz="1500" dirty="0" err="1">
                <a:latin typeface="+mj-lt"/>
              </a:rPr>
              <a:t>Cutover</a:t>
            </a:r>
            <a:r>
              <a:rPr lang="fr-FR" sz="1500" dirty="0">
                <a:latin typeface="+mj-lt"/>
              </a:rPr>
              <a:t>)</a:t>
            </a:r>
            <a:r>
              <a:rPr lang="fr-FR" sz="1500" dirty="0"/>
              <a:t> - recette globale avec les utilisateurs, retours à la définition des besoins autant que nécessaire, déploiement</a:t>
            </a:r>
            <a:endParaRPr dirty="0"/>
          </a:p>
        </p:txBody>
      </p:sp>
      <p:sp>
        <p:nvSpPr>
          <p:cNvPr id="108" name="Organigramme : Extraire 107"/>
          <p:cNvSpPr/>
          <p:nvPr/>
        </p:nvSpPr>
        <p:spPr bwMode="auto">
          <a:xfrm rot="11815916">
            <a:off x="10628310" y="2901985"/>
            <a:ext cx="135467" cy="75858"/>
          </a:xfrm>
          <a:prstGeom prst="flowChartExtract">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09" name="ZoneTexte 108"/>
          <p:cNvSpPr txBox="1"/>
          <p:nvPr/>
        </p:nvSpPr>
        <p:spPr bwMode="auto">
          <a:xfrm>
            <a:off x="9551073" y="2472019"/>
            <a:ext cx="1137745" cy="584775"/>
          </a:xfrm>
          <a:prstGeom prst="rect">
            <a:avLst/>
          </a:prstGeom>
          <a:noFill/>
        </p:spPr>
        <p:txBody>
          <a:bodyPr wrap="square" rtlCol="0">
            <a:spAutoFit/>
          </a:bodyPr>
          <a:lstStyle/>
          <a:p>
            <a:pPr algn="ctr">
              <a:defRPr/>
            </a:pPr>
            <a:r>
              <a:rPr lang="fr-FR" sz="1200">
                <a:solidFill>
                  <a:srgbClr val="C00000"/>
                </a:solidFill>
                <a:latin typeface="+mj-lt"/>
              </a:rPr>
              <a:t>Construction</a:t>
            </a:r>
            <a:endParaRPr/>
          </a:p>
          <a:p>
            <a:pPr algn="ctr">
              <a:defRPr/>
            </a:pPr>
            <a:r>
              <a:rPr lang="fr-FR" sz="1000">
                <a:solidFill>
                  <a:srgbClr val="C00000"/>
                </a:solidFill>
              </a:rPr>
              <a:t>Module par module</a:t>
            </a:r>
            <a:endParaRPr/>
          </a:p>
        </p:txBody>
      </p:sp>
      <p:sp>
        <p:nvSpPr>
          <p:cNvPr id="110" name="ZoneTexte 109"/>
          <p:cNvSpPr txBox="1"/>
          <p:nvPr/>
        </p:nvSpPr>
        <p:spPr bwMode="auto">
          <a:xfrm>
            <a:off x="8737585" y="2737881"/>
            <a:ext cx="993697" cy="400110"/>
          </a:xfrm>
          <a:prstGeom prst="rect">
            <a:avLst/>
          </a:prstGeom>
          <a:noFill/>
        </p:spPr>
        <p:txBody>
          <a:bodyPr wrap="square" rtlCol="0">
            <a:spAutoFit/>
          </a:bodyPr>
          <a:lstStyle/>
          <a:p>
            <a:pPr algn="ctr">
              <a:defRPr/>
            </a:pPr>
            <a:r>
              <a:rPr lang="fr-FR" sz="1000">
                <a:solidFill>
                  <a:srgbClr val="C00000"/>
                </a:solidFill>
              </a:rPr>
              <a:t>Spécifications détaillées</a:t>
            </a:r>
            <a:endParaRPr/>
          </a:p>
        </p:txBody>
      </p:sp>
      <p:sp>
        <p:nvSpPr>
          <p:cNvPr id="111" name="ZoneTexte 110"/>
          <p:cNvSpPr txBox="1"/>
          <p:nvPr/>
        </p:nvSpPr>
        <p:spPr bwMode="auto">
          <a:xfrm>
            <a:off x="10519470" y="2975525"/>
            <a:ext cx="288000" cy="246221"/>
          </a:xfrm>
          <a:prstGeom prst="rect">
            <a:avLst/>
          </a:prstGeom>
          <a:noFill/>
        </p:spPr>
        <p:txBody>
          <a:bodyPr wrap="square" lIns="0" rIns="0" rtlCol="0">
            <a:spAutoFit/>
          </a:bodyPr>
          <a:lstStyle/>
          <a:p>
            <a:pPr>
              <a:defRPr/>
            </a:pPr>
            <a:r>
              <a:rPr lang="fr-FR" sz="1000">
                <a:solidFill>
                  <a:srgbClr val="C00000"/>
                </a:solidFill>
              </a:rPr>
              <a:t>Test</a:t>
            </a:r>
            <a:endParaRPr/>
          </a:p>
        </p:txBody>
      </p:sp>
      <p:sp>
        <p:nvSpPr>
          <p:cNvPr id="113" name="Organigramme : Extraire 112"/>
          <p:cNvSpPr/>
          <p:nvPr/>
        </p:nvSpPr>
        <p:spPr bwMode="auto">
          <a:xfrm rot="20025176">
            <a:off x="9498199" y="3153355"/>
            <a:ext cx="135467" cy="75858"/>
          </a:xfrm>
          <a:prstGeom prst="flowChartExtract">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6" name="Arc 115"/>
          <p:cNvSpPr/>
          <p:nvPr/>
        </p:nvSpPr>
        <p:spPr bwMode="auto">
          <a:xfrm rot="8263041">
            <a:off x="9369993" y="2017942"/>
            <a:ext cx="1515937" cy="1365843"/>
          </a:xfrm>
          <a:prstGeom prst="arc">
            <a:avLst>
              <a:gd name="adj1" fmla="val 16200000"/>
              <a:gd name="adj2" fmla="val 0"/>
            </a:avLst>
          </a:prstGeom>
          <a:ln w="28575">
            <a:solidFill>
              <a:srgbClr val="E1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117" name="Arc 116"/>
          <p:cNvSpPr/>
          <p:nvPr/>
        </p:nvSpPr>
        <p:spPr bwMode="auto">
          <a:xfrm rot="15377415">
            <a:off x="9406916" y="2171730"/>
            <a:ext cx="1021838" cy="1012869"/>
          </a:xfrm>
          <a:prstGeom prst="arc">
            <a:avLst>
              <a:gd name="adj1" fmla="val 16645745"/>
              <a:gd name="adj2" fmla="val 0"/>
            </a:avLst>
          </a:prstGeom>
          <a:ln w="28575">
            <a:solidFill>
              <a:srgbClr val="E1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114" name="Organigramme : Extraire 113"/>
          <p:cNvSpPr/>
          <p:nvPr/>
        </p:nvSpPr>
        <p:spPr bwMode="auto">
          <a:xfrm rot="4375420">
            <a:off x="9608828" y="2188013"/>
            <a:ext cx="135467" cy="75858"/>
          </a:xfrm>
          <a:prstGeom prst="flowChartExtract">
            <a:avLst/>
          </a:prstGeom>
          <a:solidFill>
            <a:srgbClr val="E1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12" name="ZoneTexte 111"/>
          <p:cNvSpPr txBox="1"/>
          <p:nvPr/>
        </p:nvSpPr>
        <p:spPr bwMode="auto">
          <a:xfrm>
            <a:off x="9710589" y="2059177"/>
            <a:ext cx="869244" cy="226591"/>
          </a:xfrm>
          <a:prstGeom prst="rect">
            <a:avLst/>
          </a:prstGeom>
          <a:solidFill>
            <a:schemeClr val="bg1"/>
          </a:solidFill>
        </p:spPr>
        <p:txBody>
          <a:bodyPr wrap="square" lIns="72000" tIns="36000" rIns="36000" bIns="36000" rtlCol="0">
            <a:spAutoFit/>
          </a:bodyPr>
          <a:lstStyle/>
          <a:p>
            <a:pPr>
              <a:defRPr/>
            </a:pPr>
            <a:r>
              <a:rPr lang="fr-FR" sz="1000">
                <a:solidFill>
                  <a:srgbClr val="C00000"/>
                </a:solidFill>
              </a:rPr>
              <a:t>Réalisation</a:t>
            </a:r>
            <a:endParaRPr/>
          </a:p>
        </p:txBody>
      </p:sp>
      <p:sp>
        <p:nvSpPr>
          <p:cNvPr id="118" name="Arc 117"/>
          <p:cNvSpPr/>
          <p:nvPr/>
        </p:nvSpPr>
        <p:spPr bwMode="auto">
          <a:xfrm rot="1550127">
            <a:off x="9729268" y="2180169"/>
            <a:ext cx="1021302" cy="1052817"/>
          </a:xfrm>
          <a:prstGeom prst="arc">
            <a:avLst>
              <a:gd name="adj1" fmla="val 16200000"/>
              <a:gd name="adj2" fmla="val 0"/>
            </a:avLst>
          </a:prstGeom>
          <a:ln w="28575">
            <a:solidFill>
              <a:srgbClr val="E1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lang="fr-FR"/>
          </a:p>
        </p:txBody>
      </p:sp>
      <p:sp>
        <p:nvSpPr>
          <p:cNvPr id="37" name="Ellipse 36"/>
          <p:cNvSpPr/>
          <p:nvPr/>
        </p:nvSpPr>
        <p:spPr bwMode="auto">
          <a:xfrm>
            <a:off x="8970608" y="2081560"/>
            <a:ext cx="540000" cy="540000"/>
          </a:xfrm>
          <a:prstGeom prst="ellipse">
            <a:avLst/>
          </a:prstGeom>
          <a:solidFill>
            <a:schemeClr val="bg1"/>
          </a:solidFill>
          <a:ln>
            <a:solidFill>
              <a:srgbClr val="E1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fr-FR" sz="1000">
                <a:solidFill>
                  <a:srgbClr val="C00000"/>
                </a:solidFill>
                <a:latin typeface="+mj-lt"/>
              </a:rPr>
              <a:t>± 50%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61344"/>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8</a:t>
            </a:fld>
            <a:endParaRPr lang="fr-FR"/>
          </a:p>
        </p:txBody>
      </p:sp>
      <p:sp>
        <p:nvSpPr>
          <p:cNvPr id="2" name="Titre 1"/>
          <p:cNvSpPr>
            <a:spLocks noGrp="1"/>
          </p:cNvSpPr>
          <p:nvPr>
            <p:ph type="title"/>
          </p:nvPr>
        </p:nvSpPr>
        <p:spPr bwMode="auto">
          <a:xfrm>
            <a:off x="466725" y="114164"/>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solidFill>
                  <a:schemeClr val="bg1"/>
                </a:solidFill>
              </a:rPr>
              <a:t>Panorama</a:t>
            </a:r>
            <a:endParaRPr/>
          </a:p>
        </p:txBody>
      </p:sp>
      <p:sp>
        <p:nvSpPr>
          <p:cNvPr id="15" name="Rectangle 14"/>
          <p:cNvSpPr/>
          <p:nvPr/>
        </p:nvSpPr>
        <p:spPr bwMode="auto">
          <a:xfrm>
            <a:off x="466725" y="1614559"/>
            <a:ext cx="5727149" cy="3785652"/>
          </a:xfrm>
          <a:prstGeom prst="rect">
            <a:avLst/>
          </a:prstGeom>
        </p:spPr>
        <p:txBody>
          <a:bodyPr wrap="square">
            <a:spAutoFit/>
          </a:bodyPr>
          <a:lstStyle/>
          <a:p>
            <a:pPr algn="l">
              <a:defRPr/>
            </a:pPr>
            <a:r>
              <a:rPr lang="fr-FR" sz="1600" b="0" i="0" dirty="0">
                <a:solidFill>
                  <a:srgbClr val="333C4D"/>
                </a:solidFill>
              </a:rPr>
              <a:t>Processus itératif et incrémental, le FDD organise le développement d’un logiciel autour de la réalisation et de la progression des fonctionnalités, dans l’objectif de permettre aux équipes d’être plus réactives et capables de s’adapter aux besoins des clients. </a:t>
            </a:r>
            <a:endParaRPr dirty="0"/>
          </a:p>
          <a:p>
            <a:pPr marL="285750" indent="-285750" algn="l">
              <a:buFont typeface="Wingdings"/>
              <a:buChar char="à"/>
              <a:defRPr/>
            </a:pPr>
            <a:r>
              <a:rPr lang="fr-FR" sz="1600" b="0" i="0" dirty="0">
                <a:solidFill>
                  <a:srgbClr val="333C4D"/>
                </a:solidFill>
              </a:rPr>
              <a:t>Itération courtes (une à deux semaines) </a:t>
            </a:r>
            <a:endParaRPr dirty="0"/>
          </a:p>
          <a:p>
            <a:pPr marL="285750" indent="-285750" algn="l">
              <a:buFont typeface="Wingdings"/>
              <a:buChar char="à"/>
              <a:defRPr/>
            </a:pPr>
            <a:r>
              <a:rPr lang="fr-FR" sz="1600" dirty="0">
                <a:solidFill>
                  <a:srgbClr val="333C4D"/>
                </a:solidFill>
              </a:rPr>
              <a:t>Production d’</a:t>
            </a:r>
            <a:r>
              <a:rPr lang="fr-FR" sz="1600" b="0" i="0" dirty="0">
                <a:solidFill>
                  <a:srgbClr val="333C4D"/>
                </a:solidFill>
              </a:rPr>
              <a:t>un livrable fonctionnel à la fin de chaque itération. </a:t>
            </a:r>
            <a:endParaRPr dirty="0"/>
          </a:p>
          <a:p>
            <a:pPr algn="l">
              <a:defRPr/>
            </a:pPr>
            <a:r>
              <a:rPr lang="fr-FR" sz="1600" b="0" i="0" dirty="0">
                <a:solidFill>
                  <a:srgbClr val="000000"/>
                </a:solidFill>
              </a:rPr>
              <a:t>Une itération en FDD se compose en 5 étapes :</a:t>
            </a:r>
            <a:endParaRPr dirty="0"/>
          </a:p>
          <a:p>
            <a:pPr marL="285750" indent="-285750" algn="l">
              <a:buFont typeface="Arial"/>
              <a:buChar char="•"/>
              <a:defRPr/>
            </a:pPr>
            <a:r>
              <a:rPr lang="fr-FR" sz="1600" b="0" i="0" dirty="0">
                <a:solidFill>
                  <a:srgbClr val="000000"/>
                </a:solidFill>
              </a:rPr>
              <a:t>Création du modèle du système avec un diagramme de classes UML</a:t>
            </a:r>
            <a:endParaRPr dirty="0"/>
          </a:p>
          <a:p>
            <a:pPr marL="285750" indent="-285750" algn="l">
              <a:buFont typeface="Arial"/>
              <a:buChar char="•"/>
              <a:defRPr/>
            </a:pPr>
            <a:r>
              <a:rPr lang="fr-FR" sz="1600" b="0" i="0" dirty="0">
                <a:solidFill>
                  <a:srgbClr val="000000"/>
                </a:solidFill>
              </a:rPr>
              <a:t>Liste des fonctionnalités à réaliser</a:t>
            </a:r>
            <a:endParaRPr dirty="0"/>
          </a:p>
          <a:p>
            <a:pPr marL="285750" indent="-285750" algn="l">
              <a:buFont typeface="Arial"/>
              <a:buChar char="•"/>
              <a:defRPr/>
            </a:pPr>
            <a:r>
              <a:rPr lang="fr-FR" sz="1600" b="0" i="0" dirty="0">
                <a:solidFill>
                  <a:srgbClr val="000000"/>
                </a:solidFill>
              </a:rPr>
              <a:t>Assignation des fonctionnalités aux développeurs</a:t>
            </a:r>
            <a:endParaRPr dirty="0"/>
          </a:p>
          <a:p>
            <a:pPr marL="285750" indent="-285750" algn="l">
              <a:buFont typeface="Arial"/>
              <a:buChar char="•"/>
              <a:defRPr/>
            </a:pPr>
            <a:r>
              <a:rPr lang="fr-FR" sz="1600" b="0" i="0" dirty="0">
                <a:solidFill>
                  <a:srgbClr val="000000"/>
                </a:solidFill>
              </a:rPr>
              <a:t>Création du modèle de chacune des fonctionnalités</a:t>
            </a:r>
            <a:endParaRPr dirty="0"/>
          </a:p>
          <a:p>
            <a:pPr marL="285750" indent="-285750" algn="l">
              <a:buFont typeface="Arial"/>
              <a:buChar char="•"/>
              <a:defRPr/>
            </a:pPr>
            <a:r>
              <a:rPr lang="fr-FR" sz="1600" b="0" i="0" dirty="0">
                <a:solidFill>
                  <a:srgbClr val="000000"/>
                </a:solidFill>
              </a:rPr>
              <a:t>Développement de chacune des fonctionnalités</a:t>
            </a:r>
            <a:endParaRPr dirty="0"/>
          </a:p>
        </p:txBody>
      </p:sp>
      <p:sp>
        <p:nvSpPr>
          <p:cNvPr id="10" name="Espace réservé du contenu 7"/>
          <p:cNvSpPr txBox="1"/>
          <p:nvPr/>
        </p:nvSpPr>
        <p:spPr bwMode="auto">
          <a:xfrm>
            <a:off x="466725" y="1090941"/>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gn="l">
              <a:defRPr/>
            </a:pPr>
            <a:r>
              <a:rPr lang="fr-FR" sz="1800">
                <a:solidFill>
                  <a:srgbClr val="ED7D31"/>
                </a:solidFill>
                <a:latin typeface="+mj-lt"/>
              </a:rPr>
              <a:t>Feature Driven Development – FDD</a:t>
            </a:r>
            <a:endParaRPr/>
          </a:p>
        </p:txBody>
      </p:sp>
      <p:sp>
        <p:nvSpPr>
          <p:cNvPr id="13" name="ZoneTexte 12"/>
          <p:cNvSpPr txBox="1"/>
          <p:nvPr/>
        </p:nvSpPr>
        <p:spPr bwMode="auto">
          <a:xfrm>
            <a:off x="4504007" y="1068537"/>
            <a:ext cx="749030" cy="369332"/>
          </a:xfrm>
          <a:prstGeom prst="rect">
            <a:avLst/>
          </a:prstGeom>
          <a:noFill/>
          <a:ln>
            <a:solidFill>
              <a:schemeClr val="tx1"/>
            </a:solidFill>
          </a:ln>
        </p:spPr>
        <p:txBody>
          <a:bodyPr wrap="square" rtlCol="0">
            <a:spAutoFit/>
          </a:bodyPr>
          <a:lstStyle/>
          <a:p>
            <a:pPr>
              <a:defRPr/>
            </a:pPr>
            <a:r>
              <a:rPr lang="fr-FR"/>
              <a:t>1997</a:t>
            </a:r>
            <a:endParaRPr/>
          </a:p>
        </p:txBody>
      </p:sp>
      <p:pic>
        <p:nvPicPr>
          <p:cNvPr id="2050" name="Picture 2" descr="Why should you use a feature-driven development?"/>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p:blipFill>
        <p:spPr bwMode="auto">
          <a:xfrm>
            <a:off x="5839468" y="2287317"/>
            <a:ext cx="6086111" cy="2283365"/>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49765"/>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9</a:t>
            </a:fld>
            <a:endParaRPr lang="fr-FR"/>
          </a:p>
        </p:txBody>
      </p:sp>
      <p:sp>
        <p:nvSpPr>
          <p:cNvPr id="2" name="Titre 1"/>
          <p:cNvSpPr>
            <a:spLocks noGrp="1"/>
          </p:cNvSpPr>
          <p:nvPr>
            <p:ph type="title"/>
          </p:nvPr>
        </p:nvSpPr>
        <p:spPr bwMode="auto">
          <a:xfrm>
            <a:off x="466725" y="114164"/>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solidFill>
                  <a:schemeClr val="bg1"/>
                </a:solidFill>
              </a:rPr>
              <a:t>Panorama</a:t>
            </a:r>
            <a:endParaRPr/>
          </a:p>
        </p:txBody>
      </p:sp>
      <p:sp>
        <p:nvSpPr>
          <p:cNvPr id="15" name="Rectangle 14"/>
          <p:cNvSpPr/>
          <p:nvPr/>
        </p:nvSpPr>
        <p:spPr bwMode="auto">
          <a:xfrm>
            <a:off x="466725" y="1509455"/>
            <a:ext cx="6722015" cy="3785652"/>
          </a:xfrm>
          <a:prstGeom prst="rect">
            <a:avLst/>
          </a:prstGeom>
        </p:spPr>
        <p:txBody>
          <a:bodyPr wrap="square">
            <a:spAutoFit/>
          </a:bodyPr>
          <a:lstStyle/>
          <a:p>
            <a:pPr algn="l">
              <a:defRPr/>
            </a:pPr>
            <a:r>
              <a:rPr lang="fr-FR" sz="1600" b="0" i="0">
                <a:solidFill>
                  <a:srgbClr val="202122"/>
                </a:solidFill>
              </a:rPr>
              <a:t>La DSDM s'appuie sur 9 principes de base :</a:t>
            </a:r>
            <a:endParaRPr/>
          </a:p>
          <a:p>
            <a:pPr marL="285750" indent="-285750" algn="l">
              <a:buFont typeface="Arial"/>
              <a:buChar char="•"/>
              <a:defRPr/>
            </a:pPr>
            <a:r>
              <a:rPr lang="fr-FR" sz="1600" b="0" i="0">
                <a:solidFill>
                  <a:srgbClr val="202122"/>
                </a:solidFill>
              </a:rPr>
              <a:t>Implication des utilisateurs durant tout le cycle de développement, comme des membres à part entière de l'équipe projet ;</a:t>
            </a:r>
            <a:endParaRPr/>
          </a:p>
          <a:p>
            <a:pPr marL="285750" indent="-285750" algn="l">
              <a:buFont typeface="Arial"/>
              <a:buChar char="•"/>
              <a:defRPr/>
            </a:pPr>
            <a:r>
              <a:rPr lang="fr-FR" sz="1600" b="0" i="0">
                <a:solidFill>
                  <a:srgbClr val="202122"/>
                </a:solidFill>
              </a:rPr>
              <a:t>Autonomie de l'équipe projet sur la prise de décision concernant l'évolution des besoins ;</a:t>
            </a:r>
            <a:endParaRPr/>
          </a:p>
          <a:p>
            <a:pPr marL="285750" indent="-285750" algn="l">
              <a:buFont typeface="Arial"/>
              <a:buChar char="•"/>
              <a:defRPr/>
            </a:pPr>
            <a:r>
              <a:rPr lang="fr-FR" sz="1600" b="0" i="0">
                <a:solidFill>
                  <a:srgbClr val="202122"/>
                </a:solidFill>
              </a:rPr>
              <a:t>Livraisons fréquentes afin de permettre un feed-back rapide</a:t>
            </a:r>
            <a:endParaRPr/>
          </a:p>
          <a:p>
            <a:pPr marL="285750" indent="-285750" algn="l">
              <a:buFont typeface="Arial"/>
              <a:buChar char="•"/>
              <a:defRPr/>
            </a:pPr>
            <a:r>
              <a:rPr lang="fr-FR" sz="1600" b="0" i="0">
                <a:solidFill>
                  <a:srgbClr val="202122"/>
                </a:solidFill>
              </a:rPr>
              <a:t>Adéquation de l’application avec le besoin métier du client ;</a:t>
            </a:r>
            <a:endParaRPr/>
          </a:p>
          <a:p>
            <a:pPr marL="285750" indent="-285750" algn="l">
              <a:buFont typeface="Arial"/>
              <a:buChar char="•"/>
              <a:defRPr/>
            </a:pPr>
            <a:r>
              <a:rPr lang="fr-FR" sz="1600" b="0" i="0">
                <a:solidFill>
                  <a:srgbClr val="202122"/>
                </a:solidFill>
              </a:rPr>
              <a:t>Développement itératif et incrémental</a:t>
            </a:r>
            <a:endParaRPr/>
          </a:p>
          <a:p>
            <a:pPr marL="285750" indent="-285750" algn="l">
              <a:buFont typeface="Arial"/>
              <a:buChar char="•"/>
              <a:defRPr/>
            </a:pPr>
            <a:r>
              <a:rPr lang="fr-FR" sz="1600" b="0" i="0">
                <a:solidFill>
                  <a:srgbClr val="202122"/>
                </a:solidFill>
              </a:rPr>
              <a:t>Réversibilité de toute modification effectuée durant le développement ;</a:t>
            </a:r>
            <a:endParaRPr/>
          </a:p>
          <a:p>
            <a:pPr marL="285750" indent="-285750" algn="l">
              <a:buFont typeface="Arial"/>
              <a:buChar char="•"/>
              <a:defRPr/>
            </a:pPr>
            <a:r>
              <a:rPr lang="fr-FR" sz="1600" b="0" i="0">
                <a:solidFill>
                  <a:srgbClr val="202122"/>
                </a:solidFill>
              </a:rPr>
              <a:t>Définition préalable d’un </a:t>
            </a:r>
            <a:r>
              <a:rPr lang="fr-FR" sz="1600" b="0" i="0" u="none" strike="noStrike"/>
              <a:t>schéma directeur</a:t>
            </a:r>
            <a:r>
              <a:rPr lang="fr-FR" sz="1600" b="0" i="0"/>
              <a:t> </a:t>
            </a:r>
            <a:r>
              <a:rPr lang="fr-FR" sz="1600" b="0" i="0">
                <a:solidFill>
                  <a:srgbClr val="202122"/>
                </a:solidFill>
              </a:rPr>
              <a:t>fixant les grandes lignes du projet et son périmètre ;</a:t>
            </a:r>
            <a:endParaRPr/>
          </a:p>
          <a:p>
            <a:pPr marL="285750" indent="-285750" algn="l">
              <a:buFont typeface="Arial"/>
              <a:buChar char="•"/>
              <a:defRPr/>
            </a:pPr>
            <a:r>
              <a:rPr lang="fr-FR" sz="1600" b="0" i="0">
                <a:solidFill>
                  <a:srgbClr val="202122"/>
                </a:solidFill>
              </a:rPr>
              <a:t>Tests en continu ;</a:t>
            </a:r>
            <a:endParaRPr/>
          </a:p>
          <a:p>
            <a:pPr marL="285750" indent="-285750" algn="l">
              <a:buFont typeface="Arial"/>
              <a:buChar char="•"/>
              <a:defRPr/>
            </a:pPr>
            <a:r>
              <a:rPr lang="fr-FR" sz="1600" b="0" i="0">
                <a:solidFill>
                  <a:srgbClr val="202122"/>
                </a:solidFill>
              </a:rPr>
              <a:t>Coopération des acteurs du projet et souplesse concernant les modifications des fonctionnalités demandées.</a:t>
            </a:r>
            <a:endParaRPr/>
          </a:p>
        </p:txBody>
      </p:sp>
      <p:sp>
        <p:nvSpPr>
          <p:cNvPr id="10" name="Espace réservé du contenu 7"/>
          <p:cNvSpPr txBox="1"/>
          <p:nvPr/>
        </p:nvSpPr>
        <p:spPr bwMode="auto">
          <a:xfrm>
            <a:off x="466725" y="1090941"/>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gn="l">
              <a:defRPr/>
            </a:pPr>
            <a:r>
              <a:rPr lang="fr-FR" sz="1800">
                <a:solidFill>
                  <a:srgbClr val="ED7D31"/>
                </a:solidFill>
                <a:latin typeface="+mj-lt"/>
              </a:rPr>
              <a:t>D</a:t>
            </a:r>
            <a:r>
              <a:rPr lang="fr-FR" sz="1600" b="1" i="0">
                <a:solidFill>
                  <a:srgbClr val="ED7D31"/>
                </a:solidFill>
                <a:latin typeface="+mj-lt"/>
              </a:rPr>
              <a:t>ynamic Systems </a:t>
            </a:r>
            <a:r>
              <a:rPr lang="fr-FR" sz="1600" b="1">
                <a:solidFill>
                  <a:srgbClr val="ED7D31"/>
                </a:solidFill>
                <a:latin typeface="+mj-lt"/>
              </a:rPr>
              <a:t>De</a:t>
            </a:r>
            <a:r>
              <a:rPr lang="fr-FR" sz="1600" b="1" i="0">
                <a:solidFill>
                  <a:srgbClr val="ED7D31"/>
                </a:solidFill>
                <a:latin typeface="+mj-lt"/>
              </a:rPr>
              <a:t>velopment </a:t>
            </a:r>
            <a:r>
              <a:rPr lang="fr-FR" sz="1600" b="1">
                <a:solidFill>
                  <a:srgbClr val="ED7D31"/>
                </a:solidFill>
                <a:latin typeface="+mj-lt"/>
              </a:rPr>
              <a:t>M</a:t>
            </a:r>
            <a:r>
              <a:rPr lang="fr-FR" sz="1600" b="1" i="0">
                <a:solidFill>
                  <a:srgbClr val="ED7D31"/>
                </a:solidFill>
                <a:latin typeface="+mj-lt"/>
              </a:rPr>
              <a:t>ethod</a:t>
            </a:r>
            <a:r>
              <a:rPr lang="fr-FR" sz="1800">
                <a:solidFill>
                  <a:srgbClr val="ED7D31"/>
                </a:solidFill>
                <a:latin typeface="+mj-lt"/>
              </a:rPr>
              <a:t> – DSDM</a:t>
            </a:r>
            <a:endParaRPr/>
          </a:p>
        </p:txBody>
      </p:sp>
      <p:sp>
        <p:nvSpPr>
          <p:cNvPr id="13" name="ZoneTexte 12"/>
          <p:cNvSpPr txBox="1"/>
          <p:nvPr/>
        </p:nvSpPr>
        <p:spPr bwMode="auto">
          <a:xfrm>
            <a:off x="5497749" y="1071443"/>
            <a:ext cx="713865" cy="369332"/>
          </a:xfrm>
          <a:prstGeom prst="rect">
            <a:avLst/>
          </a:prstGeom>
          <a:noFill/>
          <a:ln>
            <a:solidFill>
              <a:schemeClr val="tx1"/>
            </a:solidFill>
          </a:ln>
        </p:spPr>
        <p:txBody>
          <a:bodyPr wrap="square" rtlCol="0">
            <a:spAutoFit/>
          </a:bodyPr>
          <a:lstStyle/>
          <a:p>
            <a:pPr>
              <a:defRPr/>
            </a:pPr>
            <a:r>
              <a:rPr lang="fr-FR"/>
              <a:t>1994</a:t>
            </a:r>
            <a:endParaRPr/>
          </a:p>
        </p:txBody>
      </p:sp>
      <p:sp>
        <p:nvSpPr>
          <p:cNvPr id="11" name="ZoneTexte 10"/>
          <p:cNvSpPr txBox="1"/>
          <p:nvPr/>
        </p:nvSpPr>
        <p:spPr bwMode="auto">
          <a:xfrm>
            <a:off x="466725" y="5494169"/>
            <a:ext cx="11010572" cy="584775"/>
          </a:xfrm>
          <a:prstGeom prst="rect">
            <a:avLst/>
          </a:prstGeom>
          <a:noFill/>
        </p:spPr>
        <p:txBody>
          <a:bodyPr wrap="square">
            <a:spAutoFit/>
          </a:bodyPr>
          <a:lstStyle/>
          <a:p>
            <a:pPr algn="l">
              <a:defRPr/>
            </a:pPr>
            <a:r>
              <a:rPr lang="fr-FR" sz="1600">
                <a:solidFill>
                  <a:srgbClr val="202122"/>
                </a:solidFill>
              </a:rPr>
              <a:t>Le processus DSDM comporte 5 étapes : </a:t>
            </a:r>
            <a:endParaRPr/>
          </a:p>
          <a:p>
            <a:pPr algn="l">
              <a:defRPr/>
            </a:pPr>
            <a:r>
              <a:rPr lang="fr-FR" sz="1600" b="0" i="0">
                <a:solidFill>
                  <a:srgbClr val="202122"/>
                </a:solidFill>
              </a:rPr>
              <a:t>Étude de faisabilité - Étude business - Modèle fonctionnel itératif - Conception et réalisation itératives - Mise en œuvre</a:t>
            </a:r>
            <a:endParaRPr/>
          </a:p>
        </p:txBody>
      </p:sp>
      <p:pic>
        <p:nvPicPr>
          <p:cNvPr id="8194" name="Picture 2" descr="Note13: Dynamic Systems Development Method DSDM – Agile Thinker Notes"/>
          <p:cNvPicPr>
            <a:picLocks noChangeAspect="1" noChangeArrowheads="1"/>
          </p:cNvPicPr>
          <p:nvPr/>
        </p:nvPicPr>
        <p:blipFill>
          <a:blip r:embed="rId2">
            <a:extLst>
              <a:ext uri="{28A0092B-C50C-407E-A947-70E740481C1C}">
                <a14:useLocalDpi xmlns:a14="http://schemas.microsoft.com/office/drawing/2010/main" val="0"/>
              </a:ext>
            </a:extLst>
          </a:blip>
          <a:stretch/>
        </p:blipFill>
        <p:spPr bwMode="auto">
          <a:xfrm>
            <a:off x="7202208" y="1090941"/>
            <a:ext cx="4893466" cy="4480601"/>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66725" y="6450834"/>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10</a:t>
            </a:fld>
            <a:endParaRPr lang="fr-FR"/>
          </a:p>
        </p:txBody>
      </p:sp>
      <p:sp>
        <p:nvSpPr>
          <p:cNvPr id="2" name="Titre 1"/>
          <p:cNvSpPr>
            <a:spLocks noGrp="1"/>
          </p:cNvSpPr>
          <p:nvPr>
            <p:ph type="title"/>
          </p:nvPr>
        </p:nvSpPr>
        <p:spPr bwMode="auto">
          <a:xfrm>
            <a:off x="466725" y="114164"/>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solidFill>
                  <a:schemeClr val="bg1"/>
                </a:solidFill>
              </a:rPr>
              <a:t>Panorama</a:t>
            </a:r>
            <a:endParaRPr/>
          </a:p>
        </p:txBody>
      </p:sp>
      <p:sp>
        <p:nvSpPr>
          <p:cNvPr id="15" name="Rectangle 14"/>
          <p:cNvSpPr/>
          <p:nvPr/>
        </p:nvSpPr>
        <p:spPr bwMode="auto">
          <a:xfrm>
            <a:off x="473981" y="1612644"/>
            <a:ext cx="5253139" cy="2554545"/>
          </a:xfrm>
          <a:prstGeom prst="rect">
            <a:avLst/>
          </a:prstGeom>
        </p:spPr>
        <p:txBody>
          <a:bodyPr wrap="square">
            <a:spAutoFit/>
          </a:bodyPr>
          <a:lstStyle/>
          <a:p>
            <a:pPr algn="l">
              <a:defRPr/>
            </a:pPr>
            <a:r>
              <a:rPr lang="fr-FR" sz="1600" b="0" i="0">
                <a:solidFill>
                  <a:srgbClr val="202122"/>
                </a:solidFill>
              </a:rPr>
              <a:t>La méthode Crystal Clea</a:t>
            </a:r>
            <a:r>
              <a:rPr lang="fr-FR" sz="1600">
                <a:solidFill>
                  <a:srgbClr val="202122"/>
                </a:solidFill>
              </a:rPr>
              <a:t>r se fonde sur 7 principes ou « propriétés » :</a:t>
            </a:r>
            <a:endParaRPr/>
          </a:p>
          <a:p>
            <a:pPr algn="l">
              <a:buFont typeface="+mj-lt"/>
              <a:buAutoNum type="arabicPeriod"/>
              <a:defRPr/>
            </a:pPr>
            <a:r>
              <a:rPr lang="fr-FR" sz="1600" b="0" i="0">
                <a:solidFill>
                  <a:srgbClr val="202122"/>
                </a:solidFill>
              </a:rPr>
              <a:t> Livraison fréquente</a:t>
            </a:r>
            <a:endParaRPr/>
          </a:p>
          <a:p>
            <a:pPr algn="l">
              <a:buFont typeface="+mj-lt"/>
              <a:buAutoNum type="arabicPeriod"/>
              <a:defRPr/>
            </a:pPr>
            <a:r>
              <a:rPr lang="fr-FR" sz="1600" b="0" i="0">
                <a:solidFill>
                  <a:srgbClr val="202122"/>
                </a:solidFill>
              </a:rPr>
              <a:t> Amélioration réflexive</a:t>
            </a:r>
            <a:endParaRPr/>
          </a:p>
          <a:p>
            <a:pPr algn="l">
              <a:buFont typeface="+mj-lt"/>
              <a:buAutoNum type="arabicPeriod"/>
              <a:defRPr/>
            </a:pPr>
            <a:r>
              <a:rPr lang="fr-FR" sz="1600" b="0" i="0">
                <a:solidFill>
                  <a:srgbClr val="202122"/>
                </a:solidFill>
              </a:rPr>
              <a:t> Communication osmotique</a:t>
            </a:r>
            <a:endParaRPr/>
          </a:p>
          <a:p>
            <a:pPr algn="l">
              <a:buFont typeface="+mj-lt"/>
              <a:buAutoNum type="arabicPeriod"/>
              <a:defRPr/>
            </a:pPr>
            <a:r>
              <a:rPr lang="fr-FR" sz="1600" b="0" i="0">
                <a:solidFill>
                  <a:srgbClr val="202122"/>
                </a:solidFill>
              </a:rPr>
              <a:t> Sécurité personnelle</a:t>
            </a:r>
            <a:endParaRPr/>
          </a:p>
          <a:p>
            <a:pPr algn="l">
              <a:buFont typeface="+mj-lt"/>
              <a:buAutoNum type="arabicPeriod"/>
              <a:defRPr/>
            </a:pPr>
            <a:r>
              <a:rPr lang="fr-FR" sz="1600" b="0" i="0">
                <a:solidFill>
                  <a:srgbClr val="202122"/>
                </a:solidFill>
              </a:rPr>
              <a:t> Focus</a:t>
            </a:r>
            <a:endParaRPr/>
          </a:p>
          <a:p>
            <a:pPr algn="l">
              <a:buFont typeface="+mj-lt"/>
              <a:buAutoNum type="arabicPeriod"/>
              <a:defRPr/>
            </a:pPr>
            <a:r>
              <a:rPr lang="fr-FR" sz="1600" b="0" i="0">
                <a:solidFill>
                  <a:srgbClr val="202122"/>
                </a:solidFill>
              </a:rPr>
              <a:t> Accès aisé aux experts fonctionnels</a:t>
            </a:r>
            <a:endParaRPr/>
          </a:p>
          <a:p>
            <a:pPr algn="l">
              <a:buFont typeface="+mj-lt"/>
              <a:buAutoNum type="arabicPeriod"/>
              <a:defRPr/>
            </a:pPr>
            <a:r>
              <a:rPr lang="fr-FR" sz="1600" b="0" i="0">
                <a:solidFill>
                  <a:srgbClr val="202122"/>
                </a:solidFill>
              </a:rPr>
              <a:t> Environnement technique avec tests automatisés, gestion de configuration et intégration fréquente.</a:t>
            </a:r>
            <a:endParaRPr/>
          </a:p>
        </p:txBody>
      </p:sp>
      <p:sp>
        <p:nvSpPr>
          <p:cNvPr id="10" name="Espace réservé du contenu 7"/>
          <p:cNvSpPr txBox="1"/>
          <p:nvPr/>
        </p:nvSpPr>
        <p:spPr bwMode="auto">
          <a:xfrm>
            <a:off x="466725" y="1091582"/>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gn="l">
              <a:defRPr/>
            </a:pPr>
            <a:r>
              <a:rPr lang="fr-FR" sz="1800">
                <a:solidFill>
                  <a:srgbClr val="ED7D31"/>
                </a:solidFill>
                <a:latin typeface="+mj-lt"/>
              </a:rPr>
              <a:t>Crystal Clear</a:t>
            </a:r>
            <a:endParaRPr/>
          </a:p>
        </p:txBody>
      </p:sp>
      <p:sp>
        <p:nvSpPr>
          <p:cNvPr id="13" name="ZoneTexte 12"/>
          <p:cNvSpPr txBox="1"/>
          <p:nvPr/>
        </p:nvSpPr>
        <p:spPr bwMode="auto">
          <a:xfrm>
            <a:off x="2391528" y="1071156"/>
            <a:ext cx="709023" cy="369332"/>
          </a:xfrm>
          <a:prstGeom prst="rect">
            <a:avLst/>
          </a:prstGeom>
          <a:noFill/>
          <a:ln>
            <a:solidFill>
              <a:schemeClr val="tx1"/>
            </a:solidFill>
          </a:ln>
        </p:spPr>
        <p:txBody>
          <a:bodyPr wrap="square" rtlCol="0">
            <a:spAutoFit/>
          </a:bodyPr>
          <a:lstStyle/>
          <a:p>
            <a:pPr>
              <a:defRPr/>
            </a:pPr>
            <a:r>
              <a:rPr lang="fr-FR"/>
              <a:t>1997</a:t>
            </a:r>
            <a:endParaRPr/>
          </a:p>
        </p:txBody>
      </p:sp>
      <p:sp>
        <p:nvSpPr>
          <p:cNvPr id="11" name="ZoneTexte 10"/>
          <p:cNvSpPr txBox="1"/>
          <p:nvPr/>
        </p:nvSpPr>
        <p:spPr bwMode="auto">
          <a:xfrm>
            <a:off x="466725" y="4606160"/>
            <a:ext cx="11167556" cy="1323439"/>
          </a:xfrm>
          <a:prstGeom prst="rect">
            <a:avLst/>
          </a:prstGeom>
          <a:noFill/>
        </p:spPr>
        <p:txBody>
          <a:bodyPr wrap="square">
            <a:spAutoFit/>
          </a:bodyPr>
          <a:lstStyle/>
          <a:p>
            <a:pPr algn="l">
              <a:defRPr/>
            </a:pPr>
            <a:r>
              <a:rPr lang="fr-FR" sz="1600">
                <a:solidFill>
                  <a:srgbClr val="202122"/>
                </a:solidFill>
              </a:rPr>
              <a:t>Crystal Clear propose un processus de développement en 4 étapes : </a:t>
            </a:r>
            <a:endParaRPr/>
          </a:p>
          <a:p>
            <a:pPr marL="285750" indent="-285750" algn="l">
              <a:buFont typeface="Arial"/>
              <a:buChar char="•"/>
              <a:defRPr/>
            </a:pPr>
            <a:r>
              <a:rPr lang="fr-FR" sz="1600" b="0" i="0">
                <a:solidFill>
                  <a:srgbClr val="202122"/>
                </a:solidFill>
              </a:rPr>
              <a:t>spécialisation  observation des utilisateurs, analyse du besoin, définition et priorisation des cas d’utilisation </a:t>
            </a:r>
            <a:endParaRPr/>
          </a:p>
          <a:p>
            <a:pPr marL="285750" indent="-285750" algn="l">
              <a:buFont typeface="Arial"/>
              <a:buChar char="•"/>
              <a:defRPr/>
            </a:pPr>
            <a:r>
              <a:rPr lang="fr-FR" sz="1600" b="0" i="0">
                <a:solidFill>
                  <a:srgbClr val="202122"/>
                </a:solidFill>
              </a:rPr>
              <a:t>ébauche de conception et d'architecture</a:t>
            </a:r>
            <a:endParaRPr/>
          </a:p>
          <a:p>
            <a:pPr marL="285750" indent="-285750" algn="l">
              <a:buFont typeface="Arial"/>
              <a:buChar char="•"/>
              <a:defRPr/>
            </a:pPr>
            <a:r>
              <a:rPr lang="fr-FR" sz="1600" b="0" i="0">
                <a:solidFill>
                  <a:srgbClr val="202122"/>
                </a:solidFill>
              </a:rPr>
              <a:t>planning des itérations - chacune aboutissant à la livraison d’un produit fonctionnel ;</a:t>
            </a:r>
            <a:endParaRPr/>
          </a:p>
          <a:p>
            <a:pPr marL="285750" indent="-285750" algn="l">
              <a:buFont typeface="Arial"/>
              <a:buChar char="•"/>
              <a:defRPr/>
            </a:pPr>
            <a:r>
              <a:rPr lang="fr-FR" sz="1600">
                <a:solidFill>
                  <a:srgbClr val="202122"/>
                </a:solidFill>
              </a:rPr>
              <a:t>I</a:t>
            </a:r>
            <a:r>
              <a:rPr lang="fr-FR" sz="1600" b="0" i="0">
                <a:solidFill>
                  <a:srgbClr val="202122"/>
                </a:solidFill>
              </a:rPr>
              <a:t>térations  réalisation proprement dite de l'application</a:t>
            </a:r>
            <a:endParaRPr/>
          </a:p>
        </p:txBody>
      </p:sp>
      <p:pic>
        <p:nvPicPr>
          <p:cNvPr id="9218" name="Picture 2" descr="XP, FDD, DSDM, and Crystal Methods of Agile Development"/>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p:blipFill>
        <p:spPr bwMode="auto">
          <a:xfrm>
            <a:off x="5891519" y="1332090"/>
            <a:ext cx="5669257" cy="325819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8" name="Espace réservé du pied de page 27"/>
          <p:cNvSpPr>
            <a:spLocks noGrp="1"/>
          </p:cNvSpPr>
          <p:nvPr>
            <p:ph type="ftr" sz="quarter" idx="10"/>
          </p:nvPr>
        </p:nvSpPr>
        <p:spPr bwMode="auto">
          <a:xfrm>
            <a:off x="440187" y="6460307"/>
            <a:ext cx="4114800" cy="365125"/>
          </a:xfrm>
        </p:spPr>
        <p:txBody>
          <a:bodyPr/>
          <a:lstStyle/>
          <a:p>
            <a:pPr>
              <a:defRPr/>
            </a:pPr>
            <a:r>
              <a:rPr lang="fr-FR"/>
              <a:t>EQL – Approche Agile</a:t>
            </a:r>
            <a:endParaRPr/>
          </a:p>
        </p:txBody>
      </p:sp>
      <p:sp>
        <p:nvSpPr>
          <p:cNvPr id="29" name="Espace réservé du numéro de diapositive 28"/>
          <p:cNvSpPr>
            <a:spLocks noGrp="1"/>
          </p:cNvSpPr>
          <p:nvPr>
            <p:ph type="sldNum" sz="quarter" idx="11"/>
          </p:nvPr>
        </p:nvSpPr>
        <p:spPr bwMode="auto"/>
        <p:txBody>
          <a:bodyPr/>
          <a:lstStyle/>
          <a:p>
            <a:pPr>
              <a:defRPr/>
            </a:pPr>
            <a:fld id="{714C0D23-94AC-4105-B75E-8B16CA37C435}" type="slidenum">
              <a:rPr lang="fr-FR"/>
              <a:t>11</a:t>
            </a:fld>
            <a:endParaRPr lang="fr-FR"/>
          </a:p>
        </p:txBody>
      </p:sp>
      <p:sp>
        <p:nvSpPr>
          <p:cNvPr id="2" name="Titre 1"/>
          <p:cNvSpPr>
            <a:spLocks noGrp="1"/>
          </p:cNvSpPr>
          <p:nvPr>
            <p:ph type="title"/>
          </p:nvPr>
        </p:nvSpPr>
        <p:spPr bwMode="auto">
          <a:xfrm>
            <a:off x="466725" y="114164"/>
            <a:ext cx="2523055" cy="238125"/>
          </a:xfrm>
        </p:spPr>
        <p:txBody>
          <a:bodyPr>
            <a:normAutofit fontScale="90000"/>
          </a:bodyPr>
          <a:lstStyle/>
          <a:p>
            <a:pPr>
              <a:defRPr/>
            </a:pPr>
            <a:r>
              <a:rPr lang="fr-FR" b="1">
                <a:solidFill>
                  <a:schemeClr val="tx1"/>
                </a:solidFill>
              </a:rPr>
              <a:t>Frameworks Agile</a:t>
            </a:r>
            <a:endParaRPr lang="fr-FR">
              <a:solidFill>
                <a:schemeClr val="tx1"/>
              </a:solidFill>
            </a:endParaRPr>
          </a:p>
        </p:txBody>
      </p:sp>
      <p:sp>
        <p:nvSpPr>
          <p:cNvPr id="3" name="Espace réservé du contenu 2"/>
          <p:cNvSpPr>
            <a:spLocks noGrp="1"/>
          </p:cNvSpPr>
          <p:nvPr>
            <p:ph type="body" sz="quarter" idx="12"/>
          </p:nvPr>
        </p:nvSpPr>
        <p:spPr bwMode="auto"/>
        <p:txBody>
          <a:bodyPr>
            <a:normAutofit lnSpcReduction="10000"/>
          </a:bodyPr>
          <a:lstStyle/>
          <a:p>
            <a:pPr>
              <a:defRPr/>
            </a:pPr>
            <a:r>
              <a:rPr lang="fr-FR">
                <a:solidFill>
                  <a:schemeClr val="bg1"/>
                </a:solidFill>
              </a:rPr>
              <a:t>Panorama</a:t>
            </a:r>
            <a:endParaRPr/>
          </a:p>
        </p:txBody>
      </p:sp>
      <p:sp>
        <p:nvSpPr>
          <p:cNvPr id="15" name="Rectangle 14"/>
          <p:cNvSpPr/>
          <p:nvPr/>
        </p:nvSpPr>
        <p:spPr bwMode="auto">
          <a:xfrm>
            <a:off x="466725" y="1694468"/>
            <a:ext cx="5308861" cy="3785652"/>
          </a:xfrm>
          <a:prstGeom prst="rect">
            <a:avLst/>
          </a:prstGeom>
        </p:spPr>
        <p:txBody>
          <a:bodyPr wrap="square">
            <a:spAutoFit/>
          </a:bodyPr>
          <a:lstStyle/>
          <a:p>
            <a:pPr algn="just">
              <a:defRPr/>
            </a:pPr>
            <a:r>
              <a:rPr lang="fr-FR" sz="1600" b="0" i="0"/>
              <a:t>Le RUP est un processus de développement itératif et incrémental, se décomposant en 4 phases distinctes :</a:t>
            </a:r>
            <a:endParaRPr/>
          </a:p>
          <a:p>
            <a:pPr marL="285750" indent="-285750" algn="l">
              <a:buFont typeface="Arial"/>
              <a:buChar char="•"/>
              <a:defRPr/>
            </a:pPr>
            <a:r>
              <a:rPr lang="fr-FR" sz="1600" b="1">
                <a:latin typeface="+mj-lt"/>
              </a:rPr>
              <a:t>Inception</a:t>
            </a:r>
            <a:r>
              <a:rPr lang="fr-FR" sz="1600" b="0" i="0"/>
              <a:t> - analyse de rentabilisation, analyse des exigences et modélisation (UML) des cas d’utilisation de base, évaluation des risques  Go / No go.</a:t>
            </a:r>
            <a:endParaRPr/>
          </a:p>
          <a:p>
            <a:pPr marL="285750" indent="-285750" algn="l">
              <a:buFont typeface="Arial"/>
              <a:buChar char="•"/>
              <a:defRPr/>
            </a:pPr>
            <a:r>
              <a:rPr lang="fr-FR" sz="1600" b="1" i="0">
                <a:latin typeface="+mj-lt"/>
              </a:rPr>
              <a:t>Élaboration</a:t>
            </a:r>
            <a:r>
              <a:rPr lang="fr-FR" sz="1600" b="0" i="0"/>
              <a:t> - modélisation de cas d’utilisation complétée à 80%, architecture exécutable, analyse de rentabilisation et des risques révisée, plan de développement, prototypes.</a:t>
            </a:r>
            <a:endParaRPr/>
          </a:p>
          <a:p>
            <a:pPr marL="285750" indent="-285750" algn="l">
              <a:buFont typeface="Arial"/>
              <a:buChar char="•"/>
              <a:defRPr/>
            </a:pPr>
            <a:r>
              <a:rPr lang="fr-FR" sz="1600" b="1" i="0">
                <a:latin typeface="+mj-lt"/>
              </a:rPr>
              <a:t>Construction</a:t>
            </a:r>
            <a:r>
              <a:rPr lang="fr-FR" sz="1600" b="1" i="0"/>
              <a:t> </a:t>
            </a:r>
            <a:r>
              <a:rPr lang="fr-FR" sz="1600" b="0" i="0"/>
              <a:t>- Développement et test des composants et fonctionnalités du système, production de prototypes démontrables.</a:t>
            </a:r>
            <a:endParaRPr/>
          </a:p>
          <a:p>
            <a:pPr marL="285750" indent="-285750" algn="l">
              <a:buFont typeface="Arial"/>
              <a:buChar char="•"/>
              <a:defRPr/>
            </a:pPr>
            <a:r>
              <a:rPr lang="fr-FR" sz="1600" b="1" i="0">
                <a:latin typeface="+mj-lt"/>
              </a:rPr>
              <a:t>Transition</a:t>
            </a:r>
            <a:r>
              <a:rPr lang="fr-FR" sz="1600" b="0" i="0"/>
              <a:t> - Mise à disposition du logiciel auprès des utilisateurs, formation des utilisateurs, bêta tests, ajustements suite aux retours des utilisateurs.</a:t>
            </a:r>
            <a:endParaRPr/>
          </a:p>
        </p:txBody>
      </p:sp>
      <p:sp>
        <p:nvSpPr>
          <p:cNvPr id="10" name="Espace réservé du contenu 7"/>
          <p:cNvSpPr txBox="1"/>
          <p:nvPr/>
        </p:nvSpPr>
        <p:spPr bwMode="auto">
          <a:xfrm>
            <a:off x="466725" y="1086851"/>
            <a:ext cx="10818095" cy="1655645"/>
          </a:xfrm>
          <a:prstGeom prst="rect">
            <a:avLst/>
          </a:prstGeom>
        </p:spPr>
        <p:txBody>
          <a:bodyPr vert="horz" lIns="91440" tIns="45720" rIns="91440" bIns="45720" rtlCol="0">
            <a:noAutofit/>
          </a:bodyPr>
          <a:lstStyle>
            <a:lvl1pPr marL="0" indent="0" algn="l" defTabSz="914400">
              <a:lnSpc>
                <a:spcPct val="90000"/>
              </a:lnSpc>
              <a:spcBef>
                <a:spcPts val="1000"/>
              </a:spcBef>
              <a:buFont typeface="Arial"/>
              <a:buNone/>
              <a:defRPr sz="2000">
                <a:solidFill>
                  <a:schemeClr val="tx1"/>
                </a:solidFill>
                <a:latin typeface="Segoe UI Semibold"/>
                <a:ea typeface="+mn-ea"/>
                <a:cs typeface="Segoe UI Semibold"/>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a:lstStyle>
          <a:p>
            <a:pPr algn="l">
              <a:defRPr/>
            </a:pPr>
            <a:r>
              <a:rPr lang="fr-FR" sz="1800" dirty="0">
                <a:solidFill>
                  <a:srgbClr val="ED7D31"/>
                </a:solidFill>
                <a:latin typeface="+mj-lt"/>
              </a:rPr>
              <a:t>Rational Unified Process – RUP </a:t>
            </a:r>
            <a:endParaRPr dirty="0"/>
          </a:p>
        </p:txBody>
      </p:sp>
      <p:pic>
        <p:nvPicPr>
          <p:cNvPr id="11" name="Picture 5"/>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p:blipFill>
        <p:spPr bwMode="auto">
          <a:xfrm>
            <a:off x="6270974" y="2054319"/>
            <a:ext cx="5013846" cy="3425801"/>
          </a:xfrm>
          <a:prstGeom prst="rect">
            <a:avLst/>
          </a:prstGeom>
          <a:noFill/>
          <a:ln>
            <a:noFill/>
          </a:ln>
          <a:effectLst/>
        </p:spPr>
      </p:pic>
      <p:sp>
        <p:nvSpPr>
          <p:cNvPr id="4" name="ZoneTexte 3"/>
          <p:cNvSpPr txBox="1"/>
          <p:nvPr/>
        </p:nvSpPr>
        <p:spPr bwMode="auto">
          <a:xfrm>
            <a:off x="6442952" y="1677859"/>
            <a:ext cx="4941651" cy="338554"/>
          </a:xfrm>
          <a:prstGeom prst="rect">
            <a:avLst/>
          </a:prstGeom>
          <a:noFill/>
        </p:spPr>
        <p:txBody>
          <a:bodyPr wrap="square" rtlCol="0">
            <a:spAutoFit/>
          </a:bodyPr>
          <a:lstStyle/>
          <a:p>
            <a:pPr>
              <a:defRPr/>
            </a:pPr>
            <a:r>
              <a:rPr lang="fr-FR" sz="1600">
                <a:latin typeface="+mj-lt"/>
              </a:rPr>
              <a:t>Les 4 phases se décomposent en activités :</a:t>
            </a:r>
            <a:endParaRPr/>
          </a:p>
        </p:txBody>
      </p:sp>
      <p:sp>
        <p:nvSpPr>
          <p:cNvPr id="13" name="ZoneTexte 12"/>
          <p:cNvSpPr txBox="1"/>
          <p:nvPr/>
        </p:nvSpPr>
        <p:spPr bwMode="auto">
          <a:xfrm>
            <a:off x="4067045" y="1069666"/>
            <a:ext cx="683631" cy="369332"/>
          </a:xfrm>
          <a:prstGeom prst="rect">
            <a:avLst/>
          </a:prstGeom>
          <a:noFill/>
          <a:ln>
            <a:solidFill>
              <a:schemeClr val="tx1"/>
            </a:solidFill>
          </a:ln>
        </p:spPr>
        <p:txBody>
          <a:bodyPr wrap="square" rtlCol="0">
            <a:spAutoFit/>
          </a:bodyPr>
          <a:lstStyle/>
          <a:p>
            <a:pPr>
              <a:defRPr/>
            </a:pPr>
            <a:r>
              <a:rPr lang="fr-FR"/>
              <a:t>1998</a:t>
            </a:r>
            <a:endParaRP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ersonnalisé 2">
      <a:majorFont>
        <a:latin typeface="Segoe UI Semibold"/>
        <a:ea typeface="Arial"/>
        <a:cs typeface="Arial"/>
      </a:majorFont>
      <a:minorFont>
        <a:latin typeface="Segoe U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468</TotalTime>
  <Words>2179</Words>
  <Application>Microsoft Office PowerPoint</Application>
  <DocSecurity>0</DocSecurity>
  <PresentationFormat>Grand écran</PresentationFormat>
  <Paragraphs>190</Paragraphs>
  <Slides>11</Slides>
  <Notes>3</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11</vt:i4>
      </vt:variant>
    </vt:vector>
  </HeadingPairs>
  <TitlesOfParts>
    <vt:vector size="21" baseType="lpstr">
      <vt:lpstr>Arial</vt:lpstr>
      <vt:lpstr>Calibri</vt:lpstr>
      <vt:lpstr>Josefin Sans</vt:lpstr>
      <vt:lpstr>Lato</vt:lpstr>
      <vt:lpstr>Segoe UI</vt:lpstr>
      <vt:lpstr>Segoe UI Light</vt:lpstr>
      <vt:lpstr>Segoe UI Semibold</vt:lpstr>
      <vt:lpstr>Times New Roman</vt:lpstr>
      <vt:lpstr>Wingdings</vt:lpstr>
      <vt:lpstr>Thème Office</vt:lpstr>
      <vt:lpstr>Frameworks Agile</vt:lpstr>
      <vt:lpstr>Prémisses</vt:lpstr>
      <vt:lpstr>Frameworks Agile</vt:lpstr>
      <vt:lpstr>Frameworks Agile</vt:lpstr>
      <vt:lpstr>Frameworks Agile</vt:lpstr>
      <vt:lpstr>Frameworks historiques</vt:lpstr>
      <vt:lpstr>Frameworks Agile</vt:lpstr>
      <vt:lpstr>Frameworks Agile</vt:lpstr>
      <vt:lpstr>Frameworks Agile</vt:lpstr>
      <vt:lpstr>Frameworks Agile</vt:lpstr>
      <vt:lpstr>Frameworks Agile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Sonia Ouchène</dc:creator>
  <cp:keywords/>
  <dc:description/>
  <cp:lastModifiedBy>Alice BOULET</cp:lastModifiedBy>
  <cp:revision>1088</cp:revision>
  <dcterms:created xsi:type="dcterms:W3CDTF">2018-11-12T09:01:15Z</dcterms:created>
  <dcterms:modified xsi:type="dcterms:W3CDTF">2024-07-30T16:37:07Z</dcterms:modified>
  <cp:category/>
  <dc:identifier/>
  <cp:contentStatus/>
  <dc:language/>
  <cp:version/>
</cp:coreProperties>
</file>